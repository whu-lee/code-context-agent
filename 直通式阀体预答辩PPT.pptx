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434840" cy="6858000"/>
          </a:xfrm>
          <a:prstGeom prst="rect">
            <a:avLst/>
          </a:prstGeom>
          <a:solidFill>
            <a:srgbClr val="163A5F"/>
          </a:solidFill>
          <a:ln w="12700">
            <a:solidFill>
              <a:srgbClr val="163A5F">
                <a:alpha val="0"/>
              </a:srgbClr>
            </a:solidFill>
            <a:prstDash val="solid"/>
          </a:ln>
        </p:spPr>
      </p:sp>
      <p:sp>
        <p:nvSpPr>
          <p:cNvPr id="3" name="Shape 1"/>
          <p:cNvSpPr/>
          <p:nvPr/>
        </p:nvSpPr>
        <p:spPr>
          <a:xfrm>
            <a:off x="4434840" y="0"/>
            <a:ext cx="7756855" cy="6858000"/>
          </a:xfrm>
          <a:prstGeom prst="rect">
            <a:avLst/>
          </a:prstGeom>
          <a:solidFill>
            <a:srgbClr val="EAF2FA"/>
          </a:solidFill>
          <a:ln w="12700">
            <a:solidFill>
              <a:srgbClr val="EAF2FA">
                <a:alpha val="0"/>
              </a:srgbClr>
            </a:solidFill>
            <a:prstDash val="solid"/>
          </a:ln>
        </p:spPr>
      </p:sp>
      <p:sp>
        <p:nvSpPr>
          <p:cNvPr id="4" name="Text 2"/>
          <p:cNvSpPr/>
          <p:nvPr/>
        </p:nvSpPr>
        <p:spPr>
          <a:xfrm>
            <a:off x="685800" y="749808"/>
            <a:ext cx="2286000" cy="256032"/>
          </a:xfrm>
          <a:prstGeom prst="rect">
            <a:avLst/>
          </a:prstGeom>
          <a:noFill/>
          <a:ln/>
        </p:spPr>
        <p:txBody>
          <a:bodyPr wrap="square" lIns="0" tIns="0" rIns="0" bIns="0" rtlCol="0" anchor="ctr"/>
          <a:lstStyle/>
          <a:p>
            <a:pPr indent="0" marL="0">
              <a:buNone/>
            </a:pPr>
            <a:r>
              <a:rPr lang="en-US" sz="1600" b="1" dirty="0">
                <a:solidFill>
                  <a:srgbClr val="D9E7F6"/>
                </a:solidFill>
              </a:rPr>
              <a:t>博士学位论文预答辩</a:t>
            </a:r>
            <a:endParaRPr lang="en-US" sz="1600" dirty="0"/>
          </a:p>
        </p:txBody>
      </p:sp>
      <p:sp>
        <p:nvSpPr>
          <p:cNvPr id="5" name="Text 3"/>
          <p:cNvSpPr/>
          <p:nvPr/>
        </p:nvSpPr>
        <p:spPr>
          <a:xfrm>
            <a:off x="685800" y="1298448"/>
            <a:ext cx="2971800" cy="1920240"/>
          </a:xfrm>
          <a:prstGeom prst="rect">
            <a:avLst/>
          </a:prstGeom>
          <a:noFill/>
          <a:ln/>
        </p:spPr>
        <p:txBody>
          <a:bodyPr wrap="square" lIns="0" tIns="0" rIns="0" bIns="0" rtlCol="0" anchor="ctr">
            <a:normAutofit/>
          </a:bodyPr>
          <a:lstStyle/>
          <a:p>
            <a:pPr indent="0" marL="0">
              <a:buNone/>
            </a:pPr>
            <a:r>
              <a:rPr lang="en-US" sz="2450" b="1" dirty="0">
                <a:solidFill>
                  <a:srgbClr val="FFFFFF"/>
                </a:solidFill>
              </a:rPr>
              <a:t>考虑铸造缩孔的直通式阀体承压性能研究及其高应力区晶粒强化</a:t>
            </a:r>
            <a:endParaRPr lang="en-US" sz="2450" dirty="0"/>
          </a:p>
        </p:txBody>
      </p:sp>
      <p:sp>
        <p:nvSpPr>
          <p:cNvPr id="6" name="Text 4"/>
          <p:cNvSpPr/>
          <p:nvPr/>
        </p:nvSpPr>
        <p:spPr>
          <a:xfrm>
            <a:off x="685800" y="4315968"/>
            <a:ext cx="2926080" cy="1188720"/>
          </a:xfrm>
          <a:prstGeom prst="rect">
            <a:avLst/>
          </a:prstGeom>
          <a:noFill/>
          <a:ln/>
        </p:spPr>
        <p:txBody>
          <a:bodyPr wrap="square" lIns="0" tIns="0" rIns="0" bIns="0" rtlCol="0" anchor="ctr"/>
          <a:lstStyle/>
          <a:p>
            <a:pPr indent="0" marL="0">
              <a:lnSpc>
                <a:spcPct val="105000"/>
              </a:lnSpc>
              <a:buNone/>
            </a:pPr>
            <a:r>
              <a:rPr lang="en-US" sz="1250" dirty="0">
                <a:solidFill>
                  <a:srgbClr val="E9F1F9"/>
                </a:solidFill>
              </a:rPr>
              <a:t>叶宗豪</a:t>
            </a:r>
            <a:endParaRPr lang="en-US" sz="1250" dirty="0"/>
          </a:p>
          <a:p>
            <a:pPr indent="0" marL="0">
              <a:lnSpc>
                <a:spcPct val="105000"/>
              </a:lnSpc>
              <a:buNone/>
            </a:pPr>
            <a:r>
              <a:rPr lang="en-US" sz="1250" dirty="0">
                <a:solidFill>
                  <a:srgbClr val="E9F1F9"/>
                </a:solidFill>
              </a:rPr>
              <a:t>指导教师：金志江  钱锦远</a:t>
            </a:r>
            <a:endParaRPr lang="en-US" sz="1250" dirty="0"/>
          </a:p>
          <a:p>
            <a:pPr indent="0" marL="0">
              <a:lnSpc>
                <a:spcPct val="105000"/>
              </a:lnSpc>
              <a:buNone/>
            </a:pPr>
            <a:r>
              <a:rPr lang="en-US" sz="1250" dirty="0">
                <a:solidFill>
                  <a:srgbClr val="E9F1F9"/>
                </a:solidFill>
              </a:rPr>
              <a:t>浙江大学 能源工程学院 | 能源动力 | 特种阀门创新设计</a:t>
            </a:r>
            <a:endParaRPr lang="en-US" sz="1250" dirty="0"/>
          </a:p>
          <a:p>
            <a:pPr indent="0" marL="0">
              <a:lnSpc>
                <a:spcPct val="105000"/>
              </a:lnSpc>
              <a:buNone/>
            </a:pPr>
            <a:r>
              <a:rPr lang="en-US" sz="1250" dirty="0">
                <a:solidFill>
                  <a:srgbClr val="E9F1F9"/>
                </a:solidFill>
              </a:rPr>
              <a:t>2026年6月</a:t>
            </a:r>
            <a:endParaRPr lang="en-US" sz="1250" dirty="0"/>
          </a:p>
        </p:txBody>
      </p:sp>
      <p:pic>
        <p:nvPicPr>
          <p:cNvPr id="7" name="Image 0" descr="/tmp/thesis_ppt_assets/image98.png">    </p:cNvPr>
          <p:cNvPicPr>
            <a:picLocks noChangeAspect="1"/>
          </p:cNvPicPr>
          <p:nvPr/>
        </p:nvPicPr>
        <p:blipFill>
          <a:blip r:embed="rId1"/>
          <a:srcRect l="0" r="0" t="0" b="0"/>
          <a:stretch/>
        </p:blipFill>
        <p:spPr>
          <a:xfrm>
            <a:off x="4828032" y="749808"/>
            <a:ext cx="6766560" cy="4754880"/>
          </a:xfrm>
          <a:prstGeom prst="rect">
            <a:avLst/>
          </a:prstGeom>
        </p:spPr>
      </p:pic>
      <p:sp>
        <p:nvSpPr>
          <p:cNvPr id="8" name="Shape 5"/>
          <p:cNvSpPr/>
          <p:nvPr/>
        </p:nvSpPr>
        <p:spPr>
          <a:xfrm>
            <a:off x="5074920" y="5559552"/>
            <a:ext cx="1051560" cy="301752"/>
          </a:xfrm>
          <a:prstGeom prst="roundRect">
            <a:avLst>
              <a:gd name="adj" fmla="val 12121"/>
            </a:avLst>
          </a:prstGeom>
          <a:solidFill>
            <a:srgbClr val="1F8A8A">
              <a:alpha val="94000"/>
            </a:srgbClr>
          </a:solidFill>
          <a:ln w="12700">
            <a:solidFill>
              <a:srgbClr val="1F8A8A">
                <a:alpha val="0"/>
              </a:srgbClr>
            </a:solidFill>
            <a:prstDash val="solid"/>
          </a:ln>
        </p:spPr>
      </p:sp>
      <p:sp>
        <p:nvSpPr>
          <p:cNvPr id="9" name="Text 6"/>
          <p:cNvSpPr/>
          <p:nvPr/>
        </p:nvSpPr>
        <p:spPr>
          <a:xfrm>
            <a:off x="5129784" y="5605272"/>
            <a:ext cx="941832" cy="164592"/>
          </a:xfrm>
          <a:prstGeom prst="rect">
            <a:avLst/>
          </a:prstGeom>
          <a:noFill/>
          <a:ln/>
        </p:spPr>
        <p:txBody>
          <a:bodyPr wrap="square" lIns="0" tIns="0" rIns="0" bIns="0" rtlCol="0" anchor="ctr"/>
          <a:lstStyle/>
          <a:p>
            <a:pPr algn="ctr" indent="0" marL="0">
              <a:buNone/>
            </a:pPr>
            <a:r>
              <a:rPr lang="en-US" sz="930" b="1" dirty="0">
                <a:solidFill>
                  <a:srgbClr val="FFFFFF"/>
                </a:solidFill>
              </a:rPr>
              <a:t>直通式阀体</a:t>
            </a:r>
            <a:endParaRPr lang="en-US" sz="930" dirty="0"/>
          </a:p>
        </p:txBody>
      </p:sp>
      <p:sp>
        <p:nvSpPr>
          <p:cNvPr id="10" name="Shape 7"/>
          <p:cNvSpPr/>
          <p:nvPr/>
        </p:nvSpPr>
        <p:spPr>
          <a:xfrm>
            <a:off x="6236208" y="5559552"/>
            <a:ext cx="1051560" cy="301752"/>
          </a:xfrm>
          <a:prstGeom prst="roundRect">
            <a:avLst>
              <a:gd name="adj" fmla="val 12121"/>
            </a:avLst>
          </a:prstGeom>
          <a:solidFill>
            <a:srgbClr val="D97A2B">
              <a:alpha val="94000"/>
            </a:srgbClr>
          </a:solidFill>
          <a:ln w="12700">
            <a:solidFill>
              <a:srgbClr val="D97A2B">
                <a:alpha val="0"/>
              </a:srgbClr>
            </a:solidFill>
            <a:prstDash val="solid"/>
          </a:ln>
        </p:spPr>
      </p:sp>
      <p:sp>
        <p:nvSpPr>
          <p:cNvPr id="11" name="Text 8"/>
          <p:cNvSpPr/>
          <p:nvPr/>
        </p:nvSpPr>
        <p:spPr>
          <a:xfrm>
            <a:off x="6291072" y="5605272"/>
            <a:ext cx="941832" cy="164592"/>
          </a:xfrm>
          <a:prstGeom prst="rect">
            <a:avLst/>
          </a:prstGeom>
          <a:noFill/>
          <a:ln/>
        </p:spPr>
        <p:txBody>
          <a:bodyPr wrap="square" lIns="0" tIns="0" rIns="0" bIns="0" rtlCol="0" anchor="ctr"/>
          <a:lstStyle/>
          <a:p>
            <a:pPr algn="ctr" indent="0" marL="0">
              <a:buNone/>
            </a:pPr>
            <a:r>
              <a:rPr lang="en-US" sz="930" b="1" dirty="0">
                <a:solidFill>
                  <a:srgbClr val="FFFFFF"/>
                </a:solidFill>
              </a:rPr>
              <a:t>铸造缩孔</a:t>
            </a:r>
            <a:endParaRPr lang="en-US" sz="930" dirty="0"/>
          </a:p>
        </p:txBody>
      </p:sp>
      <p:sp>
        <p:nvSpPr>
          <p:cNvPr id="12" name="Shape 9"/>
          <p:cNvSpPr/>
          <p:nvPr/>
        </p:nvSpPr>
        <p:spPr>
          <a:xfrm>
            <a:off x="7397496" y="5559552"/>
            <a:ext cx="1051560" cy="301752"/>
          </a:xfrm>
          <a:prstGeom prst="roundRect">
            <a:avLst>
              <a:gd name="adj" fmla="val 12121"/>
            </a:avLst>
          </a:prstGeom>
          <a:solidFill>
            <a:srgbClr val="163A5F">
              <a:alpha val="94000"/>
            </a:srgbClr>
          </a:solidFill>
          <a:ln w="12700">
            <a:solidFill>
              <a:srgbClr val="163A5F">
                <a:alpha val="0"/>
              </a:srgbClr>
            </a:solidFill>
            <a:prstDash val="solid"/>
          </a:ln>
        </p:spPr>
      </p:sp>
      <p:sp>
        <p:nvSpPr>
          <p:cNvPr id="13" name="Text 10"/>
          <p:cNvSpPr/>
          <p:nvPr/>
        </p:nvSpPr>
        <p:spPr>
          <a:xfrm>
            <a:off x="7452360" y="5605272"/>
            <a:ext cx="941832" cy="164592"/>
          </a:xfrm>
          <a:prstGeom prst="rect">
            <a:avLst/>
          </a:prstGeom>
          <a:noFill/>
          <a:ln/>
        </p:spPr>
        <p:txBody>
          <a:bodyPr wrap="square" lIns="0" tIns="0" rIns="0" bIns="0" rtlCol="0" anchor="ctr"/>
          <a:lstStyle/>
          <a:p>
            <a:pPr algn="ctr" indent="0" marL="0">
              <a:buNone/>
            </a:pPr>
            <a:r>
              <a:rPr lang="en-US" sz="930" b="1" dirty="0">
                <a:solidFill>
                  <a:srgbClr val="FFFFFF"/>
                </a:solidFill>
              </a:rPr>
              <a:t>承压性能</a:t>
            </a:r>
            <a:endParaRPr lang="en-US" sz="930" dirty="0"/>
          </a:p>
        </p:txBody>
      </p:sp>
      <p:sp>
        <p:nvSpPr>
          <p:cNvPr id="14" name="Shape 11"/>
          <p:cNvSpPr/>
          <p:nvPr/>
        </p:nvSpPr>
        <p:spPr>
          <a:xfrm>
            <a:off x="8558784" y="5559552"/>
            <a:ext cx="1051560" cy="301752"/>
          </a:xfrm>
          <a:prstGeom prst="roundRect">
            <a:avLst>
              <a:gd name="adj" fmla="val 12121"/>
            </a:avLst>
          </a:prstGeom>
          <a:solidFill>
            <a:srgbClr val="2E8B57">
              <a:alpha val="94000"/>
            </a:srgbClr>
          </a:solidFill>
          <a:ln w="12700">
            <a:solidFill>
              <a:srgbClr val="2E8B57">
                <a:alpha val="0"/>
              </a:srgbClr>
            </a:solidFill>
            <a:prstDash val="solid"/>
          </a:ln>
        </p:spPr>
      </p:sp>
      <p:sp>
        <p:nvSpPr>
          <p:cNvPr id="15" name="Text 12"/>
          <p:cNvSpPr/>
          <p:nvPr/>
        </p:nvSpPr>
        <p:spPr>
          <a:xfrm>
            <a:off x="8613648" y="5605272"/>
            <a:ext cx="941832" cy="164592"/>
          </a:xfrm>
          <a:prstGeom prst="rect">
            <a:avLst/>
          </a:prstGeom>
          <a:noFill/>
          <a:ln/>
        </p:spPr>
        <p:txBody>
          <a:bodyPr wrap="square" lIns="0" tIns="0" rIns="0" bIns="0" rtlCol="0" anchor="ctr"/>
          <a:lstStyle/>
          <a:p>
            <a:pPr algn="ctr" indent="0" marL="0">
              <a:buNone/>
            </a:pPr>
            <a:r>
              <a:rPr lang="en-US" sz="930" b="1" dirty="0">
                <a:solidFill>
                  <a:srgbClr val="FFFFFF"/>
                </a:solidFill>
              </a:rPr>
              <a:t>晶粒强化</a:t>
            </a:r>
            <a:endParaRPr lang="en-US" sz="93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63A5F"/>
          </a:solidFill>
          <a:ln w="12700">
            <a:solidFill>
              <a:srgbClr val="163A5F">
                <a:alpha val="0"/>
              </a:srgbClr>
            </a:solidFill>
            <a:prstDash val="solid"/>
          </a:ln>
        </p:spPr>
      </p:sp>
      <p:sp>
        <p:nvSpPr>
          <p:cNvPr id="3" name="Shape 1"/>
          <p:cNvSpPr/>
          <p:nvPr/>
        </p:nvSpPr>
        <p:spPr>
          <a:xfrm>
            <a:off x="548640" y="6510528"/>
            <a:ext cx="11064240" cy="0"/>
          </a:xfrm>
          <a:prstGeom prst="line">
            <a:avLst/>
          </a:prstGeom>
          <a:noFill/>
          <a:ln w="12700">
            <a:solidFill>
              <a:srgbClr val="D7DEE7"/>
            </a:solidFill>
            <a:prstDash val="solid"/>
          </a:ln>
        </p:spPr>
      </p:sp>
      <p:sp>
        <p:nvSpPr>
          <p:cNvPr id="4" name="Text 2"/>
          <p:cNvSpPr/>
          <p:nvPr/>
        </p:nvSpPr>
        <p:spPr>
          <a:xfrm>
            <a:off x="640080" y="411480"/>
            <a:ext cx="7863840" cy="411480"/>
          </a:xfrm>
          <a:prstGeom prst="rect">
            <a:avLst/>
          </a:prstGeom>
          <a:noFill/>
          <a:ln/>
        </p:spPr>
        <p:txBody>
          <a:bodyPr wrap="square" lIns="0" tIns="0" rIns="0" bIns="0" rtlCol="0" anchor="ctr"/>
          <a:lstStyle/>
          <a:p>
            <a:pPr indent="0" marL="0">
              <a:buNone/>
            </a:pPr>
            <a:r>
              <a:rPr lang="en-US" sz="2400" b="1" dirty="0">
                <a:solidFill>
                  <a:srgbClr val="163A5F"/>
                </a:solidFill>
              </a:rPr>
              <a:t>汇报提纲</a:t>
            </a:r>
            <a:endParaRPr lang="en-US" sz="2400" dirty="0"/>
          </a:p>
        </p:txBody>
      </p:sp>
      <p:sp>
        <p:nvSpPr>
          <p:cNvPr id="5" name="Text 3"/>
          <p:cNvSpPr/>
          <p:nvPr/>
        </p:nvSpPr>
        <p:spPr>
          <a:xfrm>
            <a:off x="658368" y="841248"/>
            <a:ext cx="8961120" cy="182880"/>
          </a:xfrm>
          <a:prstGeom prst="rect">
            <a:avLst/>
          </a:prstGeom>
          <a:noFill/>
          <a:ln/>
        </p:spPr>
        <p:txBody>
          <a:bodyPr wrap="square" lIns="0" tIns="0" rIns="0" bIns="0" rtlCol="0" anchor="ctr"/>
          <a:lstStyle/>
          <a:p>
            <a:pPr indent="0" marL="0">
              <a:buNone/>
            </a:pPr>
            <a:r>
              <a:rPr lang="en-US" sz="950" dirty="0">
                <a:solidFill>
                  <a:srgbClr val="5F6B7A"/>
                </a:solidFill>
              </a:rPr>
              <a:t>本次预答辩按问题提出、方法构建、结果验证、结论展望展开</a:t>
            </a:r>
            <a:endParaRPr lang="en-US" sz="950" dirty="0"/>
          </a:p>
        </p:txBody>
      </p:sp>
      <p:sp>
        <p:nvSpPr>
          <p:cNvPr id="6" name="Shape 4"/>
          <p:cNvSpPr/>
          <p:nvPr/>
        </p:nvSpPr>
        <p:spPr>
          <a:xfrm>
            <a:off x="1097280" y="1417320"/>
            <a:ext cx="9875520" cy="603504"/>
          </a:xfrm>
          <a:prstGeom prst="roundRect">
            <a:avLst>
              <a:gd name="adj" fmla="val 6061"/>
            </a:avLst>
          </a:prstGeom>
          <a:solidFill>
            <a:srgbClr val="FFFFFF"/>
          </a:solidFill>
          <a:ln w="12700">
            <a:solidFill>
              <a:srgbClr val="163A5F"/>
            </a:solidFill>
            <a:prstDash val="solid"/>
          </a:ln>
        </p:spPr>
      </p:sp>
      <p:sp>
        <p:nvSpPr>
          <p:cNvPr id="7" name="Shape 5"/>
          <p:cNvSpPr/>
          <p:nvPr/>
        </p:nvSpPr>
        <p:spPr>
          <a:xfrm>
            <a:off x="1097280" y="1417320"/>
            <a:ext cx="960120" cy="603504"/>
          </a:xfrm>
          <a:prstGeom prst="roundRect">
            <a:avLst>
              <a:gd name="adj" fmla="val 6061"/>
            </a:avLst>
          </a:prstGeom>
          <a:solidFill>
            <a:srgbClr val="163A5F"/>
          </a:solidFill>
          <a:ln w="12700">
            <a:solidFill>
              <a:srgbClr val="163A5F">
                <a:alpha val="0"/>
              </a:srgbClr>
            </a:solidFill>
            <a:prstDash val="solid"/>
          </a:ln>
        </p:spPr>
      </p:sp>
      <p:sp>
        <p:nvSpPr>
          <p:cNvPr id="8" name="Text 6"/>
          <p:cNvSpPr/>
          <p:nvPr/>
        </p:nvSpPr>
        <p:spPr>
          <a:xfrm>
            <a:off x="1335024" y="1572768"/>
            <a:ext cx="484632" cy="164592"/>
          </a:xfrm>
          <a:prstGeom prst="rect">
            <a:avLst/>
          </a:prstGeom>
          <a:noFill/>
          <a:ln/>
        </p:spPr>
        <p:txBody>
          <a:bodyPr wrap="square" lIns="0" tIns="0" rIns="0" bIns="0" rtlCol="0" anchor="ctr"/>
          <a:lstStyle/>
          <a:p>
            <a:pPr algn="ctr" indent="0" marL="0">
              <a:buNone/>
            </a:pPr>
            <a:r>
              <a:rPr lang="en-US" sz="1600" b="1" dirty="0">
                <a:solidFill>
                  <a:srgbClr val="FFFFFF"/>
                </a:solidFill>
              </a:rPr>
              <a:t>01</a:t>
            </a:r>
            <a:endParaRPr lang="en-US" sz="1600" dirty="0"/>
          </a:p>
        </p:txBody>
      </p:sp>
      <p:sp>
        <p:nvSpPr>
          <p:cNvPr id="9" name="Text 7"/>
          <p:cNvSpPr/>
          <p:nvPr/>
        </p:nvSpPr>
        <p:spPr>
          <a:xfrm>
            <a:off x="2267712" y="1563624"/>
            <a:ext cx="8046720" cy="201168"/>
          </a:xfrm>
          <a:prstGeom prst="rect">
            <a:avLst/>
          </a:prstGeom>
          <a:noFill/>
          <a:ln/>
        </p:spPr>
        <p:txBody>
          <a:bodyPr wrap="square" lIns="0" tIns="0" rIns="0" bIns="0" rtlCol="0" anchor="ctr"/>
          <a:lstStyle/>
          <a:p>
            <a:pPr indent="0" marL="0">
              <a:buNone/>
            </a:pPr>
            <a:r>
              <a:rPr lang="en-US" sz="1600" b="1" dirty="0">
                <a:solidFill>
                  <a:srgbClr val="243447"/>
                </a:solidFill>
              </a:rPr>
              <a:t>研究背景与问题提出</a:t>
            </a:r>
            <a:endParaRPr lang="en-US" sz="1600" dirty="0"/>
          </a:p>
        </p:txBody>
      </p:sp>
      <p:sp>
        <p:nvSpPr>
          <p:cNvPr id="10" name="Shape 8"/>
          <p:cNvSpPr/>
          <p:nvPr/>
        </p:nvSpPr>
        <p:spPr>
          <a:xfrm>
            <a:off x="1097280" y="2176272"/>
            <a:ext cx="9875520" cy="603504"/>
          </a:xfrm>
          <a:prstGeom prst="roundRect">
            <a:avLst>
              <a:gd name="adj" fmla="val 6061"/>
            </a:avLst>
          </a:prstGeom>
          <a:solidFill>
            <a:srgbClr val="FFFFFF"/>
          </a:solidFill>
          <a:ln w="12700">
            <a:solidFill>
              <a:srgbClr val="1F8A8A"/>
            </a:solidFill>
            <a:prstDash val="solid"/>
          </a:ln>
        </p:spPr>
      </p:sp>
      <p:sp>
        <p:nvSpPr>
          <p:cNvPr id="11" name="Shape 9"/>
          <p:cNvSpPr/>
          <p:nvPr/>
        </p:nvSpPr>
        <p:spPr>
          <a:xfrm>
            <a:off x="1097280" y="2176272"/>
            <a:ext cx="960120" cy="603504"/>
          </a:xfrm>
          <a:prstGeom prst="roundRect">
            <a:avLst>
              <a:gd name="adj" fmla="val 6061"/>
            </a:avLst>
          </a:prstGeom>
          <a:solidFill>
            <a:srgbClr val="1F8A8A"/>
          </a:solidFill>
          <a:ln w="12700">
            <a:solidFill>
              <a:srgbClr val="1F8A8A">
                <a:alpha val="0"/>
              </a:srgbClr>
            </a:solidFill>
            <a:prstDash val="solid"/>
          </a:ln>
        </p:spPr>
      </p:sp>
      <p:sp>
        <p:nvSpPr>
          <p:cNvPr id="12" name="Text 10"/>
          <p:cNvSpPr/>
          <p:nvPr/>
        </p:nvSpPr>
        <p:spPr>
          <a:xfrm>
            <a:off x="1335024" y="2331720"/>
            <a:ext cx="484632" cy="164592"/>
          </a:xfrm>
          <a:prstGeom prst="rect">
            <a:avLst/>
          </a:prstGeom>
          <a:noFill/>
          <a:ln/>
        </p:spPr>
        <p:txBody>
          <a:bodyPr wrap="square" lIns="0" tIns="0" rIns="0" bIns="0" rtlCol="0" anchor="ctr"/>
          <a:lstStyle/>
          <a:p>
            <a:pPr algn="ctr" indent="0" marL="0">
              <a:buNone/>
            </a:pPr>
            <a:r>
              <a:rPr lang="en-US" sz="1600" b="1" dirty="0">
                <a:solidFill>
                  <a:srgbClr val="FFFFFF"/>
                </a:solidFill>
              </a:rPr>
              <a:t>02</a:t>
            </a:r>
            <a:endParaRPr lang="en-US" sz="1600" dirty="0"/>
          </a:p>
        </p:txBody>
      </p:sp>
      <p:sp>
        <p:nvSpPr>
          <p:cNvPr id="13" name="Text 11"/>
          <p:cNvSpPr/>
          <p:nvPr/>
        </p:nvSpPr>
        <p:spPr>
          <a:xfrm>
            <a:off x="2267712" y="2322576"/>
            <a:ext cx="8046720" cy="201168"/>
          </a:xfrm>
          <a:prstGeom prst="rect">
            <a:avLst/>
          </a:prstGeom>
          <a:noFill/>
          <a:ln/>
        </p:spPr>
        <p:txBody>
          <a:bodyPr wrap="square" lIns="0" tIns="0" rIns="0" bIns="0" rtlCol="0" anchor="ctr"/>
          <a:lstStyle/>
          <a:p>
            <a:pPr indent="0" marL="0">
              <a:buNone/>
            </a:pPr>
            <a:r>
              <a:rPr lang="en-US" sz="1600" b="1" dirty="0">
                <a:solidFill>
                  <a:srgbClr val="243447"/>
                </a:solidFill>
              </a:rPr>
              <a:t>研究目标与技术路线</a:t>
            </a:r>
            <a:endParaRPr lang="en-US" sz="1600" dirty="0"/>
          </a:p>
        </p:txBody>
      </p:sp>
      <p:sp>
        <p:nvSpPr>
          <p:cNvPr id="14" name="Shape 12"/>
          <p:cNvSpPr/>
          <p:nvPr/>
        </p:nvSpPr>
        <p:spPr>
          <a:xfrm>
            <a:off x="1097280" y="2935224"/>
            <a:ext cx="9875520" cy="603504"/>
          </a:xfrm>
          <a:prstGeom prst="roundRect">
            <a:avLst>
              <a:gd name="adj" fmla="val 6061"/>
            </a:avLst>
          </a:prstGeom>
          <a:solidFill>
            <a:srgbClr val="FFFFFF"/>
          </a:solidFill>
          <a:ln w="12700">
            <a:solidFill>
              <a:srgbClr val="D97A2B"/>
            </a:solidFill>
            <a:prstDash val="solid"/>
          </a:ln>
        </p:spPr>
      </p:sp>
      <p:sp>
        <p:nvSpPr>
          <p:cNvPr id="15" name="Shape 13"/>
          <p:cNvSpPr/>
          <p:nvPr/>
        </p:nvSpPr>
        <p:spPr>
          <a:xfrm>
            <a:off x="1097280" y="2935224"/>
            <a:ext cx="960120" cy="603504"/>
          </a:xfrm>
          <a:prstGeom prst="roundRect">
            <a:avLst>
              <a:gd name="adj" fmla="val 6061"/>
            </a:avLst>
          </a:prstGeom>
          <a:solidFill>
            <a:srgbClr val="D97A2B"/>
          </a:solidFill>
          <a:ln w="12700">
            <a:solidFill>
              <a:srgbClr val="D97A2B">
                <a:alpha val="0"/>
              </a:srgbClr>
            </a:solidFill>
            <a:prstDash val="solid"/>
          </a:ln>
        </p:spPr>
      </p:sp>
      <p:sp>
        <p:nvSpPr>
          <p:cNvPr id="16" name="Text 14"/>
          <p:cNvSpPr/>
          <p:nvPr/>
        </p:nvSpPr>
        <p:spPr>
          <a:xfrm>
            <a:off x="1335024" y="3090672"/>
            <a:ext cx="484632" cy="164592"/>
          </a:xfrm>
          <a:prstGeom prst="rect">
            <a:avLst/>
          </a:prstGeom>
          <a:noFill/>
          <a:ln/>
        </p:spPr>
        <p:txBody>
          <a:bodyPr wrap="square" lIns="0" tIns="0" rIns="0" bIns="0" rtlCol="0" anchor="ctr"/>
          <a:lstStyle/>
          <a:p>
            <a:pPr algn="ctr" indent="0" marL="0">
              <a:buNone/>
            </a:pPr>
            <a:r>
              <a:rPr lang="en-US" sz="1600" b="1" dirty="0">
                <a:solidFill>
                  <a:srgbClr val="FFFFFF"/>
                </a:solidFill>
              </a:rPr>
              <a:t>03</a:t>
            </a:r>
            <a:endParaRPr lang="en-US" sz="1600" dirty="0"/>
          </a:p>
        </p:txBody>
      </p:sp>
      <p:sp>
        <p:nvSpPr>
          <p:cNvPr id="17" name="Text 15"/>
          <p:cNvSpPr/>
          <p:nvPr/>
        </p:nvSpPr>
        <p:spPr>
          <a:xfrm>
            <a:off x="2267712" y="3081528"/>
            <a:ext cx="8046720" cy="201168"/>
          </a:xfrm>
          <a:prstGeom prst="rect">
            <a:avLst/>
          </a:prstGeom>
          <a:noFill/>
          <a:ln/>
        </p:spPr>
        <p:txBody>
          <a:bodyPr wrap="square" lIns="0" tIns="0" rIns="0" bIns="0" rtlCol="0" anchor="ctr"/>
          <a:lstStyle/>
          <a:p>
            <a:pPr indent="0" marL="0">
              <a:buNone/>
            </a:pPr>
            <a:r>
              <a:rPr lang="en-US" sz="1600" b="1" dirty="0">
                <a:solidFill>
                  <a:srgbClr val="243447"/>
                </a:solidFill>
              </a:rPr>
              <a:t>缩孔形成机理与工艺优化</a:t>
            </a:r>
            <a:endParaRPr lang="en-US" sz="1600" dirty="0"/>
          </a:p>
        </p:txBody>
      </p:sp>
      <p:sp>
        <p:nvSpPr>
          <p:cNvPr id="18" name="Shape 16"/>
          <p:cNvSpPr/>
          <p:nvPr/>
        </p:nvSpPr>
        <p:spPr>
          <a:xfrm>
            <a:off x="1097280" y="3694176"/>
            <a:ext cx="9875520" cy="603504"/>
          </a:xfrm>
          <a:prstGeom prst="roundRect">
            <a:avLst>
              <a:gd name="adj" fmla="val 6061"/>
            </a:avLst>
          </a:prstGeom>
          <a:solidFill>
            <a:srgbClr val="FFFFFF"/>
          </a:solidFill>
          <a:ln w="12700">
            <a:solidFill>
              <a:srgbClr val="B94A48"/>
            </a:solidFill>
            <a:prstDash val="solid"/>
          </a:ln>
        </p:spPr>
      </p:sp>
      <p:sp>
        <p:nvSpPr>
          <p:cNvPr id="19" name="Shape 17"/>
          <p:cNvSpPr/>
          <p:nvPr/>
        </p:nvSpPr>
        <p:spPr>
          <a:xfrm>
            <a:off x="1097280" y="3694176"/>
            <a:ext cx="960120" cy="603504"/>
          </a:xfrm>
          <a:prstGeom prst="roundRect">
            <a:avLst>
              <a:gd name="adj" fmla="val 6061"/>
            </a:avLst>
          </a:prstGeom>
          <a:solidFill>
            <a:srgbClr val="B94A48"/>
          </a:solidFill>
          <a:ln w="12700">
            <a:solidFill>
              <a:srgbClr val="B94A48">
                <a:alpha val="0"/>
              </a:srgbClr>
            </a:solidFill>
            <a:prstDash val="solid"/>
          </a:ln>
        </p:spPr>
      </p:sp>
      <p:sp>
        <p:nvSpPr>
          <p:cNvPr id="20" name="Text 18"/>
          <p:cNvSpPr/>
          <p:nvPr/>
        </p:nvSpPr>
        <p:spPr>
          <a:xfrm>
            <a:off x="1335024" y="3849624"/>
            <a:ext cx="484632" cy="164592"/>
          </a:xfrm>
          <a:prstGeom prst="rect">
            <a:avLst/>
          </a:prstGeom>
          <a:noFill/>
          <a:ln/>
        </p:spPr>
        <p:txBody>
          <a:bodyPr wrap="square" lIns="0" tIns="0" rIns="0" bIns="0" rtlCol="0" anchor="ctr"/>
          <a:lstStyle/>
          <a:p>
            <a:pPr algn="ctr" indent="0" marL="0">
              <a:buNone/>
            </a:pPr>
            <a:r>
              <a:rPr lang="en-US" sz="1600" b="1" dirty="0">
                <a:solidFill>
                  <a:srgbClr val="FFFFFF"/>
                </a:solidFill>
              </a:rPr>
              <a:t>04</a:t>
            </a:r>
            <a:endParaRPr lang="en-US" sz="1600" dirty="0"/>
          </a:p>
        </p:txBody>
      </p:sp>
      <p:sp>
        <p:nvSpPr>
          <p:cNvPr id="21" name="Text 19"/>
          <p:cNvSpPr/>
          <p:nvPr/>
        </p:nvSpPr>
        <p:spPr>
          <a:xfrm>
            <a:off x="2267712" y="3840480"/>
            <a:ext cx="8046720" cy="201168"/>
          </a:xfrm>
          <a:prstGeom prst="rect">
            <a:avLst/>
          </a:prstGeom>
          <a:noFill/>
          <a:ln/>
        </p:spPr>
        <p:txBody>
          <a:bodyPr wrap="square" lIns="0" tIns="0" rIns="0" bIns="0" rtlCol="0" anchor="ctr"/>
          <a:lstStyle/>
          <a:p>
            <a:pPr indent="0" marL="0">
              <a:buNone/>
            </a:pPr>
            <a:r>
              <a:rPr lang="en-US" sz="1600" b="1" dirty="0">
                <a:solidFill>
                  <a:srgbClr val="243447"/>
                </a:solidFill>
              </a:rPr>
              <a:t>缩孔群映射与强度评估</a:t>
            </a:r>
            <a:endParaRPr lang="en-US" sz="1600" dirty="0"/>
          </a:p>
        </p:txBody>
      </p:sp>
      <p:sp>
        <p:nvSpPr>
          <p:cNvPr id="22" name="Shape 20"/>
          <p:cNvSpPr/>
          <p:nvPr/>
        </p:nvSpPr>
        <p:spPr>
          <a:xfrm>
            <a:off x="1097280" y="4453128"/>
            <a:ext cx="9875520" cy="603504"/>
          </a:xfrm>
          <a:prstGeom prst="roundRect">
            <a:avLst>
              <a:gd name="adj" fmla="val 6061"/>
            </a:avLst>
          </a:prstGeom>
          <a:solidFill>
            <a:srgbClr val="FFFFFF"/>
          </a:solidFill>
          <a:ln w="12700">
            <a:solidFill>
              <a:srgbClr val="2E8B57"/>
            </a:solidFill>
            <a:prstDash val="solid"/>
          </a:ln>
        </p:spPr>
      </p:sp>
      <p:sp>
        <p:nvSpPr>
          <p:cNvPr id="23" name="Shape 21"/>
          <p:cNvSpPr/>
          <p:nvPr/>
        </p:nvSpPr>
        <p:spPr>
          <a:xfrm>
            <a:off x="1097280" y="4453128"/>
            <a:ext cx="960120" cy="603504"/>
          </a:xfrm>
          <a:prstGeom prst="roundRect">
            <a:avLst>
              <a:gd name="adj" fmla="val 6061"/>
            </a:avLst>
          </a:prstGeom>
          <a:solidFill>
            <a:srgbClr val="2E8B57"/>
          </a:solidFill>
          <a:ln w="12700">
            <a:solidFill>
              <a:srgbClr val="2E8B57">
                <a:alpha val="0"/>
              </a:srgbClr>
            </a:solidFill>
            <a:prstDash val="solid"/>
          </a:ln>
        </p:spPr>
      </p:sp>
      <p:sp>
        <p:nvSpPr>
          <p:cNvPr id="24" name="Text 22"/>
          <p:cNvSpPr/>
          <p:nvPr/>
        </p:nvSpPr>
        <p:spPr>
          <a:xfrm>
            <a:off x="1335024" y="4608576"/>
            <a:ext cx="484632" cy="164592"/>
          </a:xfrm>
          <a:prstGeom prst="rect">
            <a:avLst/>
          </a:prstGeom>
          <a:noFill/>
          <a:ln/>
        </p:spPr>
        <p:txBody>
          <a:bodyPr wrap="square" lIns="0" tIns="0" rIns="0" bIns="0" rtlCol="0" anchor="ctr"/>
          <a:lstStyle/>
          <a:p>
            <a:pPr algn="ctr" indent="0" marL="0">
              <a:buNone/>
            </a:pPr>
            <a:r>
              <a:rPr lang="en-US" sz="1600" b="1" dirty="0">
                <a:solidFill>
                  <a:srgbClr val="FFFFFF"/>
                </a:solidFill>
              </a:rPr>
              <a:t>05</a:t>
            </a:r>
            <a:endParaRPr lang="en-US" sz="1600" dirty="0"/>
          </a:p>
        </p:txBody>
      </p:sp>
      <p:sp>
        <p:nvSpPr>
          <p:cNvPr id="25" name="Text 23"/>
          <p:cNvSpPr/>
          <p:nvPr/>
        </p:nvSpPr>
        <p:spPr>
          <a:xfrm>
            <a:off x="2267712" y="4599432"/>
            <a:ext cx="8046720" cy="201168"/>
          </a:xfrm>
          <a:prstGeom prst="rect">
            <a:avLst/>
          </a:prstGeom>
          <a:noFill/>
          <a:ln/>
        </p:spPr>
        <p:txBody>
          <a:bodyPr wrap="square" lIns="0" tIns="0" rIns="0" bIns="0" rtlCol="0" anchor="ctr"/>
          <a:lstStyle/>
          <a:p>
            <a:pPr indent="0" marL="0">
              <a:buNone/>
            </a:pPr>
            <a:r>
              <a:rPr lang="en-US" sz="1600" b="1" dirty="0">
                <a:solidFill>
                  <a:srgbClr val="243447"/>
                </a:solidFill>
              </a:rPr>
              <a:t>高应力区晶粒强化与验证</a:t>
            </a:r>
            <a:endParaRPr lang="en-US" sz="1600" dirty="0"/>
          </a:p>
        </p:txBody>
      </p:sp>
      <p:sp>
        <p:nvSpPr>
          <p:cNvPr id="26" name="Shape 24"/>
          <p:cNvSpPr/>
          <p:nvPr/>
        </p:nvSpPr>
        <p:spPr>
          <a:xfrm>
            <a:off x="1097280" y="5212080"/>
            <a:ext cx="9875520" cy="603504"/>
          </a:xfrm>
          <a:prstGeom prst="roundRect">
            <a:avLst>
              <a:gd name="adj" fmla="val 6061"/>
            </a:avLst>
          </a:prstGeom>
          <a:solidFill>
            <a:srgbClr val="FFFFFF"/>
          </a:solidFill>
          <a:ln w="12700">
            <a:solidFill>
              <a:srgbClr val="2E5B87"/>
            </a:solidFill>
            <a:prstDash val="solid"/>
          </a:ln>
        </p:spPr>
      </p:sp>
      <p:sp>
        <p:nvSpPr>
          <p:cNvPr id="27" name="Shape 25"/>
          <p:cNvSpPr/>
          <p:nvPr/>
        </p:nvSpPr>
        <p:spPr>
          <a:xfrm>
            <a:off x="1097280" y="5212080"/>
            <a:ext cx="960120" cy="603504"/>
          </a:xfrm>
          <a:prstGeom prst="roundRect">
            <a:avLst>
              <a:gd name="adj" fmla="val 6061"/>
            </a:avLst>
          </a:prstGeom>
          <a:solidFill>
            <a:srgbClr val="2E5B87"/>
          </a:solidFill>
          <a:ln w="12700">
            <a:solidFill>
              <a:srgbClr val="2E5B87">
                <a:alpha val="0"/>
              </a:srgbClr>
            </a:solidFill>
            <a:prstDash val="solid"/>
          </a:ln>
        </p:spPr>
      </p:sp>
      <p:sp>
        <p:nvSpPr>
          <p:cNvPr id="28" name="Text 26"/>
          <p:cNvSpPr/>
          <p:nvPr/>
        </p:nvSpPr>
        <p:spPr>
          <a:xfrm>
            <a:off x="1335024" y="5367528"/>
            <a:ext cx="484632" cy="164592"/>
          </a:xfrm>
          <a:prstGeom prst="rect">
            <a:avLst/>
          </a:prstGeom>
          <a:noFill/>
          <a:ln/>
        </p:spPr>
        <p:txBody>
          <a:bodyPr wrap="square" lIns="0" tIns="0" rIns="0" bIns="0" rtlCol="0" anchor="ctr"/>
          <a:lstStyle/>
          <a:p>
            <a:pPr algn="ctr" indent="0" marL="0">
              <a:buNone/>
            </a:pPr>
            <a:r>
              <a:rPr lang="en-US" sz="1600" b="1" dirty="0">
                <a:solidFill>
                  <a:srgbClr val="FFFFFF"/>
                </a:solidFill>
              </a:rPr>
              <a:t>06</a:t>
            </a:r>
            <a:endParaRPr lang="en-US" sz="1600" dirty="0"/>
          </a:p>
        </p:txBody>
      </p:sp>
      <p:sp>
        <p:nvSpPr>
          <p:cNvPr id="29" name="Text 27"/>
          <p:cNvSpPr/>
          <p:nvPr/>
        </p:nvSpPr>
        <p:spPr>
          <a:xfrm>
            <a:off x="2267712" y="5358384"/>
            <a:ext cx="8046720" cy="201168"/>
          </a:xfrm>
          <a:prstGeom prst="rect">
            <a:avLst/>
          </a:prstGeom>
          <a:noFill/>
          <a:ln/>
        </p:spPr>
        <p:txBody>
          <a:bodyPr wrap="square" lIns="0" tIns="0" rIns="0" bIns="0" rtlCol="0" anchor="ctr"/>
          <a:lstStyle/>
          <a:p>
            <a:pPr indent="0" marL="0">
              <a:buNone/>
            </a:pPr>
            <a:r>
              <a:rPr lang="en-US" sz="1600" b="1" dirty="0">
                <a:solidFill>
                  <a:srgbClr val="243447"/>
                </a:solidFill>
              </a:rPr>
              <a:t>创新点、结论与展望</a:t>
            </a:r>
            <a:endParaRPr lang="en-US" sz="1600" dirty="0"/>
          </a:p>
        </p:txBody>
      </p:sp>
      <p:sp>
        <p:nvSpPr>
          <p:cNvPr id="30" name="Text 28"/>
          <p:cNvSpPr/>
          <p:nvPr/>
        </p:nvSpPr>
        <p:spPr>
          <a:xfrm>
            <a:off x="658368" y="6537960"/>
            <a:ext cx="2103120" cy="164592"/>
          </a:xfrm>
          <a:prstGeom prst="rect">
            <a:avLst/>
          </a:prstGeom>
          <a:noFill/>
          <a:ln/>
        </p:spPr>
        <p:txBody>
          <a:bodyPr wrap="square" lIns="0" tIns="0" rIns="0" bIns="0" rtlCol="0" anchor="ctr"/>
          <a:lstStyle/>
          <a:p>
            <a:pPr indent="0" marL="0">
              <a:buNone/>
            </a:pPr>
            <a:r>
              <a:rPr lang="en-US" sz="800" dirty="0">
                <a:solidFill>
                  <a:srgbClr val="5F6B7A"/>
                </a:solidFill>
              </a:rPr>
              <a:t>博士学位论文预答辩</a:t>
            </a:r>
            <a:endParaRPr lang="en-US" sz="800" dirty="0"/>
          </a:p>
        </p:txBody>
      </p:sp>
      <p:sp>
        <p:nvSpPr>
          <p:cNvPr id="31" name="Text 29"/>
          <p:cNvSpPr/>
          <p:nvPr/>
        </p:nvSpPr>
        <p:spPr>
          <a:xfrm>
            <a:off x="11109960" y="6510528"/>
            <a:ext cx="411480" cy="182880"/>
          </a:xfrm>
          <a:prstGeom prst="rect">
            <a:avLst/>
          </a:prstGeom>
          <a:noFill/>
          <a:ln/>
        </p:spPr>
        <p:txBody>
          <a:bodyPr wrap="square" lIns="0" tIns="0" rIns="0" bIns="0" rtlCol="0" anchor="ctr"/>
          <a:lstStyle/>
          <a:p>
            <a:pPr algn="r" indent="0" marL="0">
              <a:buNone/>
            </a:pPr>
            <a:r>
              <a:rPr lang="en-US" sz="850" dirty="0">
                <a:solidFill>
                  <a:srgbClr val="5F6B7A"/>
                </a:solidFill>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63A5F"/>
          </a:solidFill>
          <a:ln w="12700">
            <a:solidFill>
              <a:srgbClr val="163A5F">
                <a:alpha val="0"/>
              </a:srgbClr>
            </a:solidFill>
            <a:prstDash val="solid"/>
          </a:ln>
        </p:spPr>
      </p:sp>
      <p:sp>
        <p:nvSpPr>
          <p:cNvPr id="3" name="Shape 1"/>
          <p:cNvSpPr/>
          <p:nvPr/>
        </p:nvSpPr>
        <p:spPr>
          <a:xfrm>
            <a:off x="548640" y="6510528"/>
            <a:ext cx="11064240" cy="0"/>
          </a:xfrm>
          <a:prstGeom prst="line">
            <a:avLst/>
          </a:prstGeom>
          <a:noFill/>
          <a:ln w="12700">
            <a:solidFill>
              <a:srgbClr val="D7DEE7"/>
            </a:solidFill>
            <a:prstDash val="solid"/>
          </a:ln>
        </p:spPr>
      </p:sp>
      <p:sp>
        <p:nvSpPr>
          <p:cNvPr id="4" name="Text 2"/>
          <p:cNvSpPr/>
          <p:nvPr/>
        </p:nvSpPr>
        <p:spPr>
          <a:xfrm>
            <a:off x="640080" y="411480"/>
            <a:ext cx="7863840" cy="411480"/>
          </a:xfrm>
          <a:prstGeom prst="rect">
            <a:avLst/>
          </a:prstGeom>
          <a:noFill/>
          <a:ln/>
        </p:spPr>
        <p:txBody>
          <a:bodyPr wrap="square" lIns="0" tIns="0" rIns="0" bIns="0" rtlCol="0" anchor="ctr"/>
          <a:lstStyle/>
          <a:p>
            <a:pPr indent="0" marL="0">
              <a:buNone/>
            </a:pPr>
            <a:r>
              <a:rPr lang="en-US" sz="2400" b="1" dirty="0">
                <a:solidFill>
                  <a:srgbClr val="163A5F"/>
                </a:solidFill>
              </a:rPr>
              <a:t>研究背景与意义</a:t>
            </a:r>
            <a:endParaRPr lang="en-US" sz="2400" dirty="0"/>
          </a:p>
        </p:txBody>
      </p:sp>
      <p:sp>
        <p:nvSpPr>
          <p:cNvPr id="5" name="Text 3"/>
          <p:cNvSpPr/>
          <p:nvPr/>
        </p:nvSpPr>
        <p:spPr>
          <a:xfrm>
            <a:off x="658368" y="841248"/>
            <a:ext cx="8961120" cy="182880"/>
          </a:xfrm>
          <a:prstGeom prst="rect">
            <a:avLst/>
          </a:prstGeom>
          <a:noFill/>
          <a:ln/>
        </p:spPr>
        <p:txBody>
          <a:bodyPr wrap="square" lIns="0" tIns="0" rIns="0" bIns="0" rtlCol="0" anchor="ctr"/>
          <a:lstStyle/>
          <a:p>
            <a:pPr indent="0" marL="0">
              <a:buNone/>
            </a:pPr>
            <a:r>
              <a:rPr lang="en-US" sz="950" dirty="0">
                <a:solidFill>
                  <a:srgbClr val="5F6B7A"/>
                </a:solidFill>
              </a:rPr>
              <a:t>面向高温高压工况下直通式铸钢阀体的安全与轻量化需求</a:t>
            </a:r>
            <a:endParaRPr lang="en-US" sz="950" dirty="0"/>
          </a:p>
        </p:txBody>
      </p:sp>
      <p:sp>
        <p:nvSpPr>
          <p:cNvPr id="6" name="Shape 4"/>
          <p:cNvSpPr/>
          <p:nvPr/>
        </p:nvSpPr>
        <p:spPr>
          <a:xfrm>
            <a:off x="749808" y="1207008"/>
            <a:ext cx="5440680" cy="4526280"/>
          </a:xfrm>
          <a:prstGeom prst="roundRect">
            <a:avLst>
              <a:gd name="adj" fmla="val 808"/>
            </a:avLst>
          </a:prstGeom>
          <a:solidFill>
            <a:srgbClr val="F6F8FB"/>
          </a:solidFill>
          <a:ln w="12700">
            <a:solidFill>
              <a:srgbClr val="D7DEE7"/>
            </a:solidFill>
            <a:prstDash val="solid"/>
          </a:ln>
          <a:effectLst>
            <a:outerShdw sx="100000" sy="100000" kx="0" ky="0" algn="bl" rotWithShape="0" blurRad="12700" dist="50800" dir="2700000">
              <a:srgbClr val="CBD5E1">
                <a:alpha val="12000"/>
              </a:srgbClr>
            </a:outerShdw>
          </a:effectLst>
        </p:spPr>
      </p:sp>
      <p:sp>
        <p:nvSpPr>
          <p:cNvPr id="7" name="Text 5"/>
          <p:cNvSpPr/>
          <p:nvPr/>
        </p:nvSpPr>
        <p:spPr>
          <a:xfrm>
            <a:off x="896112" y="1316736"/>
            <a:ext cx="5148072" cy="256032"/>
          </a:xfrm>
          <a:prstGeom prst="rect">
            <a:avLst/>
          </a:prstGeom>
          <a:noFill/>
          <a:ln/>
        </p:spPr>
        <p:txBody>
          <a:bodyPr wrap="square" lIns="0" tIns="0" rIns="0" bIns="0" rtlCol="0" anchor="ctr">
            <a:normAutofit/>
          </a:bodyPr>
          <a:lstStyle/>
          <a:p>
            <a:pPr indent="0" marL="0">
              <a:buNone/>
            </a:pPr>
            <a:r>
              <a:rPr lang="en-US" sz="1450" b="1" dirty="0">
                <a:solidFill>
                  <a:srgbClr val="163A5F"/>
                </a:solidFill>
              </a:rPr>
              <a:t>工程背景</a:t>
            </a:r>
            <a:endParaRPr lang="en-US" sz="1450" dirty="0"/>
          </a:p>
        </p:txBody>
      </p:sp>
      <p:sp>
        <p:nvSpPr>
          <p:cNvPr id="8" name="Text 6"/>
          <p:cNvSpPr/>
          <p:nvPr/>
        </p:nvSpPr>
        <p:spPr>
          <a:xfrm>
            <a:off x="896112" y="1600200"/>
            <a:ext cx="5148072" cy="4032504"/>
          </a:xfrm>
          <a:prstGeom prst="rect">
            <a:avLst/>
          </a:prstGeom>
          <a:noFill/>
          <a:ln/>
        </p:spPr>
        <p:txBody>
          <a:bodyPr wrap="square" lIns="0" tIns="0" rIns="0" bIns="0" rtlCol="0" anchor="t">
            <a:normAutofit/>
          </a:bodyPr>
          <a:lstStyle/>
          <a:p>
            <a:pPr indent="0" marL="0">
              <a:lnSpc>
                <a:spcPct val="108000"/>
              </a:lnSpc>
              <a:buNone/>
            </a:pPr>
            <a:r>
              <a:rPr lang="en-US" sz="1270" dirty="0">
                <a:solidFill>
                  <a:srgbClr val="243447"/>
                </a:solidFill>
              </a:rPr>
              <a:t>1. 直通式阀体广泛用于能源、化工、管输等高参数场景，承压可靠性直接决定系统安全。</a:t>
            </a:r>
            <a:endParaRPr lang="en-US" sz="1270" dirty="0"/>
          </a:p>
          <a:p>
            <a:pPr indent="0" marL="0">
              <a:lnSpc>
                <a:spcPct val="108000"/>
              </a:lnSpc>
              <a:buNone/>
            </a:pPr>
            <a:r>
              <a:rPr lang="en-US" sz="1270" dirty="0">
                <a:solidFill>
                  <a:srgbClr val="243447"/>
                </a:solidFill>
              </a:rPr>
              <a:t>2. 复杂流道与挡板结构使其成为典型厚薄不均铸件，天然易形成热节、补缩不足和缩孔缺陷。</a:t>
            </a:r>
            <a:endParaRPr lang="en-US" sz="1270" dirty="0"/>
          </a:p>
          <a:p>
            <a:pPr indent="0" marL="0">
              <a:lnSpc>
                <a:spcPct val="108000"/>
              </a:lnSpc>
              <a:buNone/>
            </a:pPr>
            <a:r>
              <a:rPr lang="en-US" sz="1270" dirty="0">
                <a:solidFill>
                  <a:srgbClr val="243447"/>
                </a:solidFill>
              </a:rPr>
              <a:t>3. 在极端工况和轻量化要求下，仅靠经验增厚已难以兼顾安全、重量和制造成本。</a:t>
            </a:r>
            <a:endParaRPr lang="en-US" sz="1270" dirty="0"/>
          </a:p>
          <a:p>
            <a:pPr indent="0" marL="0">
              <a:lnSpc>
                <a:spcPct val="108000"/>
              </a:lnSpc>
              <a:buNone/>
            </a:pPr>
            <a:r>
              <a:rPr lang="en-US" sz="1270" dirty="0">
                <a:solidFill>
                  <a:srgbClr val="243447"/>
                </a:solidFill>
              </a:rPr>
              <a:t>4. 因此需要建立兼顾制造缺陷与结构完整性的设计评价体系。</a:t>
            </a:r>
            <a:endParaRPr lang="en-US" sz="1270" dirty="0"/>
          </a:p>
        </p:txBody>
      </p:sp>
      <p:sp>
        <p:nvSpPr>
          <p:cNvPr id="9" name="Shape 7"/>
          <p:cNvSpPr/>
          <p:nvPr/>
        </p:nvSpPr>
        <p:spPr>
          <a:xfrm>
            <a:off x="6400800" y="1207008"/>
            <a:ext cx="4983480" cy="1234440"/>
          </a:xfrm>
          <a:prstGeom prst="roundRect">
            <a:avLst>
              <a:gd name="adj" fmla="val 2963"/>
            </a:avLst>
          </a:prstGeom>
          <a:solidFill>
            <a:srgbClr val="F6FBFB"/>
          </a:solidFill>
          <a:ln w="12700">
            <a:solidFill>
              <a:srgbClr val="B7DFDF"/>
            </a:solidFill>
            <a:prstDash val="solid"/>
          </a:ln>
          <a:effectLst>
            <a:outerShdw sx="100000" sy="100000" kx="0" ky="0" algn="bl" rotWithShape="0" blurRad="12700" dist="50800" dir="2700000">
              <a:srgbClr val="CBD5E1">
                <a:alpha val="12000"/>
              </a:srgbClr>
            </a:outerShdw>
          </a:effectLst>
        </p:spPr>
      </p:sp>
      <p:sp>
        <p:nvSpPr>
          <p:cNvPr id="10" name="Text 8"/>
          <p:cNvSpPr/>
          <p:nvPr/>
        </p:nvSpPr>
        <p:spPr>
          <a:xfrm>
            <a:off x="6547104" y="1316736"/>
            <a:ext cx="4690872" cy="256032"/>
          </a:xfrm>
          <a:prstGeom prst="rect">
            <a:avLst/>
          </a:prstGeom>
          <a:noFill/>
          <a:ln/>
        </p:spPr>
        <p:txBody>
          <a:bodyPr wrap="square" lIns="0" tIns="0" rIns="0" bIns="0" rtlCol="0" anchor="ctr">
            <a:normAutofit/>
          </a:bodyPr>
          <a:lstStyle/>
          <a:p>
            <a:pPr indent="0" marL="0">
              <a:buNone/>
            </a:pPr>
            <a:r>
              <a:rPr lang="en-US" sz="1450" b="1" dirty="0">
                <a:solidFill>
                  <a:srgbClr val="1F8A8A"/>
                </a:solidFill>
              </a:rPr>
              <a:t>意义 1：缺陷源头控制</a:t>
            </a:r>
            <a:endParaRPr lang="en-US" sz="1450" dirty="0"/>
          </a:p>
        </p:txBody>
      </p:sp>
      <p:sp>
        <p:nvSpPr>
          <p:cNvPr id="11" name="Text 9"/>
          <p:cNvSpPr/>
          <p:nvPr/>
        </p:nvSpPr>
        <p:spPr>
          <a:xfrm>
            <a:off x="6547104" y="1600200"/>
            <a:ext cx="4690872" cy="740664"/>
          </a:xfrm>
          <a:prstGeom prst="rect">
            <a:avLst/>
          </a:prstGeom>
          <a:noFill/>
          <a:ln/>
        </p:spPr>
        <p:txBody>
          <a:bodyPr wrap="square" lIns="0" tIns="0" rIns="0" bIns="0" rtlCol="0" anchor="t">
            <a:normAutofit/>
          </a:bodyPr>
          <a:lstStyle/>
          <a:p>
            <a:pPr indent="0" marL="0">
              <a:lnSpc>
                <a:spcPct val="108000"/>
              </a:lnSpc>
              <a:buNone/>
            </a:pPr>
            <a:r>
              <a:rPr lang="en-US" sz="1200" dirty="0">
                <a:solidFill>
                  <a:srgbClr val="243447"/>
                </a:solidFill>
              </a:rPr>
              <a:t>在结构参数与铸造工艺层面降低缩孔敏感性，提高阀体成品率与一致性。</a:t>
            </a:r>
            <a:endParaRPr lang="en-US" sz="1200" dirty="0"/>
          </a:p>
        </p:txBody>
      </p:sp>
      <p:sp>
        <p:nvSpPr>
          <p:cNvPr id="12" name="Shape 10"/>
          <p:cNvSpPr/>
          <p:nvPr/>
        </p:nvSpPr>
        <p:spPr>
          <a:xfrm>
            <a:off x="6400800" y="2670048"/>
            <a:ext cx="4983480" cy="1234440"/>
          </a:xfrm>
          <a:prstGeom prst="roundRect">
            <a:avLst>
              <a:gd name="adj" fmla="val 2963"/>
            </a:avLst>
          </a:prstGeom>
          <a:solidFill>
            <a:srgbClr val="FFF7EE"/>
          </a:solidFill>
          <a:ln w="12700">
            <a:solidFill>
              <a:srgbClr val="F0D0AD"/>
            </a:solidFill>
            <a:prstDash val="solid"/>
          </a:ln>
          <a:effectLst>
            <a:outerShdw sx="100000" sy="100000" kx="0" ky="0" algn="bl" rotWithShape="0" blurRad="12700" dist="50800" dir="2700000">
              <a:srgbClr val="CBD5E1">
                <a:alpha val="12000"/>
              </a:srgbClr>
            </a:outerShdw>
          </a:effectLst>
        </p:spPr>
      </p:sp>
      <p:sp>
        <p:nvSpPr>
          <p:cNvPr id="13" name="Text 11"/>
          <p:cNvSpPr/>
          <p:nvPr/>
        </p:nvSpPr>
        <p:spPr>
          <a:xfrm>
            <a:off x="6547104" y="2779776"/>
            <a:ext cx="4690872" cy="256032"/>
          </a:xfrm>
          <a:prstGeom prst="rect">
            <a:avLst/>
          </a:prstGeom>
          <a:noFill/>
          <a:ln/>
        </p:spPr>
        <p:txBody>
          <a:bodyPr wrap="square" lIns="0" tIns="0" rIns="0" bIns="0" rtlCol="0" anchor="ctr">
            <a:normAutofit/>
          </a:bodyPr>
          <a:lstStyle/>
          <a:p>
            <a:pPr indent="0" marL="0">
              <a:buNone/>
            </a:pPr>
            <a:r>
              <a:rPr lang="en-US" sz="1450" b="1" dirty="0">
                <a:solidFill>
                  <a:srgbClr val="D97A2B"/>
                </a:solidFill>
              </a:rPr>
              <a:t>意义 2：真实承压评估</a:t>
            </a:r>
            <a:endParaRPr lang="en-US" sz="1450" dirty="0"/>
          </a:p>
        </p:txBody>
      </p:sp>
      <p:sp>
        <p:nvSpPr>
          <p:cNvPr id="14" name="Text 12"/>
          <p:cNvSpPr/>
          <p:nvPr/>
        </p:nvSpPr>
        <p:spPr>
          <a:xfrm>
            <a:off x="6547104" y="3063240"/>
            <a:ext cx="4690872" cy="740664"/>
          </a:xfrm>
          <a:prstGeom prst="rect">
            <a:avLst/>
          </a:prstGeom>
          <a:noFill/>
          <a:ln/>
        </p:spPr>
        <p:txBody>
          <a:bodyPr wrap="square" lIns="0" tIns="0" rIns="0" bIns="0" rtlCol="0" anchor="t">
            <a:normAutofit/>
          </a:bodyPr>
          <a:lstStyle/>
          <a:p>
            <a:pPr indent="0" marL="0">
              <a:lnSpc>
                <a:spcPct val="108000"/>
              </a:lnSpc>
              <a:buNone/>
            </a:pPr>
            <a:r>
              <a:rPr lang="en-US" sz="1200" dirty="0">
                <a:solidFill>
                  <a:srgbClr val="243447"/>
                </a:solidFill>
              </a:rPr>
              <a:t>把制造缺陷引入结构分析，从“理想均质”走向“实际非均质”承压评价。</a:t>
            </a:r>
            <a:endParaRPr lang="en-US" sz="1200" dirty="0"/>
          </a:p>
        </p:txBody>
      </p:sp>
      <p:sp>
        <p:nvSpPr>
          <p:cNvPr id="15" name="Shape 13"/>
          <p:cNvSpPr/>
          <p:nvPr/>
        </p:nvSpPr>
        <p:spPr>
          <a:xfrm>
            <a:off x="6400800" y="4133088"/>
            <a:ext cx="4983480" cy="1234440"/>
          </a:xfrm>
          <a:prstGeom prst="roundRect">
            <a:avLst>
              <a:gd name="adj" fmla="val 2963"/>
            </a:avLst>
          </a:prstGeom>
          <a:solidFill>
            <a:srgbClr val="F7FAF7"/>
          </a:solidFill>
          <a:ln w="12700">
            <a:solidFill>
              <a:srgbClr val="C7DFC7"/>
            </a:solidFill>
            <a:prstDash val="solid"/>
          </a:ln>
          <a:effectLst>
            <a:outerShdw sx="100000" sy="100000" kx="0" ky="0" algn="bl" rotWithShape="0" blurRad="12700" dist="50800" dir="2700000">
              <a:srgbClr val="CBD5E1">
                <a:alpha val="12000"/>
              </a:srgbClr>
            </a:outerShdw>
          </a:effectLst>
        </p:spPr>
      </p:sp>
      <p:sp>
        <p:nvSpPr>
          <p:cNvPr id="16" name="Text 14"/>
          <p:cNvSpPr/>
          <p:nvPr/>
        </p:nvSpPr>
        <p:spPr>
          <a:xfrm>
            <a:off x="6547104" y="4242816"/>
            <a:ext cx="4690872" cy="256032"/>
          </a:xfrm>
          <a:prstGeom prst="rect">
            <a:avLst/>
          </a:prstGeom>
          <a:noFill/>
          <a:ln/>
        </p:spPr>
        <p:txBody>
          <a:bodyPr wrap="square" lIns="0" tIns="0" rIns="0" bIns="0" rtlCol="0" anchor="ctr">
            <a:normAutofit/>
          </a:bodyPr>
          <a:lstStyle/>
          <a:p>
            <a:pPr indent="0" marL="0">
              <a:buNone/>
            </a:pPr>
            <a:r>
              <a:rPr lang="en-US" sz="1450" b="1" dirty="0">
                <a:solidFill>
                  <a:srgbClr val="2E8B57"/>
                </a:solidFill>
              </a:rPr>
              <a:t>意义 3：局部强化设计</a:t>
            </a:r>
            <a:endParaRPr lang="en-US" sz="1450" dirty="0"/>
          </a:p>
        </p:txBody>
      </p:sp>
      <p:sp>
        <p:nvSpPr>
          <p:cNvPr id="17" name="Text 15"/>
          <p:cNvSpPr/>
          <p:nvPr/>
        </p:nvSpPr>
        <p:spPr>
          <a:xfrm>
            <a:off x="6547104" y="4526280"/>
            <a:ext cx="4690872" cy="740664"/>
          </a:xfrm>
          <a:prstGeom prst="rect">
            <a:avLst/>
          </a:prstGeom>
          <a:noFill/>
          <a:ln/>
        </p:spPr>
        <p:txBody>
          <a:bodyPr wrap="square" lIns="0" tIns="0" rIns="0" bIns="0" rtlCol="0" anchor="t">
            <a:normAutofit/>
          </a:bodyPr>
          <a:lstStyle/>
          <a:p>
            <a:pPr indent="0" marL="0">
              <a:lnSpc>
                <a:spcPct val="108000"/>
              </a:lnSpc>
              <a:buNone/>
            </a:pPr>
            <a:r>
              <a:rPr lang="en-US" sz="1200" dirty="0">
                <a:solidFill>
                  <a:srgbClr val="243447"/>
                </a:solidFill>
              </a:rPr>
              <a:t>围绕真实高应力区开展微观组织调控，在不显著增重条件下提升安全裕度。</a:t>
            </a:r>
            <a:endParaRPr lang="en-US" sz="1200" dirty="0"/>
          </a:p>
        </p:txBody>
      </p:sp>
      <p:sp>
        <p:nvSpPr>
          <p:cNvPr id="18" name="Text 16"/>
          <p:cNvSpPr/>
          <p:nvPr/>
        </p:nvSpPr>
        <p:spPr>
          <a:xfrm>
            <a:off x="658368" y="6537960"/>
            <a:ext cx="2103120" cy="164592"/>
          </a:xfrm>
          <a:prstGeom prst="rect">
            <a:avLst/>
          </a:prstGeom>
          <a:noFill/>
          <a:ln/>
        </p:spPr>
        <p:txBody>
          <a:bodyPr wrap="square" lIns="0" tIns="0" rIns="0" bIns="0" rtlCol="0" anchor="ctr"/>
          <a:lstStyle/>
          <a:p>
            <a:pPr indent="0" marL="0">
              <a:buNone/>
            </a:pPr>
            <a:r>
              <a:rPr lang="en-US" sz="800" dirty="0">
                <a:solidFill>
                  <a:srgbClr val="5F6B7A"/>
                </a:solidFill>
              </a:rPr>
              <a:t>博士学位论文预答辩</a:t>
            </a:r>
            <a:endParaRPr lang="en-US" sz="800" dirty="0"/>
          </a:p>
        </p:txBody>
      </p:sp>
      <p:sp>
        <p:nvSpPr>
          <p:cNvPr id="19" name="Text 17"/>
          <p:cNvSpPr/>
          <p:nvPr/>
        </p:nvSpPr>
        <p:spPr>
          <a:xfrm>
            <a:off x="11109960" y="6510528"/>
            <a:ext cx="411480" cy="182880"/>
          </a:xfrm>
          <a:prstGeom prst="rect">
            <a:avLst/>
          </a:prstGeom>
          <a:noFill/>
          <a:ln/>
        </p:spPr>
        <p:txBody>
          <a:bodyPr wrap="square" lIns="0" tIns="0" rIns="0" bIns="0" rtlCol="0" anchor="ctr"/>
          <a:lstStyle/>
          <a:p>
            <a:pPr algn="r" indent="0" marL="0">
              <a:buNone/>
            </a:pPr>
            <a:r>
              <a:rPr lang="en-US" sz="850" dirty="0">
                <a:solidFill>
                  <a:srgbClr val="5F6B7A"/>
                </a:solidFill>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63A5F"/>
          </a:solidFill>
          <a:ln w="12700">
            <a:solidFill>
              <a:srgbClr val="163A5F">
                <a:alpha val="0"/>
              </a:srgbClr>
            </a:solidFill>
            <a:prstDash val="solid"/>
          </a:ln>
        </p:spPr>
      </p:sp>
      <p:sp>
        <p:nvSpPr>
          <p:cNvPr id="3" name="Shape 1"/>
          <p:cNvSpPr/>
          <p:nvPr/>
        </p:nvSpPr>
        <p:spPr>
          <a:xfrm>
            <a:off x="548640" y="6510528"/>
            <a:ext cx="11064240" cy="0"/>
          </a:xfrm>
          <a:prstGeom prst="line">
            <a:avLst/>
          </a:prstGeom>
          <a:noFill/>
          <a:ln w="12700">
            <a:solidFill>
              <a:srgbClr val="D7DEE7"/>
            </a:solidFill>
            <a:prstDash val="solid"/>
          </a:ln>
        </p:spPr>
      </p:sp>
      <p:sp>
        <p:nvSpPr>
          <p:cNvPr id="4" name="Text 2"/>
          <p:cNvSpPr/>
          <p:nvPr/>
        </p:nvSpPr>
        <p:spPr>
          <a:xfrm>
            <a:off x="640080" y="411480"/>
            <a:ext cx="7863840" cy="411480"/>
          </a:xfrm>
          <a:prstGeom prst="rect">
            <a:avLst/>
          </a:prstGeom>
          <a:noFill/>
          <a:ln/>
        </p:spPr>
        <p:txBody>
          <a:bodyPr wrap="square" lIns="0" tIns="0" rIns="0" bIns="0" rtlCol="0" anchor="ctr"/>
          <a:lstStyle/>
          <a:p>
            <a:pPr indent="0" marL="0">
              <a:buNone/>
            </a:pPr>
            <a:r>
              <a:rPr lang="en-US" sz="2400" b="1" dirty="0">
                <a:solidFill>
                  <a:srgbClr val="163A5F"/>
                </a:solidFill>
              </a:rPr>
              <a:t>现有研究存在的主要问题</a:t>
            </a:r>
            <a:endParaRPr lang="en-US" sz="2400" dirty="0"/>
          </a:p>
        </p:txBody>
      </p:sp>
      <p:sp>
        <p:nvSpPr>
          <p:cNvPr id="5" name="Text 3"/>
          <p:cNvSpPr/>
          <p:nvPr/>
        </p:nvSpPr>
        <p:spPr>
          <a:xfrm>
            <a:off x="658368" y="841248"/>
            <a:ext cx="8961120" cy="182880"/>
          </a:xfrm>
          <a:prstGeom prst="rect">
            <a:avLst/>
          </a:prstGeom>
          <a:noFill/>
          <a:ln/>
        </p:spPr>
        <p:txBody>
          <a:bodyPr wrap="square" lIns="0" tIns="0" rIns="0" bIns="0" rtlCol="0" anchor="ctr"/>
          <a:lstStyle/>
          <a:p>
            <a:pPr indent="0" marL="0">
              <a:buNone/>
            </a:pPr>
            <a:r>
              <a:rPr lang="en-US" sz="950" dirty="0">
                <a:solidFill>
                  <a:srgbClr val="5F6B7A"/>
                </a:solidFill>
              </a:rPr>
              <a:t>论文第1章问题归纳</a:t>
            </a:r>
            <a:endParaRPr lang="en-US" sz="950" dirty="0"/>
          </a:p>
        </p:txBody>
      </p:sp>
      <p:sp>
        <p:nvSpPr>
          <p:cNvPr id="6" name="Shape 4"/>
          <p:cNvSpPr/>
          <p:nvPr/>
        </p:nvSpPr>
        <p:spPr>
          <a:xfrm>
            <a:off x="868680" y="1508760"/>
            <a:ext cx="3429000" cy="4160520"/>
          </a:xfrm>
          <a:prstGeom prst="roundRect">
            <a:avLst>
              <a:gd name="adj" fmla="val 1067"/>
            </a:avLst>
          </a:prstGeom>
          <a:solidFill>
            <a:srgbClr val="F6FBFB"/>
          </a:solidFill>
          <a:ln w="12700">
            <a:solidFill>
              <a:srgbClr val="B7DFDF"/>
            </a:solidFill>
            <a:prstDash val="solid"/>
          </a:ln>
          <a:effectLst>
            <a:outerShdw sx="100000" sy="100000" kx="0" ky="0" algn="bl" rotWithShape="0" blurRad="12700" dist="50800" dir="2700000">
              <a:srgbClr val="CBD5E1">
                <a:alpha val="12000"/>
              </a:srgbClr>
            </a:outerShdw>
          </a:effectLst>
        </p:spPr>
      </p:sp>
      <p:sp>
        <p:nvSpPr>
          <p:cNvPr id="7" name="Text 5"/>
          <p:cNvSpPr/>
          <p:nvPr/>
        </p:nvSpPr>
        <p:spPr>
          <a:xfrm>
            <a:off x="1014984" y="1618488"/>
            <a:ext cx="3136392" cy="256032"/>
          </a:xfrm>
          <a:prstGeom prst="rect">
            <a:avLst/>
          </a:prstGeom>
          <a:noFill/>
          <a:ln/>
        </p:spPr>
        <p:txBody>
          <a:bodyPr wrap="square" lIns="0" tIns="0" rIns="0" bIns="0" rtlCol="0" anchor="ctr">
            <a:normAutofit/>
          </a:bodyPr>
          <a:lstStyle/>
          <a:p>
            <a:pPr indent="0" marL="0">
              <a:buNone/>
            </a:pPr>
            <a:r>
              <a:rPr lang="en-US" sz="1450" b="1" dirty="0">
                <a:solidFill>
                  <a:srgbClr val="1F8A8A"/>
                </a:solidFill>
              </a:rPr>
              <a:t>问题 1</a:t>
            </a:r>
            <a:endParaRPr lang="en-US" sz="1450" dirty="0"/>
          </a:p>
          <a:p>
            <a:pPr indent="0" marL="0">
              <a:buNone/>
            </a:pPr>
            <a:r>
              <a:rPr lang="en-US" sz="1450" b="1" dirty="0">
                <a:solidFill>
                  <a:srgbClr val="1F8A8A"/>
                </a:solidFill>
              </a:rPr>
              <a:t>协同优化不足</a:t>
            </a:r>
            <a:endParaRPr lang="en-US" sz="1450" dirty="0"/>
          </a:p>
        </p:txBody>
      </p:sp>
      <p:sp>
        <p:nvSpPr>
          <p:cNvPr id="8" name="Text 6"/>
          <p:cNvSpPr/>
          <p:nvPr/>
        </p:nvSpPr>
        <p:spPr>
          <a:xfrm>
            <a:off x="1014984" y="1901952"/>
            <a:ext cx="3136392" cy="3666744"/>
          </a:xfrm>
          <a:prstGeom prst="rect">
            <a:avLst/>
          </a:prstGeom>
          <a:noFill/>
          <a:ln/>
        </p:spPr>
        <p:txBody>
          <a:bodyPr wrap="square" lIns="0" tIns="0" rIns="0" bIns="0" rtlCol="0" anchor="t">
            <a:normAutofit/>
          </a:bodyPr>
          <a:lstStyle/>
          <a:p>
            <a:pPr indent="0" marL="0">
              <a:lnSpc>
                <a:spcPct val="108000"/>
              </a:lnSpc>
              <a:buNone/>
            </a:pPr>
            <a:r>
              <a:rPr lang="en-US" sz="1220" dirty="0">
                <a:solidFill>
                  <a:srgbClr val="243447"/>
                </a:solidFill>
              </a:rPr>
              <a:t>现有研究多停留于既定结构下的工艺试错优化，较少从阀体几何拓扑源头研究其缩孔敏感性，也缺少结构参数与工艺参数的联合反演框架。</a:t>
            </a:r>
            <a:endParaRPr lang="en-US" sz="1220" dirty="0"/>
          </a:p>
        </p:txBody>
      </p:sp>
      <p:sp>
        <p:nvSpPr>
          <p:cNvPr id="9" name="Shape 7"/>
          <p:cNvSpPr/>
          <p:nvPr/>
        </p:nvSpPr>
        <p:spPr>
          <a:xfrm>
            <a:off x="4379976" y="1508760"/>
            <a:ext cx="3429000" cy="4160520"/>
          </a:xfrm>
          <a:prstGeom prst="roundRect">
            <a:avLst>
              <a:gd name="adj" fmla="val 1067"/>
            </a:avLst>
          </a:prstGeom>
          <a:solidFill>
            <a:srgbClr val="FFF8F0"/>
          </a:solidFill>
          <a:ln w="12700">
            <a:solidFill>
              <a:srgbClr val="E9C89D"/>
            </a:solidFill>
            <a:prstDash val="solid"/>
          </a:ln>
          <a:effectLst>
            <a:outerShdw sx="100000" sy="100000" kx="0" ky="0" algn="bl" rotWithShape="0" blurRad="12700" dist="50800" dir="2700000">
              <a:srgbClr val="CBD5E1">
                <a:alpha val="12000"/>
              </a:srgbClr>
            </a:outerShdw>
          </a:effectLst>
        </p:spPr>
      </p:sp>
      <p:sp>
        <p:nvSpPr>
          <p:cNvPr id="10" name="Text 8"/>
          <p:cNvSpPr/>
          <p:nvPr/>
        </p:nvSpPr>
        <p:spPr>
          <a:xfrm>
            <a:off x="4526280" y="1618488"/>
            <a:ext cx="3136392" cy="256032"/>
          </a:xfrm>
          <a:prstGeom prst="rect">
            <a:avLst/>
          </a:prstGeom>
          <a:noFill/>
          <a:ln/>
        </p:spPr>
        <p:txBody>
          <a:bodyPr wrap="square" lIns="0" tIns="0" rIns="0" bIns="0" rtlCol="0" anchor="ctr">
            <a:normAutofit/>
          </a:bodyPr>
          <a:lstStyle/>
          <a:p>
            <a:pPr indent="0" marL="0">
              <a:buNone/>
            </a:pPr>
            <a:r>
              <a:rPr lang="en-US" sz="1450" b="1" dirty="0">
                <a:solidFill>
                  <a:srgbClr val="D97A2B"/>
                </a:solidFill>
              </a:rPr>
              <a:t>问题 2</a:t>
            </a:r>
            <a:endParaRPr lang="en-US" sz="1450" dirty="0"/>
          </a:p>
          <a:p>
            <a:pPr indent="0" marL="0">
              <a:buNone/>
            </a:pPr>
            <a:r>
              <a:rPr lang="en-US" sz="1450" b="1" dirty="0">
                <a:solidFill>
                  <a:srgbClr val="D97A2B"/>
                </a:solidFill>
              </a:rPr>
              <a:t>强度评估脱节</a:t>
            </a:r>
            <a:endParaRPr lang="en-US" sz="1450" dirty="0"/>
          </a:p>
        </p:txBody>
      </p:sp>
      <p:sp>
        <p:nvSpPr>
          <p:cNvPr id="11" name="Text 9"/>
          <p:cNvSpPr/>
          <p:nvPr/>
        </p:nvSpPr>
        <p:spPr>
          <a:xfrm>
            <a:off x="4526280" y="1901952"/>
            <a:ext cx="3136392" cy="3666744"/>
          </a:xfrm>
          <a:prstGeom prst="rect">
            <a:avLst/>
          </a:prstGeom>
          <a:noFill/>
          <a:ln/>
        </p:spPr>
        <p:txBody>
          <a:bodyPr wrap="square" lIns="0" tIns="0" rIns="0" bIns="0" rtlCol="0" anchor="t">
            <a:normAutofit/>
          </a:bodyPr>
          <a:lstStyle/>
          <a:p>
            <a:pPr indent="0" marL="0">
              <a:lnSpc>
                <a:spcPct val="108000"/>
              </a:lnSpc>
              <a:buNone/>
            </a:pPr>
            <a:r>
              <a:rPr lang="en-US" sz="1220" dirty="0">
                <a:solidFill>
                  <a:srgbClr val="243447"/>
                </a:solidFill>
              </a:rPr>
              <a:t>传统“等效挖空法”忽略缩孔群的体积分数、海绵状分布与周围基体刚度退化，难以真实反映应力交互机制，导致承压评估偏差较大。</a:t>
            </a:r>
            <a:endParaRPr lang="en-US" sz="1220" dirty="0"/>
          </a:p>
        </p:txBody>
      </p:sp>
      <p:sp>
        <p:nvSpPr>
          <p:cNvPr id="12" name="Shape 10"/>
          <p:cNvSpPr/>
          <p:nvPr/>
        </p:nvSpPr>
        <p:spPr>
          <a:xfrm>
            <a:off x="7891272" y="1508760"/>
            <a:ext cx="3429000" cy="4160520"/>
          </a:xfrm>
          <a:prstGeom prst="roundRect">
            <a:avLst>
              <a:gd name="adj" fmla="val 1067"/>
            </a:avLst>
          </a:prstGeom>
          <a:solidFill>
            <a:srgbClr val="F7FAF7"/>
          </a:solidFill>
          <a:ln w="12700">
            <a:solidFill>
              <a:srgbClr val="C7DFC7"/>
            </a:solidFill>
            <a:prstDash val="solid"/>
          </a:ln>
          <a:effectLst>
            <a:outerShdw sx="100000" sy="100000" kx="0" ky="0" algn="bl" rotWithShape="0" blurRad="12700" dist="50800" dir="2700000">
              <a:srgbClr val="CBD5E1">
                <a:alpha val="12000"/>
              </a:srgbClr>
            </a:outerShdw>
          </a:effectLst>
        </p:spPr>
      </p:sp>
      <p:sp>
        <p:nvSpPr>
          <p:cNvPr id="13" name="Text 11"/>
          <p:cNvSpPr/>
          <p:nvPr/>
        </p:nvSpPr>
        <p:spPr>
          <a:xfrm>
            <a:off x="8037576" y="1618488"/>
            <a:ext cx="3136392" cy="256032"/>
          </a:xfrm>
          <a:prstGeom prst="rect">
            <a:avLst/>
          </a:prstGeom>
          <a:noFill/>
          <a:ln/>
        </p:spPr>
        <p:txBody>
          <a:bodyPr wrap="square" lIns="0" tIns="0" rIns="0" bIns="0" rtlCol="0" anchor="ctr">
            <a:normAutofit/>
          </a:bodyPr>
          <a:lstStyle/>
          <a:p>
            <a:pPr indent="0" marL="0">
              <a:buNone/>
            </a:pPr>
            <a:r>
              <a:rPr lang="en-US" sz="1450" b="1" dirty="0">
                <a:solidFill>
                  <a:srgbClr val="2E8B57"/>
                </a:solidFill>
              </a:rPr>
              <a:t>问题 3</a:t>
            </a:r>
            <a:endParaRPr lang="en-US" sz="1450" dirty="0"/>
          </a:p>
          <a:p>
            <a:pPr indent="0" marL="0">
              <a:buNone/>
            </a:pPr>
            <a:r>
              <a:rPr lang="en-US" sz="1450" b="1" dirty="0">
                <a:solidFill>
                  <a:srgbClr val="2E8B57"/>
                </a:solidFill>
              </a:rPr>
              <a:t>强化策略粗放</a:t>
            </a:r>
            <a:endParaRPr lang="en-US" sz="1450" dirty="0"/>
          </a:p>
        </p:txBody>
      </p:sp>
      <p:sp>
        <p:nvSpPr>
          <p:cNvPr id="14" name="Text 12"/>
          <p:cNvSpPr/>
          <p:nvPr/>
        </p:nvSpPr>
        <p:spPr>
          <a:xfrm>
            <a:off x="8037576" y="1901952"/>
            <a:ext cx="3136392" cy="3666744"/>
          </a:xfrm>
          <a:prstGeom prst="rect">
            <a:avLst/>
          </a:prstGeom>
          <a:noFill/>
          <a:ln/>
        </p:spPr>
        <p:txBody>
          <a:bodyPr wrap="square" lIns="0" tIns="0" rIns="0" bIns="0" rtlCol="0" anchor="t">
            <a:normAutofit/>
          </a:bodyPr>
          <a:lstStyle/>
          <a:p>
            <a:pPr indent="0" marL="0">
              <a:lnSpc>
                <a:spcPct val="108000"/>
              </a:lnSpc>
              <a:buNone/>
            </a:pPr>
            <a:r>
              <a:rPr lang="en-US" sz="1220" dirty="0">
                <a:solidFill>
                  <a:srgbClr val="243447"/>
                </a:solidFill>
              </a:rPr>
              <a:t>工程实践通常依赖全局增厚补偿强度下降，但高风险往往集中在少数高应力区；缺少与高精度危险区识别联动的局部微观强化路径。</a:t>
            </a:r>
            <a:endParaRPr lang="en-US" sz="1220" dirty="0"/>
          </a:p>
        </p:txBody>
      </p:sp>
      <p:sp>
        <p:nvSpPr>
          <p:cNvPr id="15" name="Text 13"/>
          <p:cNvSpPr/>
          <p:nvPr/>
        </p:nvSpPr>
        <p:spPr>
          <a:xfrm>
            <a:off x="658368" y="6537960"/>
            <a:ext cx="2103120" cy="164592"/>
          </a:xfrm>
          <a:prstGeom prst="rect">
            <a:avLst/>
          </a:prstGeom>
          <a:noFill/>
          <a:ln/>
        </p:spPr>
        <p:txBody>
          <a:bodyPr wrap="square" lIns="0" tIns="0" rIns="0" bIns="0" rtlCol="0" anchor="ctr"/>
          <a:lstStyle/>
          <a:p>
            <a:pPr indent="0" marL="0">
              <a:buNone/>
            </a:pPr>
            <a:r>
              <a:rPr lang="en-US" sz="800" dirty="0">
                <a:solidFill>
                  <a:srgbClr val="5F6B7A"/>
                </a:solidFill>
              </a:rPr>
              <a:t>博士学位论文预答辩</a:t>
            </a:r>
            <a:endParaRPr lang="en-US" sz="800" dirty="0"/>
          </a:p>
        </p:txBody>
      </p:sp>
      <p:sp>
        <p:nvSpPr>
          <p:cNvPr id="16" name="Text 14"/>
          <p:cNvSpPr/>
          <p:nvPr/>
        </p:nvSpPr>
        <p:spPr>
          <a:xfrm>
            <a:off x="11109960" y="6510528"/>
            <a:ext cx="411480" cy="182880"/>
          </a:xfrm>
          <a:prstGeom prst="rect">
            <a:avLst/>
          </a:prstGeom>
          <a:noFill/>
          <a:ln/>
        </p:spPr>
        <p:txBody>
          <a:bodyPr wrap="square" lIns="0" tIns="0" rIns="0" bIns="0" rtlCol="0" anchor="ctr"/>
          <a:lstStyle/>
          <a:p>
            <a:pPr algn="r" indent="0" marL="0">
              <a:buNone/>
            </a:pPr>
            <a:r>
              <a:rPr lang="en-US" sz="850" dirty="0">
                <a:solidFill>
                  <a:srgbClr val="5F6B7A"/>
                </a:solidFill>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63A5F"/>
          </a:solidFill>
          <a:ln w="12700">
            <a:solidFill>
              <a:srgbClr val="163A5F">
                <a:alpha val="0"/>
              </a:srgbClr>
            </a:solidFill>
            <a:prstDash val="solid"/>
          </a:ln>
        </p:spPr>
      </p:sp>
      <p:sp>
        <p:nvSpPr>
          <p:cNvPr id="3" name="Shape 1"/>
          <p:cNvSpPr/>
          <p:nvPr/>
        </p:nvSpPr>
        <p:spPr>
          <a:xfrm>
            <a:off x="548640" y="6510528"/>
            <a:ext cx="11064240" cy="0"/>
          </a:xfrm>
          <a:prstGeom prst="line">
            <a:avLst/>
          </a:prstGeom>
          <a:noFill/>
          <a:ln w="12700">
            <a:solidFill>
              <a:srgbClr val="D7DEE7"/>
            </a:solidFill>
            <a:prstDash val="solid"/>
          </a:ln>
        </p:spPr>
      </p:sp>
      <p:sp>
        <p:nvSpPr>
          <p:cNvPr id="4" name="Text 2"/>
          <p:cNvSpPr/>
          <p:nvPr/>
        </p:nvSpPr>
        <p:spPr>
          <a:xfrm>
            <a:off x="640080" y="411480"/>
            <a:ext cx="7863840" cy="411480"/>
          </a:xfrm>
          <a:prstGeom prst="rect">
            <a:avLst/>
          </a:prstGeom>
          <a:noFill/>
          <a:ln/>
        </p:spPr>
        <p:txBody>
          <a:bodyPr wrap="square" lIns="0" tIns="0" rIns="0" bIns="0" rtlCol="0" anchor="ctr"/>
          <a:lstStyle/>
          <a:p>
            <a:pPr indent="0" marL="0">
              <a:buNone/>
            </a:pPr>
            <a:r>
              <a:rPr lang="en-US" sz="2400" b="1" dirty="0">
                <a:solidFill>
                  <a:srgbClr val="163A5F"/>
                </a:solidFill>
              </a:rPr>
              <a:t>研究目标与主要内容</a:t>
            </a:r>
            <a:endParaRPr lang="en-US" sz="2400" dirty="0"/>
          </a:p>
        </p:txBody>
      </p:sp>
      <p:sp>
        <p:nvSpPr>
          <p:cNvPr id="5" name="Text 3"/>
          <p:cNvSpPr/>
          <p:nvPr/>
        </p:nvSpPr>
        <p:spPr>
          <a:xfrm>
            <a:off x="658368" y="841248"/>
            <a:ext cx="8961120" cy="182880"/>
          </a:xfrm>
          <a:prstGeom prst="rect">
            <a:avLst/>
          </a:prstGeom>
          <a:noFill/>
          <a:ln/>
        </p:spPr>
        <p:txBody>
          <a:bodyPr wrap="square" lIns="0" tIns="0" rIns="0" bIns="0" rtlCol="0" anchor="ctr"/>
          <a:lstStyle/>
          <a:p>
            <a:pPr indent="0" marL="0">
              <a:buNone/>
            </a:pPr>
            <a:r>
              <a:rPr lang="en-US" sz="950" dirty="0">
                <a:solidFill>
                  <a:srgbClr val="5F6B7A"/>
                </a:solidFill>
              </a:rPr>
              <a:t>形成“结构/工艺优化—缺陷映射—组织强化—实验验证”的闭环</a:t>
            </a:r>
            <a:endParaRPr lang="en-US" sz="950" dirty="0"/>
          </a:p>
        </p:txBody>
      </p:sp>
      <p:sp>
        <p:nvSpPr>
          <p:cNvPr id="6" name="Shape 4"/>
          <p:cNvSpPr/>
          <p:nvPr/>
        </p:nvSpPr>
        <p:spPr>
          <a:xfrm>
            <a:off x="749808" y="1170432"/>
            <a:ext cx="10972800" cy="932688"/>
          </a:xfrm>
          <a:prstGeom prst="roundRect">
            <a:avLst>
              <a:gd name="adj" fmla="val 3922"/>
            </a:avLst>
          </a:prstGeom>
          <a:solidFill>
            <a:srgbClr val="EEF5FB"/>
          </a:solidFill>
          <a:ln w="12700">
            <a:solidFill>
              <a:srgbClr val="C5DCEF"/>
            </a:solidFill>
            <a:prstDash val="solid"/>
          </a:ln>
          <a:effectLst>
            <a:outerShdw sx="100000" sy="100000" kx="0" ky="0" algn="bl" rotWithShape="0" blurRad="12700" dist="50800" dir="2700000">
              <a:srgbClr val="CBD5E1">
                <a:alpha val="12000"/>
              </a:srgbClr>
            </a:outerShdw>
          </a:effectLst>
        </p:spPr>
      </p:sp>
      <p:sp>
        <p:nvSpPr>
          <p:cNvPr id="7" name="Text 5"/>
          <p:cNvSpPr/>
          <p:nvPr/>
        </p:nvSpPr>
        <p:spPr>
          <a:xfrm>
            <a:off x="896112" y="1280160"/>
            <a:ext cx="10680192" cy="256032"/>
          </a:xfrm>
          <a:prstGeom prst="rect">
            <a:avLst/>
          </a:prstGeom>
          <a:noFill/>
          <a:ln/>
        </p:spPr>
        <p:txBody>
          <a:bodyPr wrap="square" lIns="0" tIns="0" rIns="0" bIns="0" rtlCol="0" anchor="ctr">
            <a:normAutofit/>
          </a:bodyPr>
          <a:lstStyle/>
          <a:p>
            <a:pPr indent="0" marL="0">
              <a:buNone/>
            </a:pPr>
            <a:r>
              <a:rPr lang="en-US" sz="1450" b="1" dirty="0">
                <a:solidFill>
                  <a:srgbClr val="163A5F"/>
                </a:solidFill>
              </a:rPr>
              <a:t>总体目标</a:t>
            </a:r>
            <a:endParaRPr lang="en-US" sz="1450" dirty="0"/>
          </a:p>
        </p:txBody>
      </p:sp>
      <p:sp>
        <p:nvSpPr>
          <p:cNvPr id="8" name="Text 6"/>
          <p:cNvSpPr/>
          <p:nvPr/>
        </p:nvSpPr>
        <p:spPr>
          <a:xfrm>
            <a:off x="896112" y="1563624"/>
            <a:ext cx="10680192" cy="438912"/>
          </a:xfrm>
          <a:prstGeom prst="rect">
            <a:avLst/>
          </a:prstGeom>
          <a:noFill/>
          <a:ln/>
        </p:spPr>
        <p:txBody>
          <a:bodyPr wrap="square" lIns="0" tIns="0" rIns="0" bIns="0" rtlCol="0" anchor="t">
            <a:normAutofit/>
          </a:bodyPr>
          <a:lstStyle/>
          <a:p>
            <a:pPr indent="0" marL="0">
              <a:lnSpc>
                <a:spcPct val="108000"/>
              </a:lnSpc>
              <a:buNone/>
            </a:pPr>
            <a:r>
              <a:rPr lang="en-US" sz="1300" dirty="0">
                <a:solidFill>
                  <a:srgbClr val="243447"/>
                </a:solidFill>
              </a:rPr>
              <a:t>建立一套考虑铸造缩孔缺陷的直通式阀体承压性能高保真评估与高应力区晶粒强化方法，实现从宏观缺陷控制到微观组织补偿的全流程研究。</a:t>
            </a:r>
            <a:endParaRPr lang="en-US" sz="1300" dirty="0"/>
          </a:p>
        </p:txBody>
      </p:sp>
      <p:sp>
        <p:nvSpPr>
          <p:cNvPr id="9" name="Shape 7"/>
          <p:cNvSpPr/>
          <p:nvPr/>
        </p:nvSpPr>
        <p:spPr>
          <a:xfrm>
            <a:off x="749808" y="2450592"/>
            <a:ext cx="3474720" cy="2331720"/>
          </a:xfrm>
          <a:prstGeom prst="roundRect">
            <a:avLst>
              <a:gd name="adj" fmla="val 1569"/>
            </a:avLst>
          </a:prstGeom>
          <a:solidFill>
            <a:srgbClr val="F6FBFB"/>
          </a:solidFill>
          <a:ln w="12700">
            <a:solidFill>
              <a:srgbClr val="B7DFDF"/>
            </a:solidFill>
            <a:prstDash val="solid"/>
          </a:ln>
          <a:effectLst>
            <a:outerShdw sx="100000" sy="100000" kx="0" ky="0" algn="bl" rotWithShape="0" blurRad="12700" dist="50800" dir="2700000">
              <a:srgbClr val="CBD5E1">
                <a:alpha val="12000"/>
              </a:srgbClr>
            </a:outerShdw>
          </a:effectLst>
        </p:spPr>
      </p:sp>
      <p:sp>
        <p:nvSpPr>
          <p:cNvPr id="10" name="Text 8"/>
          <p:cNvSpPr/>
          <p:nvPr/>
        </p:nvSpPr>
        <p:spPr>
          <a:xfrm>
            <a:off x="896112" y="2560320"/>
            <a:ext cx="3182112" cy="256032"/>
          </a:xfrm>
          <a:prstGeom prst="rect">
            <a:avLst/>
          </a:prstGeom>
          <a:noFill/>
          <a:ln/>
        </p:spPr>
        <p:txBody>
          <a:bodyPr wrap="square" lIns="0" tIns="0" rIns="0" bIns="0" rtlCol="0" anchor="ctr">
            <a:normAutofit/>
          </a:bodyPr>
          <a:lstStyle/>
          <a:p>
            <a:pPr indent="0" marL="0">
              <a:buNone/>
            </a:pPr>
            <a:r>
              <a:rPr lang="en-US" sz="1450" b="1" dirty="0">
                <a:solidFill>
                  <a:srgbClr val="1F8A8A"/>
                </a:solidFill>
              </a:rPr>
              <a:t>研究内容一</a:t>
            </a:r>
            <a:endParaRPr lang="en-US" sz="1450" dirty="0"/>
          </a:p>
        </p:txBody>
      </p:sp>
      <p:sp>
        <p:nvSpPr>
          <p:cNvPr id="11" name="Text 9"/>
          <p:cNvSpPr/>
          <p:nvPr/>
        </p:nvSpPr>
        <p:spPr>
          <a:xfrm>
            <a:off x="896112" y="2843784"/>
            <a:ext cx="3182112" cy="1837944"/>
          </a:xfrm>
          <a:prstGeom prst="rect">
            <a:avLst/>
          </a:prstGeom>
          <a:noFill/>
          <a:ln/>
        </p:spPr>
        <p:txBody>
          <a:bodyPr wrap="square" lIns="0" tIns="0" rIns="0" bIns="0" rtlCol="0" anchor="t">
            <a:normAutofit/>
          </a:bodyPr>
          <a:lstStyle/>
          <a:p>
            <a:pPr indent="0" marL="0">
              <a:lnSpc>
                <a:spcPct val="108000"/>
              </a:lnSpc>
              <a:buNone/>
            </a:pPr>
            <a:r>
              <a:rPr lang="en-US" sz="1200" dirty="0">
                <a:solidFill>
                  <a:srgbClr val="243447"/>
                </a:solidFill>
              </a:rPr>
              <a:t>缩孔形成机理与工艺优化</a:t>
            </a:r>
            <a:endParaRPr lang="en-US" sz="1200" dirty="0"/>
          </a:p>
          <a:p>
            <a:pPr indent="0" marL="0">
              <a:lnSpc>
                <a:spcPct val="108000"/>
              </a:lnSpc>
              <a:buNone/>
            </a:pPr>
            <a:r>
              <a:rPr lang="en-US" sz="1200" dirty="0">
                <a:solidFill>
                  <a:srgbClr val="243447"/>
                </a:solidFill>
              </a:rPr>
              <a:t>- 建立宏观流场/温度场模型</a:t>
            </a:r>
            <a:endParaRPr lang="en-US" sz="1200" dirty="0"/>
          </a:p>
          <a:p>
            <a:pPr indent="0" marL="0">
              <a:lnSpc>
                <a:spcPct val="108000"/>
              </a:lnSpc>
              <a:buNone/>
            </a:pPr>
            <a:r>
              <a:rPr lang="en-US" sz="1200" dirty="0">
                <a:solidFill>
                  <a:srgbClr val="243447"/>
                </a:solidFill>
              </a:rPr>
              <a:t>- 研究结构参数对热节与缩孔率的影响</a:t>
            </a:r>
            <a:endParaRPr lang="en-US" sz="1200" dirty="0"/>
          </a:p>
          <a:p>
            <a:pPr indent="0" marL="0">
              <a:lnSpc>
                <a:spcPct val="108000"/>
              </a:lnSpc>
              <a:buNone/>
            </a:pPr>
            <a:r>
              <a:rPr lang="en-US" sz="1200" dirty="0">
                <a:solidFill>
                  <a:srgbClr val="243447"/>
                </a:solidFill>
              </a:rPr>
              <a:t>- 优化浇注系统与温度窗口</a:t>
            </a:r>
            <a:endParaRPr lang="en-US" sz="1200" dirty="0"/>
          </a:p>
        </p:txBody>
      </p:sp>
      <p:sp>
        <p:nvSpPr>
          <p:cNvPr id="12" name="Shape 10"/>
          <p:cNvSpPr/>
          <p:nvPr/>
        </p:nvSpPr>
        <p:spPr>
          <a:xfrm>
            <a:off x="4370832" y="2450592"/>
            <a:ext cx="3474720" cy="2331720"/>
          </a:xfrm>
          <a:prstGeom prst="roundRect">
            <a:avLst>
              <a:gd name="adj" fmla="val 1569"/>
            </a:avLst>
          </a:prstGeom>
          <a:solidFill>
            <a:srgbClr val="FFF8F0"/>
          </a:solidFill>
          <a:ln w="12700">
            <a:solidFill>
              <a:srgbClr val="E9C89D"/>
            </a:solidFill>
            <a:prstDash val="solid"/>
          </a:ln>
          <a:effectLst>
            <a:outerShdw sx="100000" sy="100000" kx="0" ky="0" algn="bl" rotWithShape="0" blurRad="12700" dist="50800" dir="2700000">
              <a:srgbClr val="CBD5E1">
                <a:alpha val="12000"/>
              </a:srgbClr>
            </a:outerShdw>
          </a:effectLst>
        </p:spPr>
      </p:sp>
      <p:sp>
        <p:nvSpPr>
          <p:cNvPr id="13" name="Text 11"/>
          <p:cNvSpPr/>
          <p:nvPr/>
        </p:nvSpPr>
        <p:spPr>
          <a:xfrm>
            <a:off x="4517136" y="2560320"/>
            <a:ext cx="3182112" cy="256032"/>
          </a:xfrm>
          <a:prstGeom prst="rect">
            <a:avLst/>
          </a:prstGeom>
          <a:noFill/>
          <a:ln/>
        </p:spPr>
        <p:txBody>
          <a:bodyPr wrap="square" lIns="0" tIns="0" rIns="0" bIns="0" rtlCol="0" anchor="ctr">
            <a:normAutofit/>
          </a:bodyPr>
          <a:lstStyle/>
          <a:p>
            <a:pPr indent="0" marL="0">
              <a:buNone/>
            </a:pPr>
            <a:r>
              <a:rPr lang="en-US" sz="1450" b="1" dirty="0">
                <a:solidFill>
                  <a:srgbClr val="D97A2B"/>
                </a:solidFill>
              </a:rPr>
              <a:t>研究内容二</a:t>
            </a:r>
            <a:endParaRPr lang="en-US" sz="1450" dirty="0"/>
          </a:p>
        </p:txBody>
      </p:sp>
      <p:sp>
        <p:nvSpPr>
          <p:cNvPr id="14" name="Text 12"/>
          <p:cNvSpPr/>
          <p:nvPr/>
        </p:nvSpPr>
        <p:spPr>
          <a:xfrm>
            <a:off x="4517136" y="2843784"/>
            <a:ext cx="3182112" cy="1837944"/>
          </a:xfrm>
          <a:prstGeom prst="rect">
            <a:avLst/>
          </a:prstGeom>
          <a:noFill/>
          <a:ln/>
        </p:spPr>
        <p:txBody>
          <a:bodyPr wrap="square" lIns="0" tIns="0" rIns="0" bIns="0" rtlCol="0" anchor="t">
            <a:normAutofit/>
          </a:bodyPr>
          <a:lstStyle/>
          <a:p>
            <a:pPr indent="0" marL="0">
              <a:lnSpc>
                <a:spcPct val="108000"/>
              </a:lnSpc>
              <a:buNone/>
            </a:pPr>
            <a:r>
              <a:rPr lang="en-US" sz="1200" dirty="0">
                <a:solidFill>
                  <a:srgbClr val="243447"/>
                </a:solidFill>
              </a:rPr>
              <a:t>缩孔群映射与承压评估</a:t>
            </a:r>
            <a:endParaRPr lang="en-US" sz="1200" dirty="0"/>
          </a:p>
          <a:p>
            <a:pPr indent="0" marL="0">
              <a:lnSpc>
                <a:spcPct val="108000"/>
              </a:lnSpc>
              <a:buNone/>
            </a:pPr>
            <a:r>
              <a:rPr lang="en-US" sz="1200" dirty="0">
                <a:solidFill>
                  <a:srgbClr val="243447"/>
                </a:solidFill>
              </a:rPr>
              <a:t>- 构建ProCAST-结构有限元映射路径</a:t>
            </a:r>
            <a:endParaRPr lang="en-US" sz="1200" dirty="0"/>
          </a:p>
          <a:p>
            <a:pPr indent="0" marL="0">
              <a:lnSpc>
                <a:spcPct val="108000"/>
              </a:lnSpc>
              <a:buNone/>
            </a:pPr>
            <a:r>
              <a:rPr lang="en-US" sz="1200" dirty="0">
                <a:solidFill>
                  <a:srgbClr val="243447"/>
                </a:solidFill>
              </a:rPr>
              <a:t>- 建立非均质含缺陷阀体模型</a:t>
            </a:r>
            <a:endParaRPr lang="en-US" sz="1200" dirty="0"/>
          </a:p>
          <a:p>
            <a:pPr indent="0" marL="0">
              <a:lnSpc>
                <a:spcPct val="108000"/>
              </a:lnSpc>
              <a:buNone/>
            </a:pPr>
            <a:r>
              <a:rPr lang="en-US" sz="1200" dirty="0">
                <a:solidFill>
                  <a:srgbClr val="243447"/>
                </a:solidFill>
              </a:rPr>
              <a:t>- 识别真实危险区与评价参量</a:t>
            </a:r>
            <a:endParaRPr lang="en-US" sz="1200" dirty="0"/>
          </a:p>
        </p:txBody>
      </p:sp>
      <p:sp>
        <p:nvSpPr>
          <p:cNvPr id="15" name="Shape 13"/>
          <p:cNvSpPr/>
          <p:nvPr/>
        </p:nvSpPr>
        <p:spPr>
          <a:xfrm>
            <a:off x="7991856" y="2450592"/>
            <a:ext cx="3474720" cy="2331720"/>
          </a:xfrm>
          <a:prstGeom prst="roundRect">
            <a:avLst>
              <a:gd name="adj" fmla="val 1569"/>
            </a:avLst>
          </a:prstGeom>
          <a:solidFill>
            <a:srgbClr val="F7FAF7"/>
          </a:solidFill>
          <a:ln w="12700">
            <a:solidFill>
              <a:srgbClr val="C7DFC7"/>
            </a:solidFill>
            <a:prstDash val="solid"/>
          </a:ln>
          <a:effectLst>
            <a:outerShdw sx="100000" sy="100000" kx="0" ky="0" algn="bl" rotWithShape="0" blurRad="12700" dist="50800" dir="2700000">
              <a:srgbClr val="CBD5E1">
                <a:alpha val="12000"/>
              </a:srgbClr>
            </a:outerShdw>
          </a:effectLst>
        </p:spPr>
      </p:sp>
      <p:sp>
        <p:nvSpPr>
          <p:cNvPr id="16" name="Text 14"/>
          <p:cNvSpPr/>
          <p:nvPr/>
        </p:nvSpPr>
        <p:spPr>
          <a:xfrm>
            <a:off x="8138160" y="2560320"/>
            <a:ext cx="3182112" cy="256032"/>
          </a:xfrm>
          <a:prstGeom prst="rect">
            <a:avLst/>
          </a:prstGeom>
          <a:noFill/>
          <a:ln/>
        </p:spPr>
        <p:txBody>
          <a:bodyPr wrap="square" lIns="0" tIns="0" rIns="0" bIns="0" rtlCol="0" anchor="ctr">
            <a:normAutofit/>
          </a:bodyPr>
          <a:lstStyle/>
          <a:p>
            <a:pPr indent="0" marL="0">
              <a:buNone/>
            </a:pPr>
            <a:r>
              <a:rPr lang="en-US" sz="1450" b="1" dirty="0">
                <a:solidFill>
                  <a:srgbClr val="2E8B57"/>
                </a:solidFill>
              </a:rPr>
              <a:t>研究内容三</a:t>
            </a:r>
            <a:endParaRPr lang="en-US" sz="1450" dirty="0"/>
          </a:p>
        </p:txBody>
      </p:sp>
      <p:sp>
        <p:nvSpPr>
          <p:cNvPr id="17" name="Text 15"/>
          <p:cNvSpPr/>
          <p:nvPr/>
        </p:nvSpPr>
        <p:spPr>
          <a:xfrm>
            <a:off x="8138160" y="2843784"/>
            <a:ext cx="3182112" cy="1837944"/>
          </a:xfrm>
          <a:prstGeom prst="rect">
            <a:avLst/>
          </a:prstGeom>
          <a:noFill/>
          <a:ln/>
        </p:spPr>
        <p:txBody>
          <a:bodyPr wrap="square" lIns="0" tIns="0" rIns="0" bIns="0" rtlCol="0" anchor="t">
            <a:normAutofit/>
          </a:bodyPr>
          <a:lstStyle/>
          <a:p>
            <a:pPr indent="0" marL="0">
              <a:lnSpc>
                <a:spcPct val="108000"/>
              </a:lnSpc>
              <a:buNone/>
            </a:pPr>
            <a:r>
              <a:rPr lang="en-US" sz="1200" dirty="0">
                <a:solidFill>
                  <a:srgbClr val="243447"/>
                </a:solidFill>
              </a:rPr>
              <a:t>高应力区微观组织预测与强化</a:t>
            </a:r>
            <a:endParaRPr lang="en-US" sz="1200" dirty="0"/>
          </a:p>
          <a:p>
            <a:pPr indent="0" marL="0">
              <a:lnSpc>
                <a:spcPct val="108000"/>
              </a:lnSpc>
              <a:buNone/>
            </a:pPr>
            <a:r>
              <a:rPr lang="en-US" sz="1200" dirty="0">
                <a:solidFill>
                  <a:srgbClr val="243447"/>
                </a:solidFill>
              </a:rPr>
              <a:t>- 构建CAFE跨尺度模拟</a:t>
            </a:r>
            <a:endParaRPr lang="en-US" sz="1200" dirty="0"/>
          </a:p>
          <a:p>
            <a:pPr indent="0" marL="0">
              <a:lnSpc>
                <a:spcPct val="108000"/>
              </a:lnSpc>
              <a:buNone/>
            </a:pPr>
            <a:r>
              <a:rPr lang="en-US" sz="1200" dirty="0">
                <a:solidFill>
                  <a:srgbClr val="243447"/>
                </a:solidFill>
              </a:rPr>
              <a:t>- 标定形核与生长参数</a:t>
            </a:r>
            <a:endParaRPr lang="en-US" sz="1200" dirty="0"/>
          </a:p>
          <a:p>
            <a:pPr indent="0" marL="0">
              <a:lnSpc>
                <a:spcPct val="108000"/>
              </a:lnSpc>
              <a:buNone/>
            </a:pPr>
            <a:r>
              <a:rPr lang="en-US" sz="1200" dirty="0">
                <a:solidFill>
                  <a:srgbClr val="243447"/>
                </a:solidFill>
              </a:rPr>
              <a:t>- 实施局部细晶强化并验证</a:t>
            </a:r>
            <a:endParaRPr lang="en-US" sz="1200" dirty="0"/>
          </a:p>
        </p:txBody>
      </p:sp>
      <p:sp>
        <p:nvSpPr>
          <p:cNvPr id="18" name="Text 16"/>
          <p:cNvSpPr/>
          <p:nvPr/>
        </p:nvSpPr>
        <p:spPr>
          <a:xfrm>
            <a:off x="868680" y="5074920"/>
            <a:ext cx="10424160" cy="1051560"/>
          </a:xfrm>
          <a:prstGeom prst="rect">
            <a:avLst/>
          </a:prstGeom>
          <a:noFill/>
          <a:ln/>
        </p:spPr>
        <p:txBody>
          <a:bodyPr wrap="square" lIns="0" tIns="0" rIns="0" bIns="0" rtlCol="0" anchor="t">
            <a:normAutofit/>
          </a:bodyPr>
          <a:lstStyle/>
          <a:p>
            <a:pPr marL="228600" indent="-228600">
              <a:lnSpc>
                <a:spcPct val="112000"/>
              </a:lnSpc>
              <a:buSzPct val="100000"/>
              <a:buChar char="•"/>
            </a:pPr>
            <a:r>
              <a:rPr lang="en-US" sz="1300" dirty="0">
                <a:solidFill>
                  <a:srgbClr val="243447"/>
                </a:solidFill>
              </a:rPr>
              <a:t>核心问题 A：哪些结构/工艺因素主导缩孔形成与空间分布？</a:t>
            </a:r>
            <a:endParaRPr lang="en-US" sz="1300" dirty="0"/>
          </a:p>
          <a:p>
            <a:pPr marL="228600" indent="-228600">
              <a:lnSpc>
                <a:spcPct val="112000"/>
              </a:lnSpc>
              <a:buSzPct val="100000"/>
              <a:buChar char="•"/>
            </a:pPr>
            <a:r>
              <a:rPr lang="en-US" sz="1300" dirty="0">
                <a:solidFill>
                  <a:srgbClr val="243447"/>
                </a:solidFill>
              </a:rPr>
              <a:t>核心问题 B：如何真实刻画缩孔群对阀体承压能力的削弱机制？</a:t>
            </a:r>
            <a:endParaRPr lang="en-US" sz="1300" dirty="0"/>
          </a:p>
          <a:p>
            <a:pPr marL="228600" indent="-228600">
              <a:lnSpc>
                <a:spcPct val="112000"/>
              </a:lnSpc>
              <a:buSzPct val="100000"/>
              <a:buChar char="•"/>
            </a:pPr>
            <a:r>
              <a:rPr lang="en-US" sz="1300" dirty="0">
                <a:solidFill>
                  <a:srgbClr val="243447"/>
                </a:solidFill>
              </a:rPr>
              <a:t>核心问题 C：如何以高应力区为靶点开展微观组织强化？</a:t>
            </a:r>
            <a:endParaRPr lang="en-US" sz="1300" dirty="0"/>
          </a:p>
        </p:txBody>
      </p:sp>
      <p:sp>
        <p:nvSpPr>
          <p:cNvPr id="19" name="Text 17"/>
          <p:cNvSpPr/>
          <p:nvPr/>
        </p:nvSpPr>
        <p:spPr>
          <a:xfrm>
            <a:off x="658368" y="6537960"/>
            <a:ext cx="2103120" cy="164592"/>
          </a:xfrm>
          <a:prstGeom prst="rect">
            <a:avLst/>
          </a:prstGeom>
          <a:noFill/>
          <a:ln/>
        </p:spPr>
        <p:txBody>
          <a:bodyPr wrap="square" lIns="0" tIns="0" rIns="0" bIns="0" rtlCol="0" anchor="ctr"/>
          <a:lstStyle/>
          <a:p>
            <a:pPr indent="0" marL="0">
              <a:buNone/>
            </a:pPr>
            <a:r>
              <a:rPr lang="en-US" sz="800" dirty="0">
                <a:solidFill>
                  <a:srgbClr val="5F6B7A"/>
                </a:solidFill>
              </a:rPr>
              <a:t>博士学位论文预答辩</a:t>
            </a:r>
            <a:endParaRPr lang="en-US" sz="800" dirty="0"/>
          </a:p>
        </p:txBody>
      </p:sp>
      <p:sp>
        <p:nvSpPr>
          <p:cNvPr id="20" name="Text 18"/>
          <p:cNvSpPr/>
          <p:nvPr/>
        </p:nvSpPr>
        <p:spPr>
          <a:xfrm>
            <a:off x="11109960" y="6510528"/>
            <a:ext cx="411480" cy="182880"/>
          </a:xfrm>
          <a:prstGeom prst="rect">
            <a:avLst/>
          </a:prstGeom>
          <a:noFill/>
          <a:ln/>
        </p:spPr>
        <p:txBody>
          <a:bodyPr wrap="square" lIns="0" tIns="0" rIns="0" bIns="0" rtlCol="0" anchor="ctr"/>
          <a:lstStyle/>
          <a:p>
            <a:pPr algn="r" indent="0" marL="0">
              <a:buNone/>
            </a:pPr>
            <a:r>
              <a:rPr lang="en-US" sz="850" dirty="0">
                <a:solidFill>
                  <a:srgbClr val="5F6B7A"/>
                </a:solidFill>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63A5F"/>
          </a:solidFill>
          <a:ln w="12700">
            <a:solidFill>
              <a:srgbClr val="163A5F">
                <a:alpha val="0"/>
              </a:srgbClr>
            </a:solidFill>
            <a:prstDash val="solid"/>
          </a:ln>
        </p:spPr>
      </p:sp>
      <p:sp>
        <p:nvSpPr>
          <p:cNvPr id="3" name="Shape 1"/>
          <p:cNvSpPr/>
          <p:nvPr/>
        </p:nvSpPr>
        <p:spPr>
          <a:xfrm>
            <a:off x="548640" y="6510528"/>
            <a:ext cx="11064240" cy="0"/>
          </a:xfrm>
          <a:prstGeom prst="line">
            <a:avLst/>
          </a:prstGeom>
          <a:noFill/>
          <a:ln w="12700">
            <a:solidFill>
              <a:srgbClr val="D7DEE7"/>
            </a:solidFill>
            <a:prstDash val="solid"/>
          </a:ln>
        </p:spPr>
      </p:sp>
      <p:sp>
        <p:nvSpPr>
          <p:cNvPr id="4" name="Text 2"/>
          <p:cNvSpPr/>
          <p:nvPr/>
        </p:nvSpPr>
        <p:spPr>
          <a:xfrm>
            <a:off x="640080" y="411480"/>
            <a:ext cx="7863840" cy="411480"/>
          </a:xfrm>
          <a:prstGeom prst="rect">
            <a:avLst/>
          </a:prstGeom>
          <a:noFill/>
          <a:ln/>
        </p:spPr>
        <p:txBody>
          <a:bodyPr wrap="square" lIns="0" tIns="0" rIns="0" bIns="0" rtlCol="0" anchor="ctr"/>
          <a:lstStyle/>
          <a:p>
            <a:pPr indent="0" marL="0">
              <a:buNone/>
            </a:pPr>
            <a:r>
              <a:rPr lang="en-US" sz="2400" b="1" dirty="0">
                <a:solidFill>
                  <a:srgbClr val="163A5F"/>
                </a:solidFill>
              </a:rPr>
              <a:t>技术路线</a:t>
            </a:r>
            <a:endParaRPr lang="en-US" sz="2400" dirty="0"/>
          </a:p>
        </p:txBody>
      </p:sp>
      <p:sp>
        <p:nvSpPr>
          <p:cNvPr id="5" name="Text 3"/>
          <p:cNvSpPr/>
          <p:nvPr/>
        </p:nvSpPr>
        <p:spPr>
          <a:xfrm>
            <a:off x="658368" y="841248"/>
            <a:ext cx="8961120" cy="182880"/>
          </a:xfrm>
          <a:prstGeom prst="rect">
            <a:avLst/>
          </a:prstGeom>
          <a:noFill/>
          <a:ln/>
        </p:spPr>
        <p:txBody>
          <a:bodyPr wrap="square" lIns="0" tIns="0" rIns="0" bIns="0" rtlCol="0" anchor="ctr"/>
          <a:lstStyle/>
          <a:p>
            <a:pPr indent="0" marL="0">
              <a:buNone/>
            </a:pPr>
            <a:r>
              <a:rPr lang="en-US" sz="950" dirty="0">
                <a:solidFill>
                  <a:srgbClr val="5F6B7A"/>
                </a:solidFill>
              </a:rPr>
              <a:t>ICME理念下的多尺度研究框架</a:t>
            </a:r>
            <a:endParaRPr lang="en-US" sz="950" dirty="0"/>
          </a:p>
        </p:txBody>
      </p:sp>
      <p:sp>
        <p:nvSpPr>
          <p:cNvPr id="6" name="Shape 4"/>
          <p:cNvSpPr/>
          <p:nvPr/>
        </p:nvSpPr>
        <p:spPr>
          <a:xfrm>
            <a:off x="566928" y="1901952"/>
            <a:ext cx="1554480" cy="2377440"/>
          </a:xfrm>
          <a:prstGeom prst="roundRect">
            <a:avLst>
              <a:gd name="adj" fmla="val 2353"/>
            </a:avLst>
          </a:prstGeom>
          <a:solidFill>
            <a:srgbClr val="F8FBFE"/>
          </a:solidFill>
          <a:ln w="12700">
            <a:solidFill>
              <a:srgbClr val="C9DBED"/>
            </a:solidFill>
            <a:prstDash val="solid"/>
          </a:ln>
          <a:effectLst>
            <a:outerShdw sx="100000" sy="100000" kx="0" ky="0" algn="bl" rotWithShape="0" blurRad="12700" dist="50800" dir="2700000">
              <a:srgbClr val="CBD5E1">
                <a:alpha val="12000"/>
              </a:srgbClr>
            </a:outerShdw>
          </a:effectLst>
        </p:spPr>
      </p:sp>
      <p:sp>
        <p:nvSpPr>
          <p:cNvPr id="7" name="Text 5"/>
          <p:cNvSpPr/>
          <p:nvPr/>
        </p:nvSpPr>
        <p:spPr>
          <a:xfrm>
            <a:off x="713232" y="2011680"/>
            <a:ext cx="1261872" cy="256032"/>
          </a:xfrm>
          <a:prstGeom prst="rect">
            <a:avLst/>
          </a:prstGeom>
          <a:noFill/>
          <a:ln/>
        </p:spPr>
        <p:txBody>
          <a:bodyPr wrap="square" lIns="0" tIns="0" rIns="0" bIns="0" rtlCol="0" anchor="ctr">
            <a:normAutofit/>
          </a:bodyPr>
          <a:lstStyle/>
          <a:p>
            <a:pPr indent="0" marL="0">
              <a:buNone/>
            </a:pPr>
            <a:r>
              <a:rPr lang="en-US" sz="1250" b="1" dirty="0">
                <a:solidFill>
                  <a:srgbClr val="163A5F"/>
                </a:solidFill>
              </a:rPr>
              <a:t>参数化模型</a:t>
            </a:r>
            <a:endParaRPr lang="en-US" sz="1250" dirty="0"/>
          </a:p>
        </p:txBody>
      </p:sp>
      <p:sp>
        <p:nvSpPr>
          <p:cNvPr id="8" name="Text 6"/>
          <p:cNvSpPr/>
          <p:nvPr/>
        </p:nvSpPr>
        <p:spPr>
          <a:xfrm>
            <a:off x="713232" y="2295144"/>
            <a:ext cx="1261872" cy="1883664"/>
          </a:xfrm>
          <a:prstGeom prst="rect">
            <a:avLst/>
          </a:prstGeom>
          <a:noFill/>
          <a:ln/>
        </p:spPr>
        <p:txBody>
          <a:bodyPr wrap="square" lIns="0" tIns="0" rIns="0" bIns="0" rtlCol="0" anchor="t">
            <a:normAutofit/>
          </a:bodyPr>
          <a:lstStyle/>
          <a:p>
            <a:pPr indent="0" marL="0">
              <a:lnSpc>
                <a:spcPct val="108000"/>
              </a:lnSpc>
              <a:buNone/>
            </a:pPr>
            <a:r>
              <a:rPr lang="en-US" sz="1080" dirty="0">
                <a:solidFill>
                  <a:srgbClr val="243447"/>
                </a:solidFill>
              </a:rPr>
              <a:t>阀体几何建模</a:t>
            </a:r>
            <a:endParaRPr lang="en-US" sz="1080" dirty="0"/>
          </a:p>
          <a:p>
            <a:pPr indent="0" marL="0">
              <a:lnSpc>
                <a:spcPct val="108000"/>
              </a:lnSpc>
              <a:buNone/>
            </a:pPr>
            <a:r>
              <a:rPr lang="en-US" sz="1080" dirty="0">
                <a:solidFill>
                  <a:srgbClr val="243447"/>
                </a:solidFill>
              </a:rPr>
              <a:t>材料与边界输入</a:t>
            </a:r>
            <a:endParaRPr lang="en-US" sz="1080" dirty="0"/>
          </a:p>
        </p:txBody>
      </p:sp>
      <p:sp>
        <p:nvSpPr>
          <p:cNvPr id="9" name="Shape 7"/>
          <p:cNvSpPr/>
          <p:nvPr/>
        </p:nvSpPr>
        <p:spPr>
          <a:xfrm>
            <a:off x="2194560" y="2788920"/>
            <a:ext cx="274320" cy="310896"/>
          </a:xfrm>
          <a:prstGeom prst="chevron">
            <a:avLst/>
          </a:prstGeom>
          <a:solidFill>
            <a:srgbClr val="D97A2B">
              <a:alpha val="84000"/>
            </a:srgbClr>
          </a:solidFill>
          <a:ln w="12700">
            <a:solidFill>
              <a:srgbClr val="D7DEE7">
                <a:alpha val="0"/>
              </a:srgbClr>
            </a:solidFill>
            <a:prstDash val="solid"/>
          </a:ln>
        </p:spPr>
      </p:sp>
      <p:sp>
        <p:nvSpPr>
          <p:cNvPr id="10" name="Shape 8"/>
          <p:cNvSpPr/>
          <p:nvPr/>
        </p:nvSpPr>
        <p:spPr>
          <a:xfrm>
            <a:off x="2231136" y="1901952"/>
            <a:ext cx="1554480" cy="2377440"/>
          </a:xfrm>
          <a:prstGeom prst="roundRect">
            <a:avLst>
              <a:gd name="adj" fmla="val 2353"/>
            </a:avLst>
          </a:prstGeom>
          <a:solidFill>
            <a:srgbClr val="F9FBF9"/>
          </a:solidFill>
          <a:ln w="12700">
            <a:solidFill>
              <a:srgbClr val="C9E1D1"/>
            </a:solidFill>
            <a:prstDash val="solid"/>
          </a:ln>
          <a:effectLst>
            <a:outerShdw sx="100000" sy="100000" kx="0" ky="0" algn="bl" rotWithShape="0" blurRad="12700" dist="50800" dir="2700000">
              <a:srgbClr val="CBD5E1">
                <a:alpha val="12000"/>
              </a:srgbClr>
            </a:outerShdw>
          </a:effectLst>
        </p:spPr>
      </p:sp>
      <p:sp>
        <p:nvSpPr>
          <p:cNvPr id="11" name="Text 9"/>
          <p:cNvSpPr/>
          <p:nvPr/>
        </p:nvSpPr>
        <p:spPr>
          <a:xfrm>
            <a:off x="2377440" y="2011680"/>
            <a:ext cx="1261872" cy="256032"/>
          </a:xfrm>
          <a:prstGeom prst="rect">
            <a:avLst/>
          </a:prstGeom>
          <a:noFill/>
          <a:ln/>
        </p:spPr>
        <p:txBody>
          <a:bodyPr wrap="square" lIns="0" tIns="0" rIns="0" bIns="0" rtlCol="0" anchor="ctr">
            <a:normAutofit/>
          </a:bodyPr>
          <a:lstStyle/>
          <a:p>
            <a:pPr indent="0" marL="0">
              <a:buNone/>
            </a:pPr>
            <a:r>
              <a:rPr lang="en-US" sz="1250" b="1" dirty="0">
                <a:solidFill>
                  <a:srgbClr val="163A5F"/>
                </a:solidFill>
              </a:rPr>
              <a:t>铸造仿真</a:t>
            </a:r>
            <a:endParaRPr lang="en-US" sz="1250" dirty="0"/>
          </a:p>
        </p:txBody>
      </p:sp>
      <p:sp>
        <p:nvSpPr>
          <p:cNvPr id="12" name="Text 10"/>
          <p:cNvSpPr/>
          <p:nvPr/>
        </p:nvSpPr>
        <p:spPr>
          <a:xfrm>
            <a:off x="2377440" y="2295144"/>
            <a:ext cx="1261872" cy="1883664"/>
          </a:xfrm>
          <a:prstGeom prst="rect">
            <a:avLst/>
          </a:prstGeom>
          <a:noFill/>
          <a:ln/>
        </p:spPr>
        <p:txBody>
          <a:bodyPr wrap="square" lIns="0" tIns="0" rIns="0" bIns="0" rtlCol="0" anchor="t">
            <a:normAutofit/>
          </a:bodyPr>
          <a:lstStyle/>
          <a:p>
            <a:pPr indent="0" marL="0">
              <a:lnSpc>
                <a:spcPct val="108000"/>
              </a:lnSpc>
              <a:buNone/>
            </a:pPr>
            <a:r>
              <a:rPr lang="en-US" sz="1080" dirty="0">
                <a:solidFill>
                  <a:srgbClr val="243447"/>
                </a:solidFill>
              </a:rPr>
              <a:t>流动-传热-凝固</a:t>
            </a:r>
            <a:endParaRPr lang="en-US" sz="1080" dirty="0"/>
          </a:p>
          <a:p>
            <a:pPr indent="0" marL="0">
              <a:lnSpc>
                <a:spcPct val="108000"/>
              </a:lnSpc>
              <a:buNone/>
            </a:pPr>
            <a:r>
              <a:rPr lang="en-US" sz="1080" dirty="0">
                <a:solidFill>
                  <a:srgbClr val="243447"/>
                </a:solidFill>
              </a:rPr>
              <a:t>缩孔分布预测</a:t>
            </a:r>
            <a:endParaRPr lang="en-US" sz="1080" dirty="0"/>
          </a:p>
        </p:txBody>
      </p:sp>
      <p:sp>
        <p:nvSpPr>
          <p:cNvPr id="13" name="Shape 11"/>
          <p:cNvSpPr/>
          <p:nvPr/>
        </p:nvSpPr>
        <p:spPr>
          <a:xfrm>
            <a:off x="3858768" y="2788920"/>
            <a:ext cx="274320" cy="310896"/>
          </a:xfrm>
          <a:prstGeom prst="chevron">
            <a:avLst/>
          </a:prstGeom>
          <a:solidFill>
            <a:srgbClr val="D97A2B">
              <a:alpha val="84000"/>
            </a:srgbClr>
          </a:solidFill>
          <a:ln w="12700">
            <a:solidFill>
              <a:srgbClr val="D7DEE7">
                <a:alpha val="0"/>
              </a:srgbClr>
            </a:solidFill>
            <a:prstDash val="solid"/>
          </a:ln>
        </p:spPr>
      </p:sp>
      <p:sp>
        <p:nvSpPr>
          <p:cNvPr id="14" name="Shape 12"/>
          <p:cNvSpPr/>
          <p:nvPr/>
        </p:nvSpPr>
        <p:spPr>
          <a:xfrm>
            <a:off x="3895344" y="1901952"/>
            <a:ext cx="1554480" cy="2377440"/>
          </a:xfrm>
          <a:prstGeom prst="roundRect">
            <a:avLst>
              <a:gd name="adj" fmla="val 2353"/>
            </a:avLst>
          </a:prstGeom>
          <a:solidFill>
            <a:srgbClr val="F8FBFE"/>
          </a:solidFill>
          <a:ln w="12700">
            <a:solidFill>
              <a:srgbClr val="C9DBED"/>
            </a:solidFill>
            <a:prstDash val="solid"/>
          </a:ln>
          <a:effectLst>
            <a:outerShdw sx="100000" sy="100000" kx="0" ky="0" algn="bl" rotWithShape="0" blurRad="12700" dist="50800" dir="2700000">
              <a:srgbClr val="CBD5E1">
                <a:alpha val="12000"/>
              </a:srgbClr>
            </a:outerShdw>
          </a:effectLst>
        </p:spPr>
      </p:sp>
      <p:sp>
        <p:nvSpPr>
          <p:cNvPr id="15" name="Text 13"/>
          <p:cNvSpPr/>
          <p:nvPr/>
        </p:nvSpPr>
        <p:spPr>
          <a:xfrm>
            <a:off x="4041648" y="2011680"/>
            <a:ext cx="1261872" cy="256032"/>
          </a:xfrm>
          <a:prstGeom prst="rect">
            <a:avLst/>
          </a:prstGeom>
          <a:noFill/>
          <a:ln/>
        </p:spPr>
        <p:txBody>
          <a:bodyPr wrap="square" lIns="0" tIns="0" rIns="0" bIns="0" rtlCol="0" anchor="ctr">
            <a:normAutofit/>
          </a:bodyPr>
          <a:lstStyle/>
          <a:p>
            <a:pPr indent="0" marL="0">
              <a:buNone/>
            </a:pPr>
            <a:r>
              <a:rPr lang="en-US" sz="1250" b="1" dirty="0">
                <a:solidFill>
                  <a:srgbClr val="163A5F"/>
                </a:solidFill>
              </a:rPr>
              <a:t>工艺优化</a:t>
            </a:r>
            <a:endParaRPr lang="en-US" sz="1250" dirty="0"/>
          </a:p>
        </p:txBody>
      </p:sp>
      <p:sp>
        <p:nvSpPr>
          <p:cNvPr id="16" name="Text 14"/>
          <p:cNvSpPr/>
          <p:nvPr/>
        </p:nvSpPr>
        <p:spPr>
          <a:xfrm>
            <a:off x="4041648" y="2295144"/>
            <a:ext cx="1261872" cy="1883664"/>
          </a:xfrm>
          <a:prstGeom prst="rect">
            <a:avLst/>
          </a:prstGeom>
          <a:noFill/>
          <a:ln/>
        </p:spPr>
        <p:txBody>
          <a:bodyPr wrap="square" lIns="0" tIns="0" rIns="0" bIns="0" rtlCol="0" anchor="t">
            <a:normAutofit/>
          </a:bodyPr>
          <a:lstStyle/>
          <a:p>
            <a:pPr indent="0" marL="0">
              <a:lnSpc>
                <a:spcPct val="108000"/>
              </a:lnSpc>
              <a:buNone/>
            </a:pPr>
            <a:r>
              <a:rPr lang="en-US" sz="1080" dirty="0">
                <a:solidFill>
                  <a:srgbClr val="243447"/>
                </a:solidFill>
              </a:rPr>
              <a:t>注入方式/冒口/温度</a:t>
            </a:r>
            <a:endParaRPr lang="en-US" sz="1080" dirty="0"/>
          </a:p>
          <a:p>
            <a:pPr indent="0" marL="0">
              <a:lnSpc>
                <a:spcPct val="108000"/>
              </a:lnSpc>
              <a:buNone/>
            </a:pPr>
            <a:r>
              <a:rPr lang="en-US" sz="1080" dirty="0">
                <a:solidFill>
                  <a:srgbClr val="243447"/>
                </a:solidFill>
              </a:rPr>
              <a:t>降低初始缺陷</a:t>
            </a:r>
            <a:endParaRPr lang="en-US" sz="1080" dirty="0"/>
          </a:p>
        </p:txBody>
      </p:sp>
      <p:sp>
        <p:nvSpPr>
          <p:cNvPr id="17" name="Shape 15"/>
          <p:cNvSpPr/>
          <p:nvPr/>
        </p:nvSpPr>
        <p:spPr>
          <a:xfrm>
            <a:off x="5522976" y="2788920"/>
            <a:ext cx="274320" cy="310896"/>
          </a:xfrm>
          <a:prstGeom prst="chevron">
            <a:avLst/>
          </a:prstGeom>
          <a:solidFill>
            <a:srgbClr val="D97A2B">
              <a:alpha val="84000"/>
            </a:srgbClr>
          </a:solidFill>
          <a:ln w="12700">
            <a:solidFill>
              <a:srgbClr val="D7DEE7">
                <a:alpha val="0"/>
              </a:srgbClr>
            </a:solidFill>
            <a:prstDash val="solid"/>
          </a:ln>
        </p:spPr>
      </p:sp>
      <p:sp>
        <p:nvSpPr>
          <p:cNvPr id="18" name="Shape 16"/>
          <p:cNvSpPr/>
          <p:nvPr/>
        </p:nvSpPr>
        <p:spPr>
          <a:xfrm>
            <a:off x="5559552" y="1901952"/>
            <a:ext cx="1554480" cy="2377440"/>
          </a:xfrm>
          <a:prstGeom prst="roundRect">
            <a:avLst>
              <a:gd name="adj" fmla="val 2353"/>
            </a:avLst>
          </a:prstGeom>
          <a:solidFill>
            <a:srgbClr val="F9FBF9"/>
          </a:solidFill>
          <a:ln w="12700">
            <a:solidFill>
              <a:srgbClr val="C9E1D1"/>
            </a:solidFill>
            <a:prstDash val="solid"/>
          </a:ln>
          <a:effectLst>
            <a:outerShdw sx="100000" sy="100000" kx="0" ky="0" algn="bl" rotWithShape="0" blurRad="12700" dist="50800" dir="2700000">
              <a:srgbClr val="CBD5E1">
                <a:alpha val="12000"/>
              </a:srgbClr>
            </a:outerShdw>
          </a:effectLst>
        </p:spPr>
      </p:sp>
      <p:sp>
        <p:nvSpPr>
          <p:cNvPr id="19" name="Text 17"/>
          <p:cNvSpPr/>
          <p:nvPr/>
        </p:nvSpPr>
        <p:spPr>
          <a:xfrm>
            <a:off x="5705856" y="2011680"/>
            <a:ext cx="1261872" cy="256032"/>
          </a:xfrm>
          <a:prstGeom prst="rect">
            <a:avLst/>
          </a:prstGeom>
          <a:noFill/>
          <a:ln/>
        </p:spPr>
        <p:txBody>
          <a:bodyPr wrap="square" lIns="0" tIns="0" rIns="0" bIns="0" rtlCol="0" anchor="ctr">
            <a:normAutofit/>
          </a:bodyPr>
          <a:lstStyle/>
          <a:p>
            <a:pPr indent="0" marL="0">
              <a:buNone/>
            </a:pPr>
            <a:r>
              <a:rPr lang="en-US" sz="1250" b="1" dirty="0">
                <a:solidFill>
                  <a:srgbClr val="163A5F"/>
                </a:solidFill>
              </a:rPr>
              <a:t>缺陷映射</a:t>
            </a:r>
            <a:endParaRPr lang="en-US" sz="1250" dirty="0"/>
          </a:p>
        </p:txBody>
      </p:sp>
      <p:sp>
        <p:nvSpPr>
          <p:cNvPr id="20" name="Text 18"/>
          <p:cNvSpPr/>
          <p:nvPr/>
        </p:nvSpPr>
        <p:spPr>
          <a:xfrm>
            <a:off x="5705856" y="2295144"/>
            <a:ext cx="1261872" cy="1883664"/>
          </a:xfrm>
          <a:prstGeom prst="rect">
            <a:avLst/>
          </a:prstGeom>
          <a:noFill/>
          <a:ln/>
        </p:spPr>
        <p:txBody>
          <a:bodyPr wrap="square" lIns="0" tIns="0" rIns="0" bIns="0" rtlCol="0" anchor="t">
            <a:normAutofit/>
          </a:bodyPr>
          <a:lstStyle/>
          <a:p>
            <a:pPr indent="0" marL="0">
              <a:lnSpc>
                <a:spcPct val="108000"/>
              </a:lnSpc>
              <a:buNone/>
            </a:pPr>
            <a:r>
              <a:rPr lang="en-US" sz="1080" dirty="0">
                <a:solidFill>
                  <a:srgbClr val="243447"/>
                </a:solidFill>
              </a:rPr>
              <a:t>缩孔率场导入力学网格</a:t>
            </a:r>
            <a:endParaRPr lang="en-US" sz="1080" dirty="0"/>
          </a:p>
          <a:p>
            <a:pPr indent="0" marL="0">
              <a:lnSpc>
                <a:spcPct val="108000"/>
              </a:lnSpc>
              <a:buNone/>
            </a:pPr>
            <a:r>
              <a:rPr lang="en-US" sz="1080" dirty="0">
                <a:solidFill>
                  <a:srgbClr val="243447"/>
                </a:solidFill>
              </a:rPr>
              <a:t>建立非均质模型</a:t>
            </a:r>
            <a:endParaRPr lang="en-US" sz="1080" dirty="0"/>
          </a:p>
        </p:txBody>
      </p:sp>
      <p:sp>
        <p:nvSpPr>
          <p:cNvPr id="21" name="Shape 19"/>
          <p:cNvSpPr/>
          <p:nvPr/>
        </p:nvSpPr>
        <p:spPr>
          <a:xfrm>
            <a:off x="7187184" y="2788920"/>
            <a:ext cx="274320" cy="310896"/>
          </a:xfrm>
          <a:prstGeom prst="chevron">
            <a:avLst/>
          </a:prstGeom>
          <a:solidFill>
            <a:srgbClr val="D97A2B">
              <a:alpha val="84000"/>
            </a:srgbClr>
          </a:solidFill>
          <a:ln w="12700">
            <a:solidFill>
              <a:srgbClr val="D7DEE7">
                <a:alpha val="0"/>
              </a:srgbClr>
            </a:solidFill>
            <a:prstDash val="solid"/>
          </a:ln>
        </p:spPr>
      </p:sp>
      <p:sp>
        <p:nvSpPr>
          <p:cNvPr id="22" name="Shape 20"/>
          <p:cNvSpPr/>
          <p:nvPr/>
        </p:nvSpPr>
        <p:spPr>
          <a:xfrm>
            <a:off x="7223760" y="1901952"/>
            <a:ext cx="1554480" cy="2377440"/>
          </a:xfrm>
          <a:prstGeom prst="roundRect">
            <a:avLst>
              <a:gd name="adj" fmla="val 2353"/>
            </a:avLst>
          </a:prstGeom>
          <a:solidFill>
            <a:srgbClr val="F8FBFE"/>
          </a:solidFill>
          <a:ln w="12700">
            <a:solidFill>
              <a:srgbClr val="C9DBED"/>
            </a:solidFill>
            <a:prstDash val="solid"/>
          </a:ln>
          <a:effectLst>
            <a:outerShdw sx="100000" sy="100000" kx="0" ky="0" algn="bl" rotWithShape="0" blurRad="12700" dist="50800" dir="2700000">
              <a:srgbClr val="CBD5E1">
                <a:alpha val="12000"/>
              </a:srgbClr>
            </a:outerShdw>
          </a:effectLst>
        </p:spPr>
      </p:sp>
      <p:sp>
        <p:nvSpPr>
          <p:cNvPr id="23" name="Text 21"/>
          <p:cNvSpPr/>
          <p:nvPr/>
        </p:nvSpPr>
        <p:spPr>
          <a:xfrm>
            <a:off x="7370064" y="2011680"/>
            <a:ext cx="1261872" cy="256032"/>
          </a:xfrm>
          <a:prstGeom prst="rect">
            <a:avLst/>
          </a:prstGeom>
          <a:noFill/>
          <a:ln/>
        </p:spPr>
        <p:txBody>
          <a:bodyPr wrap="square" lIns="0" tIns="0" rIns="0" bIns="0" rtlCol="0" anchor="ctr">
            <a:normAutofit/>
          </a:bodyPr>
          <a:lstStyle/>
          <a:p>
            <a:pPr indent="0" marL="0">
              <a:buNone/>
            </a:pPr>
            <a:r>
              <a:rPr lang="en-US" sz="1250" b="1" dirty="0">
                <a:solidFill>
                  <a:srgbClr val="163A5F"/>
                </a:solidFill>
              </a:rPr>
              <a:t>危险区识别</a:t>
            </a:r>
            <a:endParaRPr lang="en-US" sz="1250" dirty="0"/>
          </a:p>
        </p:txBody>
      </p:sp>
      <p:sp>
        <p:nvSpPr>
          <p:cNvPr id="24" name="Text 22"/>
          <p:cNvSpPr/>
          <p:nvPr/>
        </p:nvSpPr>
        <p:spPr>
          <a:xfrm>
            <a:off x="7370064" y="2295144"/>
            <a:ext cx="1261872" cy="1883664"/>
          </a:xfrm>
          <a:prstGeom prst="rect">
            <a:avLst/>
          </a:prstGeom>
          <a:noFill/>
          <a:ln/>
        </p:spPr>
        <p:txBody>
          <a:bodyPr wrap="square" lIns="0" tIns="0" rIns="0" bIns="0" rtlCol="0" anchor="t">
            <a:normAutofit/>
          </a:bodyPr>
          <a:lstStyle/>
          <a:p>
            <a:pPr indent="0" marL="0">
              <a:lnSpc>
                <a:spcPct val="108000"/>
              </a:lnSpc>
              <a:buNone/>
            </a:pPr>
            <a:r>
              <a:rPr lang="en-US" sz="1080" dirty="0">
                <a:solidFill>
                  <a:srgbClr val="243447"/>
                </a:solidFill>
              </a:rPr>
              <a:t>薄膜应力分析</a:t>
            </a:r>
            <a:endParaRPr lang="en-US" sz="1080" dirty="0"/>
          </a:p>
          <a:p>
            <a:pPr indent="0" marL="0">
              <a:lnSpc>
                <a:spcPct val="108000"/>
              </a:lnSpc>
              <a:buNone/>
            </a:pPr>
            <a:r>
              <a:rPr lang="en-US" sz="1080" dirty="0">
                <a:solidFill>
                  <a:srgbClr val="243447"/>
                </a:solidFill>
              </a:rPr>
              <a:t>定位高风险区</a:t>
            </a:r>
            <a:endParaRPr lang="en-US" sz="1080" dirty="0"/>
          </a:p>
        </p:txBody>
      </p:sp>
      <p:sp>
        <p:nvSpPr>
          <p:cNvPr id="25" name="Shape 23"/>
          <p:cNvSpPr/>
          <p:nvPr/>
        </p:nvSpPr>
        <p:spPr>
          <a:xfrm>
            <a:off x="8851392" y="2788920"/>
            <a:ext cx="274320" cy="310896"/>
          </a:xfrm>
          <a:prstGeom prst="chevron">
            <a:avLst/>
          </a:prstGeom>
          <a:solidFill>
            <a:srgbClr val="D97A2B">
              <a:alpha val="84000"/>
            </a:srgbClr>
          </a:solidFill>
          <a:ln w="12700">
            <a:solidFill>
              <a:srgbClr val="D7DEE7">
                <a:alpha val="0"/>
              </a:srgbClr>
            </a:solidFill>
            <a:prstDash val="solid"/>
          </a:ln>
        </p:spPr>
      </p:sp>
      <p:sp>
        <p:nvSpPr>
          <p:cNvPr id="26" name="Shape 24"/>
          <p:cNvSpPr/>
          <p:nvPr/>
        </p:nvSpPr>
        <p:spPr>
          <a:xfrm>
            <a:off x="8887968" y="1901952"/>
            <a:ext cx="1554480" cy="2377440"/>
          </a:xfrm>
          <a:prstGeom prst="roundRect">
            <a:avLst>
              <a:gd name="adj" fmla="val 2353"/>
            </a:avLst>
          </a:prstGeom>
          <a:solidFill>
            <a:srgbClr val="F9FBF9"/>
          </a:solidFill>
          <a:ln w="12700">
            <a:solidFill>
              <a:srgbClr val="C9E1D1"/>
            </a:solidFill>
            <a:prstDash val="solid"/>
          </a:ln>
          <a:effectLst>
            <a:outerShdw sx="100000" sy="100000" kx="0" ky="0" algn="bl" rotWithShape="0" blurRad="12700" dist="50800" dir="2700000">
              <a:srgbClr val="CBD5E1">
                <a:alpha val="12000"/>
              </a:srgbClr>
            </a:outerShdw>
          </a:effectLst>
        </p:spPr>
      </p:sp>
      <p:sp>
        <p:nvSpPr>
          <p:cNvPr id="27" name="Text 25"/>
          <p:cNvSpPr/>
          <p:nvPr/>
        </p:nvSpPr>
        <p:spPr>
          <a:xfrm>
            <a:off x="9034272" y="2011680"/>
            <a:ext cx="1261872" cy="256032"/>
          </a:xfrm>
          <a:prstGeom prst="rect">
            <a:avLst/>
          </a:prstGeom>
          <a:noFill/>
          <a:ln/>
        </p:spPr>
        <p:txBody>
          <a:bodyPr wrap="square" lIns="0" tIns="0" rIns="0" bIns="0" rtlCol="0" anchor="ctr">
            <a:normAutofit/>
          </a:bodyPr>
          <a:lstStyle/>
          <a:p>
            <a:pPr indent="0" marL="0">
              <a:buNone/>
            </a:pPr>
            <a:r>
              <a:rPr lang="en-US" sz="1250" b="1" dirty="0">
                <a:solidFill>
                  <a:srgbClr val="163A5F"/>
                </a:solidFill>
              </a:rPr>
              <a:t>CAFE强化</a:t>
            </a:r>
            <a:endParaRPr lang="en-US" sz="1250" dirty="0"/>
          </a:p>
        </p:txBody>
      </p:sp>
      <p:sp>
        <p:nvSpPr>
          <p:cNvPr id="28" name="Text 26"/>
          <p:cNvSpPr/>
          <p:nvPr/>
        </p:nvSpPr>
        <p:spPr>
          <a:xfrm>
            <a:off x="9034272" y="2295144"/>
            <a:ext cx="1261872" cy="1883664"/>
          </a:xfrm>
          <a:prstGeom prst="rect">
            <a:avLst/>
          </a:prstGeom>
          <a:noFill/>
          <a:ln/>
        </p:spPr>
        <p:txBody>
          <a:bodyPr wrap="square" lIns="0" tIns="0" rIns="0" bIns="0" rtlCol="0" anchor="t">
            <a:normAutofit/>
          </a:bodyPr>
          <a:lstStyle/>
          <a:p>
            <a:pPr indent="0" marL="0">
              <a:lnSpc>
                <a:spcPct val="108000"/>
              </a:lnSpc>
              <a:buNone/>
            </a:pPr>
            <a:r>
              <a:rPr lang="en-US" sz="1080" dirty="0">
                <a:solidFill>
                  <a:srgbClr val="243447"/>
                </a:solidFill>
              </a:rPr>
              <a:t>微观组织预测</a:t>
            </a:r>
            <a:endParaRPr lang="en-US" sz="1080" dirty="0"/>
          </a:p>
          <a:p>
            <a:pPr indent="0" marL="0">
              <a:lnSpc>
                <a:spcPct val="108000"/>
              </a:lnSpc>
              <a:buNone/>
            </a:pPr>
            <a:r>
              <a:rPr lang="en-US" sz="1080" dirty="0">
                <a:solidFill>
                  <a:srgbClr val="243447"/>
                </a:solidFill>
              </a:rPr>
              <a:t>局部细晶补偿</a:t>
            </a:r>
            <a:endParaRPr lang="en-US" sz="1080" dirty="0"/>
          </a:p>
        </p:txBody>
      </p:sp>
      <p:sp>
        <p:nvSpPr>
          <p:cNvPr id="29" name="Shape 27"/>
          <p:cNvSpPr/>
          <p:nvPr/>
        </p:nvSpPr>
        <p:spPr>
          <a:xfrm>
            <a:off x="10515600" y="2788920"/>
            <a:ext cx="274320" cy="310896"/>
          </a:xfrm>
          <a:prstGeom prst="chevron">
            <a:avLst/>
          </a:prstGeom>
          <a:solidFill>
            <a:srgbClr val="D97A2B">
              <a:alpha val="84000"/>
            </a:srgbClr>
          </a:solidFill>
          <a:ln w="12700">
            <a:solidFill>
              <a:srgbClr val="D7DEE7">
                <a:alpha val="0"/>
              </a:srgbClr>
            </a:solidFill>
            <a:prstDash val="solid"/>
          </a:ln>
        </p:spPr>
      </p:sp>
      <p:sp>
        <p:nvSpPr>
          <p:cNvPr id="30" name="Shape 28"/>
          <p:cNvSpPr/>
          <p:nvPr/>
        </p:nvSpPr>
        <p:spPr>
          <a:xfrm>
            <a:off x="10552176" y="1901952"/>
            <a:ext cx="1554480" cy="2377440"/>
          </a:xfrm>
          <a:prstGeom prst="roundRect">
            <a:avLst>
              <a:gd name="adj" fmla="val 2353"/>
            </a:avLst>
          </a:prstGeom>
          <a:solidFill>
            <a:srgbClr val="F8FBFE"/>
          </a:solidFill>
          <a:ln w="12700">
            <a:solidFill>
              <a:srgbClr val="C9DBED"/>
            </a:solidFill>
            <a:prstDash val="solid"/>
          </a:ln>
          <a:effectLst>
            <a:outerShdw sx="100000" sy="100000" kx="0" ky="0" algn="bl" rotWithShape="0" blurRad="12700" dist="50800" dir="2700000">
              <a:srgbClr val="CBD5E1">
                <a:alpha val="12000"/>
              </a:srgbClr>
            </a:outerShdw>
          </a:effectLst>
        </p:spPr>
      </p:sp>
      <p:sp>
        <p:nvSpPr>
          <p:cNvPr id="31" name="Text 29"/>
          <p:cNvSpPr/>
          <p:nvPr/>
        </p:nvSpPr>
        <p:spPr>
          <a:xfrm>
            <a:off x="10698480" y="2011680"/>
            <a:ext cx="1261872" cy="256032"/>
          </a:xfrm>
          <a:prstGeom prst="rect">
            <a:avLst/>
          </a:prstGeom>
          <a:noFill/>
          <a:ln/>
        </p:spPr>
        <p:txBody>
          <a:bodyPr wrap="square" lIns="0" tIns="0" rIns="0" bIns="0" rtlCol="0" anchor="ctr">
            <a:normAutofit/>
          </a:bodyPr>
          <a:lstStyle/>
          <a:p>
            <a:pPr indent="0" marL="0">
              <a:buNone/>
            </a:pPr>
            <a:r>
              <a:rPr lang="en-US" sz="1250" b="1" dirty="0">
                <a:solidFill>
                  <a:srgbClr val="163A5F"/>
                </a:solidFill>
              </a:rPr>
              <a:t>实验验证</a:t>
            </a:r>
            <a:endParaRPr lang="en-US" sz="1250" dirty="0"/>
          </a:p>
        </p:txBody>
      </p:sp>
      <p:sp>
        <p:nvSpPr>
          <p:cNvPr id="32" name="Text 30"/>
          <p:cNvSpPr/>
          <p:nvPr/>
        </p:nvSpPr>
        <p:spPr>
          <a:xfrm>
            <a:off x="10698480" y="2295144"/>
            <a:ext cx="1261872" cy="1883664"/>
          </a:xfrm>
          <a:prstGeom prst="rect">
            <a:avLst/>
          </a:prstGeom>
          <a:noFill/>
          <a:ln/>
        </p:spPr>
        <p:txBody>
          <a:bodyPr wrap="square" lIns="0" tIns="0" rIns="0" bIns="0" rtlCol="0" anchor="t">
            <a:normAutofit/>
          </a:bodyPr>
          <a:lstStyle/>
          <a:p>
            <a:pPr indent="0" marL="0">
              <a:lnSpc>
                <a:spcPct val="108000"/>
              </a:lnSpc>
              <a:buNone/>
            </a:pPr>
            <a:r>
              <a:rPr lang="en-US" sz="1080" dirty="0">
                <a:solidFill>
                  <a:srgbClr val="243447"/>
                </a:solidFill>
              </a:rPr>
              <a:t>热测/解剖/探伤</a:t>
            </a:r>
            <a:endParaRPr lang="en-US" sz="1080" dirty="0"/>
          </a:p>
          <a:p>
            <a:pPr indent="0" marL="0">
              <a:lnSpc>
                <a:spcPct val="108000"/>
              </a:lnSpc>
              <a:buNone/>
            </a:pPr>
            <a:r>
              <a:rPr lang="en-US" sz="1080" dirty="0">
                <a:solidFill>
                  <a:srgbClr val="243447"/>
                </a:solidFill>
              </a:rPr>
              <a:t>校核模型可信度</a:t>
            </a:r>
            <a:endParaRPr lang="en-US" sz="1080" dirty="0"/>
          </a:p>
        </p:txBody>
      </p:sp>
      <p:sp>
        <p:nvSpPr>
          <p:cNvPr id="33" name="Shape 31"/>
          <p:cNvSpPr/>
          <p:nvPr/>
        </p:nvSpPr>
        <p:spPr>
          <a:xfrm>
            <a:off x="3017520" y="4892040"/>
            <a:ext cx="6217920" cy="658368"/>
          </a:xfrm>
          <a:prstGeom prst="roundRect">
            <a:avLst>
              <a:gd name="adj" fmla="val 6944"/>
            </a:avLst>
          </a:prstGeom>
          <a:solidFill>
            <a:srgbClr val="EEF5FB"/>
          </a:solidFill>
          <a:ln w="12700">
            <a:solidFill>
              <a:srgbClr val="163A5F"/>
            </a:solidFill>
            <a:prstDash val="solid"/>
          </a:ln>
        </p:spPr>
      </p:sp>
      <p:sp>
        <p:nvSpPr>
          <p:cNvPr id="34" name="Text 32"/>
          <p:cNvSpPr/>
          <p:nvPr/>
        </p:nvSpPr>
        <p:spPr>
          <a:xfrm>
            <a:off x="3200400" y="5084064"/>
            <a:ext cx="5852160" cy="210312"/>
          </a:xfrm>
          <a:prstGeom prst="rect">
            <a:avLst/>
          </a:prstGeom>
          <a:noFill/>
          <a:ln/>
        </p:spPr>
        <p:txBody>
          <a:bodyPr wrap="square" lIns="0" tIns="0" rIns="0" bIns="0" rtlCol="0" anchor="ctr"/>
          <a:lstStyle/>
          <a:p>
            <a:pPr algn="ctr" indent="0" marL="0">
              <a:buNone/>
            </a:pPr>
            <a:r>
              <a:rPr lang="en-US" sz="1300" b="1" dirty="0">
                <a:solidFill>
                  <a:srgbClr val="163A5F"/>
                </a:solidFill>
              </a:rPr>
              <a:t>形成“缺陷控制—承压评估—局部强化—实验验证”的闭环研究体系</a:t>
            </a:r>
            <a:endParaRPr lang="en-US" sz="1300" dirty="0"/>
          </a:p>
        </p:txBody>
      </p:sp>
      <p:sp>
        <p:nvSpPr>
          <p:cNvPr id="35" name="Text 33"/>
          <p:cNvSpPr/>
          <p:nvPr/>
        </p:nvSpPr>
        <p:spPr>
          <a:xfrm>
            <a:off x="658368" y="6537960"/>
            <a:ext cx="2103120" cy="164592"/>
          </a:xfrm>
          <a:prstGeom prst="rect">
            <a:avLst/>
          </a:prstGeom>
          <a:noFill/>
          <a:ln/>
        </p:spPr>
        <p:txBody>
          <a:bodyPr wrap="square" lIns="0" tIns="0" rIns="0" bIns="0" rtlCol="0" anchor="ctr"/>
          <a:lstStyle/>
          <a:p>
            <a:pPr indent="0" marL="0">
              <a:buNone/>
            </a:pPr>
            <a:r>
              <a:rPr lang="en-US" sz="800" dirty="0">
                <a:solidFill>
                  <a:srgbClr val="5F6B7A"/>
                </a:solidFill>
              </a:rPr>
              <a:t>博士学位论文预答辩</a:t>
            </a:r>
            <a:endParaRPr lang="en-US" sz="800" dirty="0"/>
          </a:p>
        </p:txBody>
      </p:sp>
      <p:sp>
        <p:nvSpPr>
          <p:cNvPr id="36" name="Text 34"/>
          <p:cNvSpPr/>
          <p:nvPr/>
        </p:nvSpPr>
        <p:spPr>
          <a:xfrm>
            <a:off x="11109960" y="6510528"/>
            <a:ext cx="411480" cy="182880"/>
          </a:xfrm>
          <a:prstGeom prst="rect">
            <a:avLst/>
          </a:prstGeom>
          <a:noFill/>
          <a:ln/>
        </p:spPr>
        <p:txBody>
          <a:bodyPr wrap="square" lIns="0" tIns="0" rIns="0" bIns="0" rtlCol="0" anchor="ctr"/>
          <a:lstStyle/>
          <a:p>
            <a:pPr algn="r" indent="0" marL="0">
              <a:buNone/>
            </a:pPr>
            <a:r>
              <a:rPr lang="en-US" sz="850" dirty="0">
                <a:solidFill>
                  <a:srgbClr val="5F6B7A"/>
                </a:solidFill>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63A5F"/>
          </a:solidFill>
          <a:ln w="12700">
            <a:solidFill>
              <a:srgbClr val="163A5F">
                <a:alpha val="0"/>
              </a:srgbClr>
            </a:solidFill>
            <a:prstDash val="solid"/>
          </a:ln>
        </p:spPr>
      </p:sp>
      <p:sp>
        <p:nvSpPr>
          <p:cNvPr id="3" name="Shape 1"/>
          <p:cNvSpPr/>
          <p:nvPr/>
        </p:nvSpPr>
        <p:spPr>
          <a:xfrm>
            <a:off x="548640" y="6510528"/>
            <a:ext cx="11064240" cy="0"/>
          </a:xfrm>
          <a:prstGeom prst="line">
            <a:avLst/>
          </a:prstGeom>
          <a:noFill/>
          <a:ln w="12700">
            <a:solidFill>
              <a:srgbClr val="D7DEE7"/>
            </a:solidFill>
            <a:prstDash val="solid"/>
          </a:ln>
        </p:spPr>
      </p:sp>
      <p:sp>
        <p:nvSpPr>
          <p:cNvPr id="4" name="Text 2"/>
          <p:cNvSpPr/>
          <p:nvPr/>
        </p:nvSpPr>
        <p:spPr>
          <a:xfrm>
            <a:off x="640080" y="411480"/>
            <a:ext cx="7863840" cy="411480"/>
          </a:xfrm>
          <a:prstGeom prst="rect">
            <a:avLst/>
          </a:prstGeom>
          <a:noFill/>
          <a:ln/>
        </p:spPr>
        <p:txBody>
          <a:bodyPr wrap="square" lIns="0" tIns="0" rIns="0" bIns="0" rtlCol="0" anchor="ctr"/>
          <a:lstStyle/>
          <a:p>
            <a:pPr indent="0" marL="0">
              <a:buNone/>
            </a:pPr>
            <a:r>
              <a:rPr lang="en-US" sz="2400" b="1" dirty="0">
                <a:solidFill>
                  <a:srgbClr val="163A5F"/>
                </a:solidFill>
              </a:rPr>
              <a:t>第二章：缩孔形成机理与结构参数设计</a:t>
            </a:r>
            <a:endParaRPr lang="en-US" sz="2400" dirty="0"/>
          </a:p>
        </p:txBody>
      </p:sp>
      <p:sp>
        <p:nvSpPr>
          <p:cNvPr id="5" name="Text 3"/>
          <p:cNvSpPr/>
          <p:nvPr/>
        </p:nvSpPr>
        <p:spPr>
          <a:xfrm>
            <a:off x="658368" y="841248"/>
            <a:ext cx="8961120" cy="182880"/>
          </a:xfrm>
          <a:prstGeom prst="rect">
            <a:avLst/>
          </a:prstGeom>
          <a:noFill/>
          <a:ln/>
        </p:spPr>
        <p:txBody>
          <a:bodyPr wrap="square" lIns="0" tIns="0" rIns="0" bIns="0" rtlCol="0" anchor="ctr"/>
          <a:lstStyle/>
          <a:p>
            <a:pPr indent="0" marL="0">
              <a:buNone/>
            </a:pPr>
            <a:r>
              <a:rPr lang="en-US" sz="950" dirty="0">
                <a:solidFill>
                  <a:srgbClr val="5F6B7A"/>
                </a:solidFill>
              </a:rPr>
              <a:t>围绕热节形成、补缩通道和结构拓扑开展建模</a:t>
            </a:r>
            <a:endParaRPr lang="en-US" sz="950" dirty="0"/>
          </a:p>
        </p:txBody>
      </p:sp>
      <p:pic>
        <p:nvPicPr>
          <p:cNvPr id="6" name="Image 0" descr="/tmp/thesis_ppt_assets/image98.png">    </p:cNvPr>
          <p:cNvPicPr>
            <a:picLocks noChangeAspect="1"/>
          </p:cNvPicPr>
          <p:nvPr/>
        </p:nvPicPr>
        <p:blipFill>
          <a:blip r:embed="rId1"/>
          <a:srcRect l="0" r="0" t="0" b="0"/>
          <a:stretch/>
        </p:blipFill>
        <p:spPr>
          <a:xfrm>
            <a:off x="6583680" y="1325880"/>
            <a:ext cx="4709160" cy="3291840"/>
          </a:xfrm>
          <a:prstGeom prst="rect">
            <a:avLst/>
          </a:prstGeom>
        </p:spPr>
      </p:pic>
      <p:sp>
        <p:nvSpPr>
          <p:cNvPr id="7" name="Text 4"/>
          <p:cNvSpPr/>
          <p:nvPr/>
        </p:nvSpPr>
        <p:spPr>
          <a:xfrm>
            <a:off x="6656832" y="4645152"/>
            <a:ext cx="4526280" cy="201168"/>
          </a:xfrm>
          <a:prstGeom prst="rect">
            <a:avLst/>
          </a:prstGeom>
          <a:noFill/>
          <a:ln/>
        </p:spPr>
        <p:txBody>
          <a:bodyPr wrap="square" lIns="0" tIns="0" rIns="0" bIns="0" rtlCol="0" anchor="ctr"/>
          <a:lstStyle/>
          <a:p>
            <a:pPr algn="ctr" indent="0" marL="0">
              <a:buNone/>
            </a:pPr>
            <a:r>
              <a:rPr lang="en-US" sz="840" i="1" dirty="0">
                <a:solidFill>
                  <a:srgbClr val="5F6B7A"/>
                </a:solidFill>
              </a:rPr>
              <a:t>论文图2.6：铸钢阀体浇注系统</a:t>
            </a:r>
            <a:endParaRPr lang="en-US" sz="840" dirty="0"/>
          </a:p>
        </p:txBody>
      </p:sp>
      <p:sp>
        <p:nvSpPr>
          <p:cNvPr id="8" name="Text 5"/>
          <p:cNvSpPr/>
          <p:nvPr/>
        </p:nvSpPr>
        <p:spPr>
          <a:xfrm>
            <a:off x="868680" y="1536192"/>
            <a:ext cx="5303520" cy="3337560"/>
          </a:xfrm>
          <a:prstGeom prst="rect">
            <a:avLst/>
          </a:prstGeom>
          <a:noFill/>
          <a:ln/>
        </p:spPr>
        <p:txBody>
          <a:bodyPr wrap="square" lIns="0" tIns="0" rIns="0" bIns="0" rtlCol="0" anchor="t">
            <a:normAutofit/>
          </a:bodyPr>
          <a:lstStyle/>
          <a:p>
            <a:pPr marL="228600" indent="-228600">
              <a:lnSpc>
                <a:spcPct val="112000"/>
              </a:lnSpc>
              <a:buSzPct val="100000"/>
              <a:buChar char="•"/>
            </a:pPr>
            <a:r>
              <a:rPr lang="en-US" sz="1320" dirty="0">
                <a:solidFill>
                  <a:srgbClr val="243447"/>
                </a:solidFill>
              </a:rPr>
              <a:t>建立直通式 CF8M 铸钢阀体的宏观流场、温度场和凝固耦合模型。</a:t>
            </a:r>
            <a:endParaRPr lang="en-US" sz="1320" dirty="0"/>
          </a:p>
          <a:p>
            <a:pPr marL="228600" indent="-228600">
              <a:lnSpc>
                <a:spcPct val="112000"/>
              </a:lnSpc>
              <a:buSzPct val="100000"/>
              <a:buChar char="•"/>
            </a:pPr>
            <a:r>
              <a:rPr lang="en-US" sz="1320" dirty="0">
                <a:solidFill>
                  <a:srgbClr val="243447"/>
                </a:solidFill>
              </a:rPr>
              <a:t>选取长径比、回转体径长比、入口偏转角、挡板壁厚比等结构参数作为研究因素。</a:t>
            </a:r>
            <a:endParaRPr lang="en-US" sz="1320" dirty="0"/>
          </a:p>
          <a:p>
            <a:pPr marL="228600" indent="-228600">
              <a:lnSpc>
                <a:spcPct val="112000"/>
              </a:lnSpc>
              <a:buSzPct val="100000"/>
              <a:buChar char="•"/>
            </a:pPr>
            <a:r>
              <a:rPr lang="en-US" sz="1320" dirty="0">
                <a:solidFill>
                  <a:srgbClr val="243447"/>
                </a:solidFill>
              </a:rPr>
              <a:t>通过正交试验分析结构特征对整体与局部缩孔率的影响，寻找缩孔敏感性最低的构型。</a:t>
            </a:r>
            <a:endParaRPr lang="en-US" sz="1320" dirty="0"/>
          </a:p>
          <a:p>
            <a:pPr marL="228600" indent="-228600">
              <a:lnSpc>
                <a:spcPct val="112000"/>
              </a:lnSpc>
              <a:buSzPct val="100000"/>
              <a:buChar char="•"/>
            </a:pPr>
            <a:r>
              <a:rPr lang="en-US" sz="1320" dirty="0">
                <a:solidFill>
                  <a:srgbClr val="243447"/>
                </a:solidFill>
              </a:rPr>
              <a:t>在优选结构基础上，继续对注入方式、冒口形式与浇注温度进行协同优化。</a:t>
            </a:r>
            <a:endParaRPr lang="en-US" sz="1320" dirty="0"/>
          </a:p>
        </p:txBody>
      </p:sp>
      <p:sp>
        <p:nvSpPr>
          <p:cNvPr id="9" name="Shape 6"/>
          <p:cNvSpPr/>
          <p:nvPr/>
        </p:nvSpPr>
        <p:spPr>
          <a:xfrm>
            <a:off x="896112" y="5166360"/>
            <a:ext cx="5303520" cy="676656"/>
          </a:xfrm>
          <a:prstGeom prst="roundRect">
            <a:avLst>
              <a:gd name="adj" fmla="val 5405"/>
            </a:avLst>
          </a:prstGeom>
          <a:solidFill>
            <a:srgbClr val="F6FBFB"/>
          </a:solidFill>
          <a:ln w="12700">
            <a:solidFill>
              <a:srgbClr val="B7DFDF"/>
            </a:solidFill>
            <a:prstDash val="solid"/>
          </a:ln>
          <a:effectLst>
            <a:outerShdw sx="100000" sy="100000" kx="0" ky="0" algn="bl" rotWithShape="0" blurRad="12700" dist="50800" dir="2700000">
              <a:srgbClr val="CBD5E1">
                <a:alpha val="12000"/>
              </a:srgbClr>
            </a:outerShdw>
          </a:effectLst>
        </p:spPr>
      </p:sp>
      <p:sp>
        <p:nvSpPr>
          <p:cNvPr id="10" name="Text 7"/>
          <p:cNvSpPr/>
          <p:nvPr/>
        </p:nvSpPr>
        <p:spPr>
          <a:xfrm>
            <a:off x="1042416" y="5276088"/>
            <a:ext cx="5010912" cy="256032"/>
          </a:xfrm>
          <a:prstGeom prst="rect">
            <a:avLst/>
          </a:prstGeom>
          <a:noFill/>
          <a:ln/>
        </p:spPr>
        <p:txBody>
          <a:bodyPr wrap="square" lIns="0" tIns="0" rIns="0" bIns="0" rtlCol="0" anchor="ctr">
            <a:normAutofit/>
          </a:bodyPr>
          <a:lstStyle/>
          <a:p>
            <a:pPr indent="0" marL="0">
              <a:buNone/>
            </a:pPr>
            <a:r>
              <a:rPr lang="en-US" sz="1250" b="1" dirty="0">
                <a:solidFill>
                  <a:srgbClr val="1F8A8A"/>
                </a:solidFill>
              </a:rPr>
              <a:t>研究关注点</a:t>
            </a:r>
            <a:endParaRPr lang="en-US" sz="1250" dirty="0"/>
          </a:p>
        </p:txBody>
      </p:sp>
      <p:sp>
        <p:nvSpPr>
          <p:cNvPr id="11" name="Text 8"/>
          <p:cNvSpPr/>
          <p:nvPr/>
        </p:nvSpPr>
        <p:spPr>
          <a:xfrm>
            <a:off x="1042416" y="5559552"/>
            <a:ext cx="5010912" cy="182880"/>
          </a:xfrm>
          <a:prstGeom prst="rect">
            <a:avLst/>
          </a:prstGeom>
          <a:noFill/>
          <a:ln/>
        </p:spPr>
        <p:txBody>
          <a:bodyPr wrap="square" lIns="0" tIns="0" rIns="0" bIns="0" rtlCol="0" anchor="t">
            <a:normAutofit/>
          </a:bodyPr>
          <a:lstStyle/>
          <a:p>
            <a:pPr indent="0" marL="0">
              <a:lnSpc>
                <a:spcPct val="108000"/>
              </a:lnSpc>
              <a:buNone/>
            </a:pPr>
            <a:r>
              <a:rPr lang="en-US" sz="1130" dirty="0">
                <a:solidFill>
                  <a:srgbClr val="243447"/>
                </a:solidFill>
              </a:rPr>
              <a:t>结构变化不仅改变几何形状，更会重塑热流传递路径、补缩阻力和热节位置。</a:t>
            </a:r>
            <a:endParaRPr lang="en-US" sz="1130" dirty="0"/>
          </a:p>
        </p:txBody>
      </p:sp>
      <p:sp>
        <p:nvSpPr>
          <p:cNvPr id="12" name="Text 9"/>
          <p:cNvSpPr/>
          <p:nvPr/>
        </p:nvSpPr>
        <p:spPr>
          <a:xfrm>
            <a:off x="658368" y="6537960"/>
            <a:ext cx="2103120" cy="164592"/>
          </a:xfrm>
          <a:prstGeom prst="rect">
            <a:avLst/>
          </a:prstGeom>
          <a:noFill/>
          <a:ln/>
        </p:spPr>
        <p:txBody>
          <a:bodyPr wrap="square" lIns="0" tIns="0" rIns="0" bIns="0" rtlCol="0" anchor="ctr"/>
          <a:lstStyle/>
          <a:p>
            <a:pPr indent="0" marL="0">
              <a:buNone/>
            </a:pPr>
            <a:r>
              <a:rPr lang="en-US" sz="800" dirty="0">
                <a:solidFill>
                  <a:srgbClr val="5F6B7A"/>
                </a:solidFill>
              </a:rPr>
              <a:t>博士学位论文预答辩</a:t>
            </a:r>
            <a:endParaRPr lang="en-US" sz="800" dirty="0"/>
          </a:p>
        </p:txBody>
      </p:sp>
      <p:sp>
        <p:nvSpPr>
          <p:cNvPr id="13" name="Text 10"/>
          <p:cNvSpPr/>
          <p:nvPr/>
        </p:nvSpPr>
        <p:spPr>
          <a:xfrm>
            <a:off x="11109960" y="6510528"/>
            <a:ext cx="411480" cy="182880"/>
          </a:xfrm>
          <a:prstGeom prst="rect">
            <a:avLst/>
          </a:prstGeom>
          <a:noFill/>
          <a:ln/>
        </p:spPr>
        <p:txBody>
          <a:bodyPr wrap="square" lIns="0" tIns="0" rIns="0" bIns="0" rtlCol="0" anchor="ctr"/>
          <a:lstStyle/>
          <a:p>
            <a:pPr algn="r" indent="0" marL="0">
              <a:buNone/>
            </a:pPr>
            <a:r>
              <a:rPr lang="en-US" sz="850" dirty="0">
                <a:solidFill>
                  <a:srgbClr val="5F6B7A"/>
                </a:solidFill>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63A5F"/>
          </a:solidFill>
          <a:ln w="12700">
            <a:solidFill>
              <a:srgbClr val="163A5F">
                <a:alpha val="0"/>
              </a:srgbClr>
            </a:solidFill>
            <a:prstDash val="solid"/>
          </a:ln>
        </p:spPr>
      </p:sp>
      <p:sp>
        <p:nvSpPr>
          <p:cNvPr id="3" name="Shape 1"/>
          <p:cNvSpPr/>
          <p:nvPr/>
        </p:nvSpPr>
        <p:spPr>
          <a:xfrm>
            <a:off x="548640" y="6510528"/>
            <a:ext cx="11064240" cy="0"/>
          </a:xfrm>
          <a:prstGeom prst="line">
            <a:avLst/>
          </a:prstGeom>
          <a:noFill/>
          <a:ln w="12700">
            <a:solidFill>
              <a:srgbClr val="D7DEE7"/>
            </a:solidFill>
            <a:prstDash val="solid"/>
          </a:ln>
        </p:spPr>
      </p:sp>
      <p:sp>
        <p:nvSpPr>
          <p:cNvPr id="4" name="Text 2"/>
          <p:cNvSpPr/>
          <p:nvPr/>
        </p:nvSpPr>
        <p:spPr>
          <a:xfrm>
            <a:off x="640080" y="411480"/>
            <a:ext cx="7863840" cy="411480"/>
          </a:xfrm>
          <a:prstGeom prst="rect">
            <a:avLst/>
          </a:prstGeom>
          <a:noFill/>
          <a:ln/>
        </p:spPr>
        <p:txBody>
          <a:bodyPr wrap="square" lIns="0" tIns="0" rIns="0" bIns="0" rtlCol="0" anchor="ctr"/>
          <a:lstStyle/>
          <a:p>
            <a:pPr indent="0" marL="0">
              <a:buNone/>
            </a:pPr>
            <a:r>
              <a:rPr lang="en-US" sz="2400" b="1" dirty="0">
                <a:solidFill>
                  <a:srgbClr val="163A5F"/>
                </a:solidFill>
              </a:rPr>
              <a:t>第二章：工艺优化结果</a:t>
            </a:r>
            <a:endParaRPr lang="en-US" sz="2400" dirty="0"/>
          </a:p>
        </p:txBody>
      </p:sp>
      <p:sp>
        <p:nvSpPr>
          <p:cNvPr id="5" name="Text 3"/>
          <p:cNvSpPr/>
          <p:nvPr/>
        </p:nvSpPr>
        <p:spPr>
          <a:xfrm>
            <a:off x="658368" y="841248"/>
            <a:ext cx="8961120" cy="182880"/>
          </a:xfrm>
          <a:prstGeom prst="rect">
            <a:avLst/>
          </a:prstGeom>
          <a:noFill/>
          <a:ln/>
        </p:spPr>
        <p:txBody>
          <a:bodyPr wrap="square" lIns="0" tIns="0" rIns="0" bIns="0" rtlCol="0" anchor="ctr"/>
          <a:lstStyle/>
          <a:p>
            <a:pPr indent="0" marL="0">
              <a:buNone/>
            </a:pPr>
            <a:r>
              <a:rPr lang="en-US" sz="950" dirty="0">
                <a:solidFill>
                  <a:srgbClr val="5F6B7A"/>
                </a:solidFill>
              </a:rPr>
              <a:t>注入方式、冒口形式与温度窗口共同决定缩孔与卷气行为</a:t>
            </a:r>
            <a:endParaRPr lang="en-US" sz="950" dirty="0"/>
          </a:p>
        </p:txBody>
      </p:sp>
      <p:sp>
        <p:nvSpPr>
          <p:cNvPr id="6" name="Shape 4"/>
          <p:cNvSpPr/>
          <p:nvPr/>
        </p:nvSpPr>
        <p:spPr>
          <a:xfrm>
            <a:off x="749808" y="1325880"/>
            <a:ext cx="3566160" cy="4389120"/>
          </a:xfrm>
          <a:prstGeom prst="roundRect">
            <a:avLst>
              <a:gd name="adj" fmla="val 1026"/>
            </a:avLst>
          </a:prstGeom>
          <a:solidFill>
            <a:srgbClr val="F6F8FB"/>
          </a:solidFill>
          <a:ln w="12700">
            <a:solidFill>
              <a:srgbClr val="D7DEE7"/>
            </a:solidFill>
            <a:prstDash val="solid"/>
          </a:ln>
          <a:effectLst>
            <a:outerShdw sx="100000" sy="100000" kx="0" ky="0" algn="bl" rotWithShape="0" blurRad="12700" dist="50800" dir="2700000">
              <a:srgbClr val="CBD5E1">
                <a:alpha val="12000"/>
              </a:srgbClr>
            </a:outerShdw>
          </a:effectLst>
        </p:spPr>
      </p:sp>
      <p:sp>
        <p:nvSpPr>
          <p:cNvPr id="7" name="Text 5"/>
          <p:cNvSpPr/>
          <p:nvPr/>
        </p:nvSpPr>
        <p:spPr>
          <a:xfrm>
            <a:off x="896112" y="1435608"/>
            <a:ext cx="3273552" cy="256032"/>
          </a:xfrm>
          <a:prstGeom prst="rect">
            <a:avLst/>
          </a:prstGeom>
          <a:noFill/>
          <a:ln/>
        </p:spPr>
        <p:txBody>
          <a:bodyPr wrap="square" lIns="0" tIns="0" rIns="0" bIns="0" rtlCol="0" anchor="ctr">
            <a:normAutofit/>
          </a:bodyPr>
          <a:lstStyle/>
          <a:p>
            <a:pPr indent="0" marL="0">
              <a:buNone/>
            </a:pPr>
            <a:r>
              <a:rPr lang="en-US" sz="1450" b="1" dirty="0">
                <a:solidFill>
                  <a:srgbClr val="163A5F"/>
                </a:solidFill>
              </a:rPr>
              <a:t>关键结论</a:t>
            </a:r>
            <a:endParaRPr lang="en-US" sz="1450" dirty="0"/>
          </a:p>
        </p:txBody>
      </p:sp>
      <p:sp>
        <p:nvSpPr>
          <p:cNvPr id="8" name="Text 6"/>
          <p:cNvSpPr/>
          <p:nvPr/>
        </p:nvSpPr>
        <p:spPr>
          <a:xfrm>
            <a:off x="896112" y="1719072"/>
            <a:ext cx="3273552" cy="3895344"/>
          </a:xfrm>
          <a:prstGeom prst="rect">
            <a:avLst/>
          </a:prstGeom>
          <a:noFill/>
          <a:ln/>
        </p:spPr>
        <p:txBody>
          <a:bodyPr wrap="square" lIns="0" tIns="0" rIns="0" bIns="0" rtlCol="0" anchor="t">
            <a:normAutofit/>
          </a:bodyPr>
          <a:lstStyle/>
          <a:p>
            <a:pPr indent="0" marL="0">
              <a:lnSpc>
                <a:spcPct val="108000"/>
              </a:lnSpc>
              <a:buNone/>
            </a:pPr>
            <a:r>
              <a:rPr lang="en-US" sz="1210" dirty="0">
                <a:solidFill>
                  <a:srgbClr val="243447"/>
                </a:solidFill>
              </a:rPr>
              <a:t>1. 阀体长径比等结构参数会显著影响孤立热节形成及补缩通道通畅性。</a:t>
            </a:r>
            <a:endParaRPr lang="en-US" sz="1210" dirty="0"/>
          </a:p>
          <a:p>
            <a:pPr indent="0" marL="0">
              <a:lnSpc>
                <a:spcPct val="108000"/>
              </a:lnSpc>
              <a:buNone/>
            </a:pPr>
            <a:r>
              <a:rPr lang="en-US" sz="1210" dirty="0">
                <a:solidFill>
                  <a:srgbClr val="243447"/>
                </a:solidFill>
              </a:rPr>
              <a:t>2. 中间注入可有效抑制跌落式充型引起的卷气与紊流，优于顶部注入。</a:t>
            </a:r>
            <a:endParaRPr lang="en-US" sz="1210" dirty="0"/>
          </a:p>
          <a:p>
            <a:pPr indent="0" marL="0">
              <a:lnSpc>
                <a:spcPct val="108000"/>
              </a:lnSpc>
              <a:buNone/>
            </a:pPr>
            <a:r>
              <a:rPr lang="en-US" sz="1210" dirty="0">
                <a:solidFill>
                  <a:srgbClr val="243447"/>
                </a:solidFill>
              </a:rPr>
              <a:t>3. T型冒口补缩效率高于参考法兰冒口，更有利于阀体上部和中部顺序凝固。</a:t>
            </a:r>
            <a:endParaRPr lang="en-US" sz="1210" dirty="0"/>
          </a:p>
          <a:p>
            <a:pPr indent="0" marL="0">
              <a:lnSpc>
                <a:spcPct val="108000"/>
              </a:lnSpc>
              <a:buNone/>
            </a:pPr>
            <a:r>
              <a:rPr lang="en-US" sz="1210" dirty="0">
                <a:solidFill>
                  <a:srgbClr val="243447"/>
                </a:solidFill>
              </a:rPr>
              <a:t>4. 浇注温度过低会恶化充型与补缩，过高又会导致热焓过剩与组织粗化。</a:t>
            </a:r>
            <a:endParaRPr lang="en-US" sz="1210" dirty="0"/>
          </a:p>
        </p:txBody>
      </p:sp>
      <p:sp>
        <p:nvSpPr>
          <p:cNvPr id="9" name="Shape 7"/>
          <p:cNvSpPr/>
          <p:nvPr/>
        </p:nvSpPr>
        <p:spPr>
          <a:xfrm>
            <a:off x="4800600" y="1828800"/>
            <a:ext cx="1828800" cy="804672"/>
          </a:xfrm>
          <a:prstGeom prst="roundRect">
            <a:avLst>
              <a:gd name="adj" fmla="val 5682"/>
            </a:avLst>
          </a:prstGeom>
          <a:solidFill>
            <a:srgbClr val="FFFFFF"/>
          </a:solidFill>
          <a:ln w="12700">
            <a:solidFill>
              <a:srgbClr val="1F8A8A"/>
            </a:solidFill>
            <a:prstDash val="solid"/>
          </a:ln>
        </p:spPr>
      </p:sp>
      <p:sp>
        <p:nvSpPr>
          <p:cNvPr id="10" name="Text 8"/>
          <p:cNvSpPr/>
          <p:nvPr/>
        </p:nvSpPr>
        <p:spPr>
          <a:xfrm>
            <a:off x="4892040" y="1901952"/>
            <a:ext cx="1645920" cy="274320"/>
          </a:xfrm>
          <a:prstGeom prst="rect">
            <a:avLst/>
          </a:prstGeom>
          <a:noFill/>
          <a:ln/>
        </p:spPr>
        <p:txBody>
          <a:bodyPr wrap="square" lIns="0" tIns="0" rIns="0" bIns="0" rtlCol="0" anchor="ctr">
            <a:normAutofit/>
          </a:bodyPr>
          <a:lstStyle/>
          <a:p>
            <a:pPr algn="ctr" indent="0" marL="0">
              <a:buNone/>
            </a:pPr>
            <a:r>
              <a:rPr lang="en-US" sz="2050" b="1" dirty="0">
                <a:solidFill>
                  <a:srgbClr val="1F8A8A"/>
                </a:solidFill>
              </a:rPr>
              <a:t>中间注入</a:t>
            </a:r>
            <a:endParaRPr lang="en-US" sz="2050" dirty="0"/>
          </a:p>
        </p:txBody>
      </p:sp>
      <p:sp>
        <p:nvSpPr>
          <p:cNvPr id="11" name="Text 9"/>
          <p:cNvSpPr/>
          <p:nvPr/>
        </p:nvSpPr>
        <p:spPr>
          <a:xfrm>
            <a:off x="4873752" y="2276856"/>
            <a:ext cx="1682496" cy="155448"/>
          </a:xfrm>
          <a:prstGeom prst="rect">
            <a:avLst/>
          </a:prstGeom>
          <a:noFill/>
          <a:ln/>
        </p:spPr>
        <p:txBody>
          <a:bodyPr wrap="square" lIns="0" tIns="0" rIns="0" bIns="0" rtlCol="0" anchor="ctr">
            <a:normAutofit/>
          </a:bodyPr>
          <a:lstStyle/>
          <a:p>
            <a:pPr algn="ctr" indent="0" marL="0">
              <a:buNone/>
            </a:pPr>
            <a:r>
              <a:rPr lang="en-US" sz="930" dirty="0">
                <a:solidFill>
                  <a:srgbClr val="5F6B7A"/>
                </a:solidFill>
              </a:rPr>
              <a:t>优选注入方式</a:t>
            </a:r>
            <a:endParaRPr lang="en-US" sz="930" dirty="0"/>
          </a:p>
        </p:txBody>
      </p:sp>
      <p:sp>
        <p:nvSpPr>
          <p:cNvPr id="12" name="Shape 10"/>
          <p:cNvSpPr/>
          <p:nvPr/>
        </p:nvSpPr>
        <p:spPr>
          <a:xfrm>
            <a:off x="6903720" y="1828800"/>
            <a:ext cx="1828800" cy="804672"/>
          </a:xfrm>
          <a:prstGeom prst="roundRect">
            <a:avLst>
              <a:gd name="adj" fmla="val 5682"/>
            </a:avLst>
          </a:prstGeom>
          <a:solidFill>
            <a:srgbClr val="FFFFFF"/>
          </a:solidFill>
          <a:ln w="12700">
            <a:solidFill>
              <a:srgbClr val="D97A2B"/>
            </a:solidFill>
            <a:prstDash val="solid"/>
          </a:ln>
        </p:spPr>
      </p:sp>
      <p:sp>
        <p:nvSpPr>
          <p:cNvPr id="13" name="Text 11"/>
          <p:cNvSpPr/>
          <p:nvPr/>
        </p:nvSpPr>
        <p:spPr>
          <a:xfrm>
            <a:off x="6995160" y="1901952"/>
            <a:ext cx="1645920" cy="274320"/>
          </a:xfrm>
          <a:prstGeom prst="rect">
            <a:avLst/>
          </a:prstGeom>
          <a:noFill/>
          <a:ln/>
        </p:spPr>
        <p:txBody>
          <a:bodyPr wrap="square" lIns="0" tIns="0" rIns="0" bIns="0" rtlCol="0" anchor="ctr">
            <a:normAutofit/>
          </a:bodyPr>
          <a:lstStyle/>
          <a:p>
            <a:pPr algn="ctr" indent="0" marL="0">
              <a:buNone/>
            </a:pPr>
            <a:r>
              <a:rPr lang="en-US" sz="2050" b="1" dirty="0">
                <a:solidFill>
                  <a:srgbClr val="D97A2B"/>
                </a:solidFill>
              </a:rPr>
              <a:t>T型冒口</a:t>
            </a:r>
            <a:endParaRPr lang="en-US" sz="2050" dirty="0"/>
          </a:p>
        </p:txBody>
      </p:sp>
      <p:sp>
        <p:nvSpPr>
          <p:cNvPr id="14" name="Text 12"/>
          <p:cNvSpPr/>
          <p:nvPr/>
        </p:nvSpPr>
        <p:spPr>
          <a:xfrm>
            <a:off x="6976872" y="2276856"/>
            <a:ext cx="1682496" cy="155448"/>
          </a:xfrm>
          <a:prstGeom prst="rect">
            <a:avLst/>
          </a:prstGeom>
          <a:noFill/>
          <a:ln/>
        </p:spPr>
        <p:txBody>
          <a:bodyPr wrap="square" lIns="0" tIns="0" rIns="0" bIns="0" rtlCol="0" anchor="ctr">
            <a:normAutofit/>
          </a:bodyPr>
          <a:lstStyle/>
          <a:p>
            <a:pPr algn="ctr" indent="0" marL="0">
              <a:buNone/>
            </a:pPr>
            <a:r>
              <a:rPr lang="en-US" sz="930" dirty="0">
                <a:solidFill>
                  <a:srgbClr val="5F6B7A"/>
                </a:solidFill>
              </a:rPr>
              <a:t>优选冒口</a:t>
            </a:r>
            <a:endParaRPr lang="en-US" sz="930" dirty="0"/>
          </a:p>
        </p:txBody>
      </p:sp>
      <p:sp>
        <p:nvSpPr>
          <p:cNvPr id="15" name="Shape 13"/>
          <p:cNvSpPr/>
          <p:nvPr/>
        </p:nvSpPr>
        <p:spPr>
          <a:xfrm>
            <a:off x="9006840" y="1828800"/>
            <a:ext cx="1828800" cy="804672"/>
          </a:xfrm>
          <a:prstGeom prst="roundRect">
            <a:avLst>
              <a:gd name="adj" fmla="val 5682"/>
            </a:avLst>
          </a:prstGeom>
          <a:solidFill>
            <a:srgbClr val="FFFFFF"/>
          </a:solidFill>
          <a:ln w="12700">
            <a:solidFill>
              <a:srgbClr val="163A5F"/>
            </a:solidFill>
            <a:prstDash val="solid"/>
          </a:ln>
        </p:spPr>
      </p:sp>
      <p:sp>
        <p:nvSpPr>
          <p:cNvPr id="16" name="Text 14"/>
          <p:cNvSpPr/>
          <p:nvPr/>
        </p:nvSpPr>
        <p:spPr>
          <a:xfrm>
            <a:off x="9098280" y="1901952"/>
            <a:ext cx="1645920" cy="274320"/>
          </a:xfrm>
          <a:prstGeom prst="rect">
            <a:avLst/>
          </a:prstGeom>
          <a:noFill/>
          <a:ln/>
        </p:spPr>
        <p:txBody>
          <a:bodyPr wrap="square" lIns="0" tIns="0" rIns="0" bIns="0" rtlCol="0" anchor="ctr">
            <a:normAutofit/>
          </a:bodyPr>
          <a:lstStyle/>
          <a:p>
            <a:pPr algn="ctr" indent="0" marL="0">
              <a:buNone/>
            </a:pPr>
            <a:r>
              <a:rPr lang="en-US" sz="2050" b="1" dirty="0">
                <a:solidFill>
                  <a:srgbClr val="163A5F"/>
                </a:solidFill>
              </a:rPr>
              <a:t>1560–1580 ℃</a:t>
            </a:r>
            <a:endParaRPr lang="en-US" sz="2050" dirty="0"/>
          </a:p>
        </p:txBody>
      </p:sp>
      <p:sp>
        <p:nvSpPr>
          <p:cNvPr id="17" name="Text 15"/>
          <p:cNvSpPr/>
          <p:nvPr/>
        </p:nvSpPr>
        <p:spPr>
          <a:xfrm>
            <a:off x="9079992" y="2276856"/>
            <a:ext cx="1682496" cy="155448"/>
          </a:xfrm>
          <a:prstGeom prst="rect">
            <a:avLst/>
          </a:prstGeom>
          <a:noFill/>
          <a:ln/>
        </p:spPr>
        <p:txBody>
          <a:bodyPr wrap="square" lIns="0" tIns="0" rIns="0" bIns="0" rtlCol="0" anchor="ctr">
            <a:normAutofit/>
          </a:bodyPr>
          <a:lstStyle/>
          <a:p>
            <a:pPr algn="ctr" indent="0" marL="0">
              <a:buNone/>
            </a:pPr>
            <a:r>
              <a:rPr lang="en-US" sz="930" dirty="0">
                <a:solidFill>
                  <a:srgbClr val="5F6B7A"/>
                </a:solidFill>
              </a:rPr>
              <a:t>温度窗口</a:t>
            </a:r>
            <a:endParaRPr lang="en-US" sz="930" dirty="0"/>
          </a:p>
        </p:txBody>
      </p:sp>
      <p:sp>
        <p:nvSpPr>
          <p:cNvPr id="18" name="Shape 16"/>
          <p:cNvSpPr/>
          <p:nvPr/>
        </p:nvSpPr>
        <p:spPr>
          <a:xfrm>
            <a:off x="4617720" y="3035808"/>
            <a:ext cx="6309360" cy="1901952"/>
          </a:xfrm>
          <a:prstGeom prst="roundRect">
            <a:avLst>
              <a:gd name="adj" fmla="val 1923"/>
            </a:avLst>
          </a:prstGeom>
          <a:solidFill>
            <a:srgbClr val="FFF8F0"/>
          </a:solidFill>
          <a:ln w="12700">
            <a:solidFill>
              <a:srgbClr val="E9C89D"/>
            </a:solidFill>
            <a:prstDash val="solid"/>
          </a:ln>
          <a:effectLst>
            <a:outerShdw sx="100000" sy="100000" kx="0" ky="0" algn="bl" rotWithShape="0" blurRad="12700" dist="50800" dir="2700000">
              <a:srgbClr val="CBD5E1">
                <a:alpha val="12000"/>
              </a:srgbClr>
            </a:outerShdw>
          </a:effectLst>
        </p:spPr>
      </p:sp>
      <p:sp>
        <p:nvSpPr>
          <p:cNvPr id="19" name="Text 17"/>
          <p:cNvSpPr/>
          <p:nvPr/>
        </p:nvSpPr>
        <p:spPr>
          <a:xfrm>
            <a:off x="4764024" y="3145536"/>
            <a:ext cx="6016752" cy="256032"/>
          </a:xfrm>
          <a:prstGeom prst="rect">
            <a:avLst/>
          </a:prstGeom>
          <a:noFill/>
          <a:ln/>
        </p:spPr>
        <p:txBody>
          <a:bodyPr wrap="square" lIns="0" tIns="0" rIns="0" bIns="0" rtlCol="0" anchor="ctr">
            <a:normAutofit/>
          </a:bodyPr>
          <a:lstStyle/>
          <a:p>
            <a:pPr indent="0" marL="0">
              <a:buNone/>
            </a:pPr>
            <a:r>
              <a:rPr lang="en-US" sz="1450" b="1" dirty="0">
                <a:solidFill>
                  <a:srgbClr val="D97A2B"/>
                </a:solidFill>
              </a:rPr>
              <a:t>工程取值</a:t>
            </a:r>
            <a:endParaRPr lang="en-US" sz="1450" dirty="0"/>
          </a:p>
        </p:txBody>
      </p:sp>
      <p:sp>
        <p:nvSpPr>
          <p:cNvPr id="20" name="Text 18"/>
          <p:cNvSpPr/>
          <p:nvPr/>
        </p:nvSpPr>
        <p:spPr>
          <a:xfrm>
            <a:off x="4764024" y="3429000"/>
            <a:ext cx="6016752" cy="1408176"/>
          </a:xfrm>
          <a:prstGeom prst="rect">
            <a:avLst/>
          </a:prstGeom>
          <a:noFill/>
          <a:ln/>
        </p:spPr>
        <p:txBody>
          <a:bodyPr wrap="square" lIns="0" tIns="0" rIns="0" bIns="0" rtlCol="0" anchor="t">
            <a:normAutofit/>
          </a:bodyPr>
          <a:lstStyle/>
          <a:p>
            <a:pPr indent="0" marL="0">
              <a:lnSpc>
                <a:spcPct val="108000"/>
              </a:lnSpc>
              <a:buNone/>
            </a:pPr>
            <a:r>
              <a:rPr lang="en-US" sz="1220" dirty="0">
                <a:solidFill>
                  <a:srgbClr val="243447"/>
                </a:solidFill>
              </a:rPr>
              <a:t>综合缺陷控制与后续高应力区组织细化需求，论文实际试验将浇注温度定为 1570 ℃。这一窗口在保证平稳充型与顺序补缩的同时，避免盲目追求高温导致晶粒粗化。</a:t>
            </a:r>
            <a:endParaRPr lang="en-US" sz="1220" dirty="0"/>
          </a:p>
        </p:txBody>
      </p:sp>
      <p:sp>
        <p:nvSpPr>
          <p:cNvPr id="21" name="Shape 19"/>
          <p:cNvSpPr/>
          <p:nvPr/>
        </p:nvSpPr>
        <p:spPr>
          <a:xfrm>
            <a:off x="4617720" y="5166360"/>
            <a:ext cx="6309360" cy="566928"/>
          </a:xfrm>
          <a:prstGeom prst="roundRect">
            <a:avLst>
              <a:gd name="adj" fmla="val 6452"/>
            </a:avLst>
          </a:prstGeom>
          <a:solidFill>
            <a:srgbClr val="F7FAF7"/>
          </a:solidFill>
          <a:ln w="12700">
            <a:solidFill>
              <a:srgbClr val="C7DFC7"/>
            </a:solidFill>
            <a:prstDash val="solid"/>
          </a:ln>
          <a:effectLst>
            <a:outerShdw sx="100000" sy="100000" kx="0" ky="0" algn="bl" rotWithShape="0" blurRad="12700" dist="50800" dir="2700000">
              <a:srgbClr val="CBD5E1">
                <a:alpha val="12000"/>
              </a:srgbClr>
            </a:outerShdw>
          </a:effectLst>
        </p:spPr>
      </p:sp>
      <p:sp>
        <p:nvSpPr>
          <p:cNvPr id="22" name="Text 20"/>
          <p:cNvSpPr/>
          <p:nvPr/>
        </p:nvSpPr>
        <p:spPr>
          <a:xfrm>
            <a:off x="4764024" y="5276088"/>
            <a:ext cx="6016752" cy="256032"/>
          </a:xfrm>
          <a:prstGeom prst="rect">
            <a:avLst/>
          </a:prstGeom>
          <a:noFill/>
          <a:ln/>
        </p:spPr>
        <p:txBody>
          <a:bodyPr wrap="square" lIns="0" tIns="0" rIns="0" bIns="0" rtlCol="0" anchor="ctr">
            <a:normAutofit/>
          </a:bodyPr>
          <a:lstStyle/>
          <a:p>
            <a:pPr indent="0" marL="0">
              <a:buNone/>
            </a:pPr>
            <a:r>
              <a:rPr lang="en-US" sz="1200" b="1" dirty="0">
                <a:solidFill>
                  <a:srgbClr val="2E8B57"/>
                </a:solidFill>
              </a:rPr>
              <a:t>结论</a:t>
            </a:r>
            <a:endParaRPr lang="en-US" sz="1200" dirty="0"/>
          </a:p>
        </p:txBody>
      </p:sp>
      <p:sp>
        <p:nvSpPr>
          <p:cNvPr id="23" name="Text 21"/>
          <p:cNvSpPr/>
          <p:nvPr/>
        </p:nvSpPr>
        <p:spPr>
          <a:xfrm>
            <a:off x="4764024" y="5559552"/>
            <a:ext cx="6016752" cy="73152"/>
          </a:xfrm>
          <a:prstGeom prst="rect">
            <a:avLst/>
          </a:prstGeom>
          <a:noFill/>
          <a:ln/>
        </p:spPr>
        <p:txBody>
          <a:bodyPr wrap="square" lIns="0" tIns="0" rIns="0" bIns="0" rtlCol="0" anchor="t">
            <a:normAutofit/>
          </a:bodyPr>
          <a:lstStyle/>
          <a:p>
            <a:pPr indent="0" marL="0">
              <a:lnSpc>
                <a:spcPct val="108000"/>
              </a:lnSpc>
              <a:buNone/>
            </a:pPr>
            <a:r>
              <a:rPr lang="en-US" sz="1080" dirty="0">
                <a:solidFill>
                  <a:srgbClr val="243447"/>
                </a:solidFill>
              </a:rPr>
              <a:t>缺陷控制不能只看缩孔体积最小值，还要兼顾后续强度和组织演化。</a:t>
            </a:r>
            <a:endParaRPr lang="en-US" sz="1080" dirty="0"/>
          </a:p>
        </p:txBody>
      </p:sp>
      <p:sp>
        <p:nvSpPr>
          <p:cNvPr id="24" name="Text 22"/>
          <p:cNvSpPr/>
          <p:nvPr/>
        </p:nvSpPr>
        <p:spPr>
          <a:xfrm>
            <a:off x="658368" y="6537960"/>
            <a:ext cx="2103120" cy="164592"/>
          </a:xfrm>
          <a:prstGeom prst="rect">
            <a:avLst/>
          </a:prstGeom>
          <a:noFill/>
          <a:ln/>
        </p:spPr>
        <p:txBody>
          <a:bodyPr wrap="square" lIns="0" tIns="0" rIns="0" bIns="0" rtlCol="0" anchor="ctr"/>
          <a:lstStyle/>
          <a:p>
            <a:pPr indent="0" marL="0">
              <a:buNone/>
            </a:pPr>
            <a:r>
              <a:rPr lang="en-US" sz="800" dirty="0">
                <a:solidFill>
                  <a:srgbClr val="5F6B7A"/>
                </a:solidFill>
              </a:rPr>
              <a:t>博士学位论文预答辩</a:t>
            </a:r>
            <a:endParaRPr lang="en-US" sz="800" dirty="0"/>
          </a:p>
        </p:txBody>
      </p:sp>
      <p:sp>
        <p:nvSpPr>
          <p:cNvPr id="25" name="Text 23"/>
          <p:cNvSpPr/>
          <p:nvPr/>
        </p:nvSpPr>
        <p:spPr>
          <a:xfrm>
            <a:off x="11109960" y="6510528"/>
            <a:ext cx="411480" cy="182880"/>
          </a:xfrm>
          <a:prstGeom prst="rect">
            <a:avLst/>
          </a:prstGeom>
          <a:noFill/>
          <a:ln/>
        </p:spPr>
        <p:txBody>
          <a:bodyPr wrap="square" lIns="0" tIns="0" rIns="0" bIns="0" rtlCol="0" anchor="ctr"/>
          <a:lstStyle/>
          <a:p>
            <a:pPr algn="r" indent="0" marL="0">
              <a:buNone/>
            </a:pPr>
            <a:r>
              <a:rPr lang="en-US" sz="850" dirty="0">
                <a:solidFill>
                  <a:srgbClr val="5F6B7A"/>
                </a:solidFill>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63A5F"/>
          </a:solidFill>
          <a:ln w="12700">
            <a:solidFill>
              <a:srgbClr val="163A5F">
                <a:alpha val="0"/>
              </a:srgbClr>
            </a:solidFill>
            <a:prstDash val="solid"/>
          </a:ln>
        </p:spPr>
      </p:sp>
      <p:sp>
        <p:nvSpPr>
          <p:cNvPr id="3" name="Shape 1"/>
          <p:cNvSpPr/>
          <p:nvPr/>
        </p:nvSpPr>
        <p:spPr>
          <a:xfrm>
            <a:off x="548640" y="6510528"/>
            <a:ext cx="11064240" cy="0"/>
          </a:xfrm>
          <a:prstGeom prst="line">
            <a:avLst/>
          </a:prstGeom>
          <a:noFill/>
          <a:ln w="12700">
            <a:solidFill>
              <a:srgbClr val="D7DEE7"/>
            </a:solidFill>
            <a:prstDash val="solid"/>
          </a:ln>
        </p:spPr>
      </p:sp>
      <p:sp>
        <p:nvSpPr>
          <p:cNvPr id="4" name="Text 2"/>
          <p:cNvSpPr/>
          <p:nvPr/>
        </p:nvSpPr>
        <p:spPr>
          <a:xfrm>
            <a:off x="640080" y="411480"/>
            <a:ext cx="7863840" cy="411480"/>
          </a:xfrm>
          <a:prstGeom prst="rect">
            <a:avLst/>
          </a:prstGeom>
          <a:noFill/>
          <a:ln/>
        </p:spPr>
        <p:txBody>
          <a:bodyPr wrap="square" lIns="0" tIns="0" rIns="0" bIns="0" rtlCol="0" anchor="ctr"/>
          <a:lstStyle/>
          <a:p>
            <a:pPr indent="0" marL="0">
              <a:buNone/>
            </a:pPr>
            <a:r>
              <a:rPr lang="en-US" sz="2400" b="1" dirty="0">
                <a:solidFill>
                  <a:srgbClr val="163A5F"/>
                </a:solidFill>
              </a:rPr>
              <a:t>第三章：缩孔群映射与非均质承压模型</a:t>
            </a:r>
            <a:endParaRPr lang="en-US" sz="2400" dirty="0"/>
          </a:p>
        </p:txBody>
      </p:sp>
      <p:sp>
        <p:nvSpPr>
          <p:cNvPr id="5" name="Text 3"/>
          <p:cNvSpPr/>
          <p:nvPr/>
        </p:nvSpPr>
        <p:spPr>
          <a:xfrm>
            <a:off x="658368" y="841248"/>
            <a:ext cx="8961120" cy="182880"/>
          </a:xfrm>
          <a:prstGeom prst="rect">
            <a:avLst/>
          </a:prstGeom>
          <a:noFill/>
          <a:ln/>
        </p:spPr>
        <p:txBody>
          <a:bodyPr wrap="square" lIns="0" tIns="0" rIns="0" bIns="0" rtlCol="0" anchor="ctr"/>
          <a:lstStyle/>
          <a:p>
            <a:pPr indent="0" marL="0">
              <a:buNone/>
            </a:pPr>
            <a:r>
              <a:rPr lang="en-US" sz="950" dirty="0">
                <a:solidFill>
                  <a:srgbClr val="5F6B7A"/>
                </a:solidFill>
              </a:rPr>
              <a:t>从制造缺陷数据到结构有限元评价</a:t>
            </a:r>
            <a:endParaRPr lang="en-US" sz="950" dirty="0"/>
          </a:p>
        </p:txBody>
      </p:sp>
      <p:sp>
        <p:nvSpPr>
          <p:cNvPr id="6" name="Shape 4"/>
          <p:cNvSpPr/>
          <p:nvPr/>
        </p:nvSpPr>
        <p:spPr>
          <a:xfrm>
            <a:off x="777240" y="1325880"/>
            <a:ext cx="5303520" cy="4480560"/>
          </a:xfrm>
          <a:prstGeom prst="roundRect">
            <a:avLst>
              <a:gd name="adj" fmla="val 816"/>
            </a:avLst>
          </a:prstGeom>
          <a:solidFill>
            <a:srgbClr val="F6F8FB"/>
          </a:solidFill>
          <a:ln w="12700">
            <a:solidFill>
              <a:srgbClr val="D7DEE7"/>
            </a:solidFill>
            <a:prstDash val="solid"/>
          </a:ln>
          <a:effectLst>
            <a:outerShdw sx="100000" sy="100000" kx="0" ky="0" algn="bl" rotWithShape="0" blurRad="12700" dist="50800" dir="2700000">
              <a:srgbClr val="CBD5E1">
                <a:alpha val="12000"/>
              </a:srgbClr>
            </a:outerShdw>
          </a:effectLst>
        </p:spPr>
      </p:sp>
      <p:sp>
        <p:nvSpPr>
          <p:cNvPr id="7" name="Text 5"/>
          <p:cNvSpPr/>
          <p:nvPr/>
        </p:nvSpPr>
        <p:spPr>
          <a:xfrm>
            <a:off x="923544" y="1435608"/>
            <a:ext cx="5010912" cy="256032"/>
          </a:xfrm>
          <a:prstGeom prst="rect">
            <a:avLst/>
          </a:prstGeom>
          <a:noFill/>
          <a:ln/>
        </p:spPr>
        <p:txBody>
          <a:bodyPr wrap="square" lIns="0" tIns="0" rIns="0" bIns="0" rtlCol="0" anchor="ctr">
            <a:normAutofit/>
          </a:bodyPr>
          <a:lstStyle/>
          <a:p>
            <a:pPr indent="0" marL="0">
              <a:buNone/>
            </a:pPr>
            <a:r>
              <a:rPr lang="en-US" sz="1450" b="1" dirty="0">
                <a:solidFill>
                  <a:srgbClr val="163A5F"/>
                </a:solidFill>
              </a:rPr>
              <a:t>建模思路</a:t>
            </a:r>
            <a:endParaRPr lang="en-US" sz="1450" dirty="0"/>
          </a:p>
        </p:txBody>
      </p:sp>
      <p:sp>
        <p:nvSpPr>
          <p:cNvPr id="8" name="Text 6"/>
          <p:cNvSpPr/>
          <p:nvPr/>
        </p:nvSpPr>
        <p:spPr>
          <a:xfrm>
            <a:off x="923544" y="1719072"/>
            <a:ext cx="5010912" cy="3986784"/>
          </a:xfrm>
          <a:prstGeom prst="rect">
            <a:avLst/>
          </a:prstGeom>
          <a:noFill/>
          <a:ln/>
        </p:spPr>
        <p:txBody>
          <a:bodyPr wrap="square" lIns="0" tIns="0" rIns="0" bIns="0" rtlCol="0" anchor="t">
            <a:normAutofit/>
          </a:bodyPr>
          <a:lstStyle/>
          <a:p>
            <a:pPr indent="0" marL="0">
              <a:lnSpc>
                <a:spcPct val="108000"/>
              </a:lnSpc>
              <a:buNone/>
            </a:pPr>
            <a:r>
              <a:rPr lang="en-US" sz="1250" dirty="0">
                <a:solidFill>
                  <a:srgbClr val="243447"/>
                </a:solidFill>
              </a:rPr>
              <a:t>1. 提取 ProCAST 计算得到的三维局部缩孔率场。</a:t>
            </a:r>
            <a:endParaRPr lang="en-US" sz="1250" dirty="0"/>
          </a:p>
          <a:p>
            <a:pPr indent="0" marL="0">
              <a:lnSpc>
                <a:spcPct val="108000"/>
              </a:lnSpc>
              <a:buNone/>
            </a:pPr>
            <a:r>
              <a:rPr lang="en-US" sz="1250" dirty="0">
                <a:solidFill>
                  <a:srgbClr val="243447"/>
                </a:solidFill>
              </a:rPr>
              <a:t>2. 通过映射算法将离散孔隙信息无损传递到结构力学网格。</a:t>
            </a:r>
            <a:endParaRPr lang="en-US" sz="1250" dirty="0"/>
          </a:p>
          <a:p>
            <a:pPr indent="0" marL="0">
              <a:lnSpc>
                <a:spcPct val="108000"/>
              </a:lnSpc>
              <a:buNone/>
            </a:pPr>
            <a:r>
              <a:rPr lang="en-US" sz="1250" dirty="0">
                <a:solidFill>
                  <a:srgbClr val="243447"/>
                </a:solidFill>
              </a:rPr>
              <a:t>3. 在有限元模型中以连续体积损伤形式反映材料刚度与强度退化。</a:t>
            </a:r>
            <a:endParaRPr lang="en-US" sz="1250" dirty="0"/>
          </a:p>
          <a:p>
            <a:pPr indent="0" marL="0">
              <a:lnSpc>
                <a:spcPct val="108000"/>
              </a:lnSpc>
              <a:buNone/>
            </a:pPr>
            <a:r>
              <a:rPr lang="en-US" sz="1250" dirty="0">
                <a:solidFill>
                  <a:srgbClr val="243447"/>
                </a:solidFill>
              </a:rPr>
              <a:t>4. 在此基础上对阀体危险服役边界进行多轴受力分析与失效评估。</a:t>
            </a:r>
            <a:endParaRPr lang="en-US" sz="1250" dirty="0"/>
          </a:p>
        </p:txBody>
      </p:sp>
      <p:pic>
        <p:nvPicPr>
          <p:cNvPr id="9" name="Image 0" descr="/tmp/thesis_ppt_assets/image173.png">    </p:cNvPr>
          <p:cNvPicPr>
            <a:picLocks noChangeAspect="1"/>
          </p:cNvPicPr>
          <p:nvPr/>
        </p:nvPicPr>
        <p:blipFill>
          <a:blip r:embed="rId1"/>
          <a:srcRect l="0" r="0" t="0" b="0"/>
          <a:stretch/>
        </p:blipFill>
        <p:spPr>
          <a:xfrm>
            <a:off x="6400800" y="1444752"/>
            <a:ext cx="5074920" cy="3749040"/>
          </a:xfrm>
          <a:prstGeom prst="rect">
            <a:avLst/>
          </a:prstGeom>
        </p:spPr>
      </p:pic>
      <p:sp>
        <p:nvSpPr>
          <p:cNvPr id="10" name="Text 7"/>
          <p:cNvSpPr/>
          <p:nvPr/>
        </p:nvSpPr>
        <p:spPr>
          <a:xfrm>
            <a:off x="6473952" y="5230368"/>
            <a:ext cx="4846320" cy="201168"/>
          </a:xfrm>
          <a:prstGeom prst="rect">
            <a:avLst/>
          </a:prstGeom>
          <a:noFill/>
          <a:ln/>
        </p:spPr>
        <p:txBody>
          <a:bodyPr wrap="square" lIns="0" tIns="0" rIns="0" bIns="0" rtlCol="0" anchor="ctr"/>
          <a:lstStyle/>
          <a:p>
            <a:pPr algn="ctr" indent="0" marL="0">
              <a:buNone/>
            </a:pPr>
            <a:r>
              <a:rPr lang="en-US" sz="840" i="1" dirty="0">
                <a:solidFill>
                  <a:srgbClr val="5F6B7A"/>
                </a:solidFill>
              </a:rPr>
              <a:t>论文图3.8：不同工况下的 Mises 应力对比</a:t>
            </a:r>
            <a:endParaRPr lang="en-US" sz="840" dirty="0"/>
          </a:p>
        </p:txBody>
      </p:sp>
      <p:sp>
        <p:nvSpPr>
          <p:cNvPr id="11" name="Shape 8"/>
          <p:cNvSpPr/>
          <p:nvPr/>
        </p:nvSpPr>
        <p:spPr>
          <a:xfrm>
            <a:off x="6492240" y="5440680"/>
            <a:ext cx="4754880" cy="384048"/>
          </a:xfrm>
          <a:prstGeom prst="roundRect">
            <a:avLst>
              <a:gd name="adj" fmla="val 9524"/>
            </a:avLst>
          </a:prstGeom>
          <a:solidFill>
            <a:srgbClr val="F6FBFB"/>
          </a:solidFill>
          <a:ln w="12700">
            <a:solidFill>
              <a:srgbClr val="B7DFDF"/>
            </a:solidFill>
            <a:prstDash val="solid"/>
          </a:ln>
          <a:effectLst>
            <a:outerShdw sx="100000" sy="100000" kx="0" ky="0" algn="bl" rotWithShape="0" blurRad="12700" dist="50800" dir="2700000">
              <a:srgbClr val="CBD5E1">
                <a:alpha val="12000"/>
              </a:srgbClr>
            </a:outerShdw>
          </a:effectLst>
        </p:spPr>
      </p:sp>
      <p:sp>
        <p:nvSpPr>
          <p:cNvPr id="12" name="Text 9"/>
          <p:cNvSpPr/>
          <p:nvPr/>
        </p:nvSpPr>
        <p:spPr>
          <a:xfrm>
            <a:off x="6638544" y="5550408"/>
            <a:ext cx="4462272" cy="256032"/>
          </a:xfrm>
          <a:prstGeom prst="rect">
            <a:avLst/>
          </a:prstGeom>
          <a:noFill/>
          <a:ln/>
        </p:spPr>
        <p:txBody>
          <a:bodyPr wrap="square" lIns="0" tIns="0" rIns="0" bIns="0" rtlCol="0" anchor="ctr">
            <a:normAutofit/>
          </a:bodyPr>
          <a:lstStyle/>
          <a:p>
            <a:pPr indent="0" marL="0">
              <a:buNone/>
            </a:pPr>
            <a:r>
              <a:rPr lang="en-US" sz="1160" b="1" dirty="0">
                <a:solidFill>
                  <a:srgbClr val="1F8A8A"/>
                </a:solidFill>
              </a:rPr>
              <a:t>目标</a:t>
            </a:r>
            <a:endParaRPr lang="en-US" sz="1160" dirty="0"/>
          </a:p>
        </p:txBody>
      </p:sp>
      <p:sp>
        <p:nvSpPr>
          <p:cNvPr id="13" name="Text 10"/>
          <p:cNvSpPr/>
          <p:nvPr/>
        </p:nvSpPr>
        <p:spPr>
          <a:xfrm>
            <a:off x="6638544" y="5833872"/>
            <a:ext cx="4462272" cy="-109728"/>
          </a:xfrm>
          <a:prstGeom prst="rect">
            <a:avLst/>
          </a:prstGeom>
          <a:noFill/>
          <a:ln/>
        </p:spPr>
        <p:txBody>
          <a:bodyPr wrap="square" lIns="0" tIns="0" rIns="0" bIns="0" rtlCol="0" anchor="t">
            <a:normAutofit/>
          </a:bodyPr>
          <a:lstStyle/>
          <a:p>
            <a:pPr indent="0" marL="0">
              <a:lnSpc>
                <a:spcPct val="108000"/>
              </a:lnSpc>
              <a:buNone/>
            </a:pPr>
            <a:r>
              <a:rPr lang="en-US" sz="1060" dirty="0">
                <a:solidFill>
                  <a:srgbClr val="243447"/>
                </a:solidFill>
              </a:rPr>
              <a:t>识别真实危险区，而不是仅追踪表面峰值应力。</a:t>
            </a:r>
            <a:endParaRPr lang="en-US" sz="1060" dirty="0"/>
          </a:p>
        </p:txBody>
      </p:sp>
      <p:sp>
        <p:nvSpPr>
          <p:cNvPr id="14" name="Text 11"/>
          <p:cNvSpPr/>
          <p:nvPr/>
        </p:nvSpPr>
        <p:spPr>
          <a:xfrm>
            <a:off x="658368" y="6537960"/>
            <a:ext cx="2103120" cy="164592"/>
          </a:xfrm>
          <a:prstGeom prst="rect">
            <a:avLst/>
          </a:prstGeom>
          <a:noFill/>
          <a:ln/>
        </p:spPr>
        <p:txBody>
          <a:bodyPr wrap="square" lIns="0" tIns="0" rIns="0" bIns="0" rtlCol="0" anchor="ctr"/>
          <a:lstStyle/>
          <a:p>
            <a:pPr indent="0" marL="0">
              <a:buNone/>
            </a:pPr>
            <a:r>
              <a:rPr lang="en-US" sz="800" dirty="0">
                <a:solidFill>
                  <a:srgbClr val="5F6B7A"/>
                </a:solidFill>
              </a:rPr>
              <a:t>博士学位论文预答辩</a:t>
            </a:r>
            <a:endParaRPr lang="en-US" sz="800" dirty="0"/>
          </a:p>
        </p:txBody>
      </p:sp>
      <p:sp>
        <p:nvSpPr>
          <p:cNvPr id="15" name="Text 12"/>
          <p:cNvSpPr/>
          <p:nvPr/>
        </p:nvSpPr>
        <p:spPr>
          <a:xfrm>
            <a:off x="11109960" y="6510528"/>
            <a:ext cx="411480" cy="182880"/>
          </a:xfrm>
          <a:prstGeom prst="rect">
            <a:avLst/>
          </a:prstGeom>
          <a:noFill/>
          <a:ln/>
        </p:spPr>
        <p:txBody>
          <a:bodyPr wrap="square" lIns="0" tIns="0" rIns="0" bIns="0" rtlCol="0" anchor="ctr"/>
          <a:lstStyle/>
          <a:p>
            <a:pPr algn="r" indent="0" marL="0">
              <a:buNone/>
            </a:pPr>
            <a:r>
              <a:rPr lang="en-US" sz="850" dirty="0">
                <a:solidFill>
                  <a:srgbClr val="5F6B7A"/>
                </a:solidFill>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63A5F"/>
          </a:solidFill>
          <a:ln w="12700">
            <a:solidFill>
              <a:srgbClr val="163A5F">
                <a:alpha val="0"/>
              </a:srgbClr>
            </a:solidFill>
            <a:prstDash val="solid"/>
          </a:ln>
        </p:spPr>
      </p:sp>
      <p:sp>
        <p:nvSpPr>
          <p:cNvPr id="3" name="Shape 1"/>
          <p:cNvSpPr/>
          <p:nvPr/>
        </p:nvSpPr>
        <p:spPr>
          <a:xfrm>
            <a:off x="548640" y="6510528"/>
            <a:ext cx="11064240" cy="0"/>
          </a:xfrm>
          <a:prstGeom prst="line">
            <a:avLst/>
          </a:prstGeom>
          <a:noFill/>
          <a:ln w="12700">
            <a:solidFill>
              <a:srgbClr val="D7DEE7"/>
            </a:solidFill>
            <a:prstDash val="solid"/>
          </a:ln>
        </p:spPr>
      </p:sp>
      <p:sp>
        <p:nvSpPr>
          <p:cNvPr id="4" name="Text 2"/>
          <p:cNvSpPr/>
          <p:nvPr/>
        </p:nvSpPr>
        <p:spPr>
          <a:xfrm>
            <a:off x="640080" y="411480"/>
            <a:ext cx="7863840" cy="411480"/>
          </a:xfrm>
          <a:prstGeom prst="rect">
            <a:avLst/>
          </a:prstGeom>
          <a:noFill/>
          <a:ln/>
        </p:spPr>
        <p:txBody>
          <a:bodyPr wrap="square" lIns="0" tIns="0" rIns="0" bIns="0" rtlCol="0" anchor="ctr"/>
          <a:lstStyle/>
          <a:p>
            <a:pPr indent="0" marL="0">
              <a:buNone/>
            </a:pPr>
            <a:r>
              <a:rPr lang="en-US" sz="2400" b="1" dirty="0">
                <a:solidFill>
                  <a:srgbClr val="163A5F"/>
                </a:solidFill>
              </a:rPr>
              <a:t>第三章：缩孔群的非对称演化机制</a:t>
            </a:r>
            <a:endParaRPr lang="en-US" sz="2400" dirty="0"/>
          </a:p>
        </p:txBody>
      </p:sp>
      <p:sp>
        <p:nvSpPr>
          <p:cNvPr id="5" name="Text 3"/>
          <p:cNvSpPr/>
          <p:nvPr/>
        </p:nvSpPr>
        <p:spPr>
          <a:xfrm>
            <a:off x="658368" y="841248"/>
            <a:ext cx="8961120" cy="182880"/>
          </a:xfrm>
          <a:prstGeom prst="rect">
            <a:avLst/>
          </a:prstGeom>
          <a:noFill/>
          <a:ln/>
        </p:spPr>
        <p:txBody>
          <a:bodyPr wrap="square" lIns="0" tIns="0" rIns="0" bIns="0" rtlCol="0" anchor="ctr"/>
          <a:lstStyle/>
          <a:p>
            <a:pPr indent="0" marL="0">
              <a:buNone/>
            </a:pPr>
            <a:r>
              <a:rPr lang="en-US" sz="950" dirty="0">
                <a:solidFill>
                  <a:srgbClr val="5F6B7A"/>
                </a:solidFill>
              </a:rPr>
              <a:t>宏观几何对称并不意味着缺陷分布对称</a:t>
            </a:r>
            <a:endParaRPr lang="en-US" sz="950" dirty="0"/>
          </a:p>
        </p:txBody>
      </p:sp>
      <p:pic>
        <p:nvPicPr>
          <p:cNvPr id="6" name="Image 0" descr="/tmp/thesis_ppt_assets/image174.png">    </p:cNvPr>
          <p:cNvPicPr>
            <a:picLocks noChangeAspect="1"/>
          </p:cNvPicPr>
          <p:nvPr/>
        </p:nvPicPr>
        <p:blipFill>
          <a:blip r:embed="rId1"/>
          <a:srcRect l="0" r="0" t="0" b="0"/>
          <a:stretch/>
        </p:blipFill>
        <p:spPr>
          <a:xfrm>
            <a:off x="731520" y="1353312"/>
            <a:ext cx="5897880" cy="4526280"/>
          </a:xfrm>
          <a:prstGeom prst="rect">
            <a:avLst/>
          </a:prstGeom>
        </p:spPr>
      </p:pic>
      <p:sp>
        <p:nvSpPr>
          <p:cNvPr id="7" name="Text 4"/>
          <p:cNvSpPr/>
          <p:nvPr/>
        </p:nvSpPr>
        <p:spPr>
          <a:xfrm>
            <a:off x="914400" y="5870448"/>
            <a:ext cx="5486400" cy="201168"/>
          </a:xfrm>
          <a:prstGeom prst="rect">
            <a:avLst/>
          </a:prstGeom>
          <a:noFill/>
          <a:ln/>
        </p:spPr>
        <p:txBody>
          <a:bodyPr wrap="square" lIns="0" tIns="0" rIns="0" bIns="0" rtlCol="0" anchor="ctr"/>
          <a:lstStyle/>
          <a:p>
            <a:pPr algn="ctr" indent="0" marL="0">
              <a:buNone/>
            </a:pPr>
            <a:r>
              <a:rPr lang="en-US" sz="840" i="1" dirty="0">
                <a:solidFill>
                  <a:srgbClr val="5F6B7A"/>
                </a:solidFill>
              </a:rPr>
              <a:t>论文图3.10：理想阀体与含缩孔阀体的应力分布对比</a:t>
            </a:r>
            <a:endParaRPr lang="en-US" sz="840" dirty="0"/>
          </a:p>
        </p:txBody>
      </p:sp>
      <p:sp>
        <p:nvSpPr>
          <p:cNvPr id="8" name="Shape 5"/>
          <p:cNvSpPr/>
          <p:nvPr/>
        </p:nvSpPr>
        <p:spPr>
          <a:xfrm>
            <a:off x="6903720" y="1508760"/>
            <a:ext cx="4434840" cy="4251960"/>
          </a:xfrm>
          <a:prstGeom prst="roundRect">
            <a:avLst>
              <a:gd name="adj" fmla="val 860"/>
            </a:avLst>
          </a:prstGeom>
          <a:solidFill>
            <a:srgbClr val="FFF8F0"/>
          </a:solidFill>
          <a:ln w="12700">
            <a:solidFill>
              <a:srgbClr val="E9C89D"/>
            </a:solidFill>
            <a:prstDash val="solid"/>
          </a:ln>
          <a:effectLst>
            <a:outerShdw sx="100000" sy="100000" kx="0" ky="0" algn="bl" rotWithShape="0" blurRad="12700" dist="50800" dir="2700000">
              <a:srgbClr val="CBD5E1">
                <a:alpha val="12000"/>
              </a:srgbClr>
            </a:outerShdw>
          </a:effectLst>
        </p:spPr>
      </p:sp>
      <p:sp>
        <p:nvSpPr>
          <p:cNvPr id="9" name="Text 6"/>
          <p:cNvSpPr/>
          <p:nvPr/>
        </p:nvSpPr>
        <p:spPr>
          <a:xfrm>
            <a:off x="7050024" y="1618488"/>
            <a:ext cx="4142232" cy="256032"/>
          </a:xfrm>
          <a:prstGeom prst="rect">
            <a:avLst/>
          </a:prstGeom>
          <a:noFill/>
          <a:ln/>
        </p:spPr>
        <p:txBody>
          <a:bodyPr wrap="square" lIns="0" tIns="0" rIns="0" bIns="0" rtlCol="0" anchor="ctr">
            <a:normAutofit/>
          </a:bodyPr>
          <a:lstStyle/>
          <a:p>
            <a:pPr indent="0" marL="0">
              <a:buNone/>
            </a:pPr>
            <a:r>
              <a:rPr lang="en-US" sz="1450" b="1" dirty="0">
                <a:solidFill>
                  <a:srgbClr val="D97A2B"/>
                </a:solidFill>
              </a:rPr>
              <a:t>机理认识</a:t>
            </a:r>
            <a:endParaRPr lang="en-US" sz="1450" dirty="0"/>
          </a:p>
        </p:txBody>
      </p:sp>
      <p:sp>
        <p:nvSpPr>
          <p:cNvPr id="10" name="Text 7"/>
          <p:cNvSpPr/>
          <p:nvPr/>
        </p:nvSpPr>
        <p:spPr>
          <a:xfrm>
            <a:off x="7050024" y="1901952"/>
            <a:ext cx="4142232" cy="3758184"/>
          </a:xfrm>
          <a:prstGeom prst="rect">
            <a:avLst/>
          </a:prstGeom>
          <a:noFill/>
          <a:ln/>
        </p:spPr>
        <p:txBody>
          <a:bodyPr wrap="square" lIns="0" tIns="0" rIns="0" bIns="0" rtlCol="0" anchor="t">
            <a:normAutofit/>
          </a:bodyPr>
          <a:lstStyle/>
          <a:p>
            <a:pPr indent="0" marL="0">
              <a:lnSpc>
                <a:spcPct val="108000"/>
              </a:lnSpc>
              <a:buNone/>
            </a:pPr>
            <a:r>
              <a:rPr lang="en-US" sz="1210" dirty="0">
                <a:solidFill>
                  <a:srgbClr val="243447"/>
                </a:solidFill>
              </a:rPr>
              <a:t>1. 虽然阀体宏观几何近似对称，但充型末期受中腔挡板阻流影响，会形成大尺度环流。</a:t>
            </a:r>
            <a:endParaRPr lang="en-US" sz="1210" dirty="0"/>
          </a:p>
          <a:p>
            <a:pPr indent="0" marL="0">
              <a:lnSpc>
                <a:spcPct val="108000"/>
              </a:lnSpc>
              <a:buNone/>
            </a:pPr>
            <a:r>
              <a:rPr lang="en-US" sz="1210" dirty="0">
                <a:solidFill>
                  <a:srgbClr val="243447"/>
                </a:solidFill>
              </a:rPr>
              <a:t>2. 环流导致热焓输运出现明显偏置，热中心漂移并诱发非对称糊状区闭合。</a:t>
            </a:r>
            <a:endParaRPr lang="en-US" sz="1210" dirty="0"/>
          </a:p>
          <a:p>
            <a:pPr indent="0" marL="0">
              <a:lnSpc>
                <a:spcPct val="108000"/>
              </a:lnSpc>
              <a:buNone/>
            </a:pPr>
            <a:r>
              <a:rPr lang="en-US" sz="1210" dirty="0">
                <a:solidFill>
                  <a:srgbClr val="243447"/>
                </a:solidFill>
              </a:rPr>
              <a:t>3. 最终在局部形成空间分布与体量均失衡的缩孔群，而非理想的均匀小缺陷。</a:t>
            </a:r>
            <a:endParaRPr lang="en-US" sz="1210" dirty="0"/>
          </a:p>
          <a:p>
            <a:pPr indent="0" marL="0">
              <a:lnSpc>
                <a:spcPct val="108000"/>
              </a:lnSpc>
              <a:buNone/>
            </a:pPr>
            <a:r>
              <a:rPr lang="en-US" sz="1210" dirty="0">
                <a:solidFill>
                  <a:srgbClr val="243447"/>
                </a:solidFill>
              </a:rPr>
              <a:t>4. 这类非对称缩孔群会进一步干预局部刚度与应力传递路径。</a:t>
            </a:r>
            <a:endParaRPr lang="en-US" sz="1210" dirty="0"/>
          </a:p>
        </p:txBody>
      </p:sp>
      <p:sp>
        <p:nvSpPr>
          <p:cNvPr id="11" name="Text 8"/>
          <p:cNvSpPr/>
          <p:nvPr/>
        </p:nvSpPr>
        <p:spPr>
          <a:xfrm>
            <a:off x="658368" y="6537960"/>
            <a:ext cx="2103120" cy="164592"/>
          </a:xfrm>
          <a:prstGeom prst="rect">
            <a:avLst/>
          </a:prstGeom>
          <a:noFill/>
          <a:ln/>
        </p:spPr>
        <p:txBody>
          <a:bodyPr wrap="square" lIns="0" tIns="0" rIns="0" bIns="0" rtlCol="0" anchor="ctr"/>
          <a:lstStyle/>
          <a:p>
            <a:pPr indent="0" marL="0">
              <a:buNone/>
            </a:pPr>
            <a:r>
              <a:rPr lang="en-US" sz="800" dirty="0">
                <a:solidFill>
                  <a:srgbClr val="5F6B7A"/>
                </a:solidFill>
              </a:rPr>
              <a:t>博士学位论文预答辩</a:t>
            </a:r>
            <a:endParaRPr lang="en-US" sz="800" dirty="0"/>
          </a:p>
        </p:txBody>
      </p:sp>
      <p:sp>
        <p:nvSpPr>
          <p:cNvPr id="12" name="Text 9"/>
          <p:cNvSpPr/>
          <p:nvPr/>
        </p:nvSpPr>
        <p:spPr>
          <a:xfrm>
            <a:off x="11109960" y="6510528"/>
            <a:ext cx="411480" cy="182880"/>
          </a:xfrm>
          <a:prstGeom prst="rect">
            <a:avLst/>
          </a:prstGeom>
          <a:noFill/>
          <a:ln/>
        </p:spPr>
        <p:txBody>
          <a:bodyPr wrap="square" lIns="0" tIns="0" rIns="0" bIns="0" rtlCol="0" anchor="ctr"/>
          <a:lstStyle/>
          <a:p>
            <a:pPr algn="r" indent="0" marL="0">
              <a:buNone/>
            </a:pPr>
            <a:r>
              <a:rPr lang="en-US" sz="850" dirty="0">
                <a:solidFill>
                  <a:srgbClr val="5F6B7A"/>
                </a:solidFill>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63A5F"/>
          </a:solidFill>
          <a:ln w="12700">
            <a:solidFill>
              <a:srgbClr val="163A5F">
                <a:alpha val="0"/>
              </a:srgbClr>
            </a:solidFill>
            <a:prstDash val="solid"/>
          </a:ln>
        </p:spPr>
      </p:sp>
      <p:sp>
        <p:nvSpPr>
          <p:cNvPr id="3" name="Shape 1"/>
          <p:cNvSpPr/>
          <p:nvPr/>
        </p:nvSpPr>
        <p:spPr>
          <a:xfrm>
            <a:off x="548640" y="6510528"/>
            <a:ext cx="11064240" cy="0"/>
          </a:xfrm>
          <a:prstGeom prst="line">
            <a:avLst/>
          </a:prstGeom>
          <a:noFill/>
          <a:ln w="12700">
            <a:solidFill>
              <a:srgbClr val="D7DEE7"/>
            </a:solidFill>
            <a:prstDash val="solid"/>
          </a:ln>
        </p:spPr>
      </p:sp>
      <p:sp>
        <p:nvSpPr>
          <p:cNvPr id="4" name="Text 2"/>
          <p:cNvSpPr/>
          <p:nvPr/>
        </p:nvSpPr>
        <p:spPr>
          <a:xfrm>
            <a:off x="640080" y="411480"/>
            <a:ext cx="7863840" cy="411480"/>
          </a:xfrm>
          <a:prstGeom prst="rect">
            <a:avLst/>
          </a:prstGeom>
          <a:noFill/>
          <a:ln/>
        </p:spPr>
        <p:txBody>
          <a:bodyPr wrap="square" lIns="0" tIns="0" rIns="0" bIns="0" rtlCol="0" anchor="ctr"/>
          <a:lstStyle/>
          <a:p>
            <a:pPr indent="0" marL="0">
              <a:buNone/>
            </a:pPr>
            <a:r>
              <a:rPr lang="en-US" sz="2400" b="1" dirty="0">
                <a:solidFill>
                  <a:srgbClr val="163A5F"/>
                </a:solidFill>
              </a:rPr>
              <a:t>第三章：应力畸变与评价参量</a:t>
            </a:r>
            <a:endParaRPr lang="en-US" sz="2400" dirty="0"/>
          </a:p>
        </p:txBody>
      </p:sp>
      <p:sp>
        <p:nvSpPr>
          <p:cNvPr id="5" name="Text 3"/>
          <p:cNvSpPr/>
          <p:nvPr/>
        </p:nvSpPr>
        <p:spPr>
          <a:xfrm>
            <a:off x="658368" y="841248"/>
            <a:ext cx="8961120" cy="182880"/>
          </a:xfrm>
          <a:prstGeom prst="rect">
            <a:avLst/>
          </a:prstGeom>
          <a:noFill/>
          <a:ln/>
        </p:spPr>
        <p:txBody>
          <a:bodyPr wrap="square" lIns="0" tIns="0" rIns="0" bIns="0" rtlCol="0" anchor="ctr"/>
          <a:lstStyle/>
          <a:p>
            <a:pPr indent="0" marL="0">
              <a:buNone/>
            </a:pPr>
            <a:r>
              <a:rPr lang="en-US" sz="950" dirty="0">
                <a:solidFill>
                  <a:srgbClr val="5F6B7A"/>
                </a:solidFill>
              </a:rPr>
              <a:t>局部最大应力并非含缺陷超静定壳体的最佳判据</a:t>
            </a:r>
            <a:endParaRPr lang="en-US" sz="950" dirty="0"/>
          </a:p>
        </p:txBody>
      </p:sp>
      <p:pic>
        <p:nvPicPr>
          <p:cNvPr id="6" name="Image 0" descr="/tmp/thesis_ppt_assets/image183.png">    </p:cNvPr>
          <p:cNvPicPr>
            <a:picLocks noChangeAspect="1"/>
          </p:cNvPicPr>
          <p:nvPr/>
        </p:nvPicPr>
        <p:blipFill>
          <a:blip r:embed="rId1"/>
          <a:srcRect l="0" r="0" t="0" b="0"/>
          <a:stretch/>
        </p:blipFill>
        <p:spPr>
          <a:xfrm>
            <a:off x="731520" y="1325880"/>
            <a:ext cx="6400800" cy="4526280"/>
          </a:xfrm>
          <a:prstGeom prst="rect">
            <a:avLst/>
          </a:prstGeom>
        </p:spPr>
      </p:pic>
      <p:sp>
        <p:nvSpPr>
          <p:cNvPr id="7" name="Text 4"/>
          <p:cNvSpPr/>
          <p:nvPr/>
        </p:nvSpPr>
        <p:spPr>
          <a:xfrm>
            <a:off x="914400" y="5852160"/>
            <a:ext cx="6035040" cy="201168"/>
          </a:xfrm>
          <a:prstGeom prst="rect">
            <a:avLst/>
          </a:prstGeom>
          <a:noFill/>
          <a:ln/>
        </p:spPr>
        <p:txBody>
          <a:bodyPr wrap="square" lIns="0" tIns="0" rIns="0" bIns="0" rtlCol="0" anchor="ctr"/>
          <a:lstStyle/>
          <a:p>
            <a:pPr algn="ctr" indent="0" marL="0">
              <a:buNone/>
            </a:pPr>
            <a:r>
              <a:rPr lang="en-US" sz="840" i="1" dirty="0">
                <a:solidFill>
                  <a:srgbClr val="5F6B7A"/>
                </a:solidFill>
              </a:rPr>
              <a:t>论文图3.11–3.15：缩孔对壁厚内应力与危险截面的影响</a:t>
            </a:r>
            <a:endParaRPr lang="en-US" sz="840" dirty="0"/>
          </a:p>
        </p:txBody>
      </p:sp>
      <p:sp>
        <p:nvSpPr>
          <p:cNvPr id="8" name="Shape 5"/>
          <p:cNvSpPr/>
          <p:nvPr/>
        </p:nvSpPr>
        <p:spPr>
          <a:xfrm>
            <a:off x="7406640" y="1481328"/>
            <a:ext cx="3886200" cy="1143000"/>
          </a:xfrm>
          <a:prstGeom prst="roundRect">
            <a:avLst>
              <a:gd name="adj" fmla="val 3200"/>
            </a:avLst>
          </a:prstGeom>
          <a:solidFill>
            <a:srgbClr val="F6FBFB"/>
          </a:solidFill>
          <a:ln w="12700">
            <a:solidFill>
              <a:srgbClr val="B7DFDF"/>
            </a:solidFill>
            <a:prstDash val="solid"/>
          </a:ln>
          <a:effectLst>
            <a:outerShdw sx="100000" sy="100000" kx="0" ky="0" algn="bl" rotWithShape="0" blurRad="12700" dist="50800" dir="2700000">
              <a:srgbClr val="CBD5E1">
                <a:alpha val="12000"/>
              </a:srgbClr>
            </a:outerShdw>
          </a:effectLst>
        </p:spPr>
      </p:sp>
      <p:sp>
        <p:nvSpPr>
          <p:cNvPr id="9" name="Text 6"/>
          <p:cNvSpPr/>
          <p:nvPr/>
        </p:nvSpPr>
        <p:spPr>
          <a:xfrm>
            <a:off x="7552944" y="1591056"/>
            <a:ext cx="3593592" cy="256032"/>
          </a:xfrm>
          <a:prstGeom prst="rect">
            <a:avLst/>
          </a:prstGeom>
          <a:noFill/>
          <a:ln/>
        </p:spPr>
        <p:txBody>
          <a:bodyPr wrap="square" lIns="0" tIns="0" rIns="0" bIns="0" rtlCol="0" anchor="ctr">
            <a:normAutofit/>
          </a:bodyPr>
          <a:lstStyle/>
          <a:p>
            <a:pPr indent="0" marL="0">
              <a:buNone/>
            </a:pPr>
            <a:r>
              <a:rPr lang="en-US" sz="1450" b="1" dirty="0">
                <a:solidFill>
                  <a:srgbClr val="1F8A8A"/>
                </a:solidFill>
              </a:rPr>
              <a:t>发现 1</a:t>
            </a:r>
            <a:endParaRPr lang="en-US" sz="1450" dirty="0"/>
          </a:p>
        </p:txBody>
      </p:sp>
      <p:sp>
        <p:nvSpPr>
          <p:cNvPr id="10" name="Text 7"/>
          <p:cNvSpPr/>
          <p:nvPr/>
        </p:nvSpPr>
        <p:spPr>
          <a:xfrm>
            <a:off x="7552944" y="1874520"/>
            <a:ext cx="3593592" cy="649224"/>
          </a:xfrm>
          <a:prstGeom prst="rect">
            <a:avLst/>
          </a:prstGeom>
          <a:noFill/>
          <a:ln/>
        </p:spPr>
        <p:txBody>
          <a:bodyPr wrap="square" lIns="0" tIns="0" rIns="0" bIns="0" rtlCol="0" anchor="t">
            <a:normAutofit/>
          </a:bodyPr>
          <a:lstStyle/>
          <a:p>
            <a:pPr indent="0" marL="0">
              <a:lnSpc>
                <a:spcPct val="108000"/>
              </a:lnSpc>
              <a:buNone/>
            </a:pPr>
            <a:r>
              <a:rPr lang="en-US" sz="1150" dirty="0">
                <a:solidFill>
                  <a:srgbClr val="243447"/>
                </a:solidFill>
              </a:rPr>
              <a:t>缩孔群会引发局部软化、卸载和应力绕流，峰值位置出现空间游离。</a:t>
            </a:r>
            <a:endParaRPr lang="en-US" sz="1150" dirty="0"/>
          </a:p>
        </p:txBody>
      </p:sp>
      <p:sp>
        <p:nvSpPr>
          <p:cNvPr id="11" name="Shape 8"/>
          <p:cNvSpPr/>
          <p:nvPr/>
        </p:nvSpPr>
        <p:spPr>
          <a:xfrm>
            <a:off x="7406640" y="2798064"/>
            <a:ext cx="3886200" cy="1143000"/>
          </a:xfrm>
          <a:prstGeom prst="roundRect">
            <a:avLst>
              <a:gd name="adj" fmla="val 3200"/>
            </a:avLst>
          </a:prstGeom>
          <a:solidFill>
            <a:srgbClr val="FFF7EE"/>
          </a:solidFill>
          <a:ln w="12700">
            <a:solidFill>
              <a:srgbClr val="F0D0AD"/>
            </a:solidFill>
            <a:prstDash val="solid"/>
          </a:ln>
          <a:effectLst>
            <a:outerShdw sx="100000" sy="100000" kx="0" ky="0" algn="bl" rotWithShape="0" blurRad="12700" dist="50800" dir="2700000">
              <a:srgbClr val="CBD5E1">
                <a:alpha val="12000"/>
              </a:srgbClr>
            </a:outerShdw>
          </a:effectLst>
        </p:spPr>
      </p:sp>
      <p:sp>
        <p:nvSpPr>
          <p:cNvPr id="12" name="Text 9"/>
          <p:cNvSpPr/>
          <p:nvPr/>
        </p:nvSpPr>
        <p:spPr>
          <a:xfrm>
            <a:off x="7552944" y="2907792"/>
            <a:ext cx="3593592" cy="256032"/>
          </a:xfrm>
          <a:prstGeom prst="rect">
            <a:avLst/>
          </a:prstGeom>
          <a:noFill/>
          <a:ln/>
        </p:spPr>
        <p:txBody>
          <a:bodyPr wrap="square" lIns="0" tIns="0" rIns="0" bIns="0" rtlCol="0" anchor="ctr">
            <a:normAutofit/>
          </a:bodyPr>
          <a:lstStyle/>
          <a:p>
            <a:pPr indent="0" marL="0">
              <a:buNone/>
            </a:pPr>
            <a:r>
              <a:rPr lang="en-US" sz="1450" b="1" dirty="0">
                <a:solidFill>
                  <a:srgbClr val="D97A2B"/>
                </a:solidFill>
              </a:rPr>
              <a:t>发现 2</a:t>
            </a:r>
            <a:endParaRPr lang="en-US" sz="1450" dirty="0"/>
          </a:p>
        </p:txBody>
      </p:sp>
      <p:sp>
        <p:nvSpPr>
          <p:cNvPr id="13" name="Text 10"/>
          <p:cNvSpPr/>
          <p:nvPr/>
        </p:nvSpPr>
        <p:spPr>
          <a:xfrm>
            <a:off x="7552944" y="3191256"/>
            <a:ext cx="3593592" cy="649224"/>
          </a:xfrm>
          <a:prstGeom prst="rect">
            <a:avLst/>
          </a:prstGeom>
          <a:noFill/>
          <a:ln/>
        </p:spPr>
        <p:txBody>
          <a:bodyPr wrap="square" lIns="0" tIns="0" rIns="0" bIns="0" rtlCol="0" anchor="t">
            <a:normAutofit/>
          </a:bodyPr>
          <a:lstStyle/>
          <a:p>
            <a:pPr indent="0" marL="0">
              <a:lnSpc>
                <a:spcPct val="108000"/>
              </a:lnSpc>
              <a:buNone/>
            </a:pPr>
            <a:r>
              <a:rPr lang="en-US" sz="1150" dirty="0">
                <a:solidFill>
                  <a:srgbClr val="243447"/>
                </a:solidFill>
              </a:rPr>
              <a:t>危险区本质上是“高应力需求”与“低承载容量”发生空间重叠的区域。</a:t>
            </a:r>
            <a:endParaRPr lang="en-US" sz="1150" dirty="0"/>
          </a:p>
        </p:txBody>
      </p:sp>
      <p:sp>
        <p:nvSpPr>
          <p:cNvPr id="14" name="Shape 11"/>
          <p:cNvSpPr/>
          <p:nvPr/>
        </p:nvSpPr>
        <p:spPr>
          <a:xfrm>
            <a:off x="7406640" y="4114800"/>
            <a:ext cx="3886200" cy="1143000"/>
          </a:xfrm>
          <a:prstGeom prst="roundRect">
            <a:avLst>
              <a:gd name="adj" fmla="val 3200"/>
            </a:avLst>
          </a:prstGeom>
          <a:solidFill>
            <a:srgbClr val="F7FAF7"/>
          </a:solidFill>
          <a:ln w="12700">
            <a:solidFill>
              <a:srgbClr val="C7DFC7"/>
            </a:solidFill>
            <a:prstDash val="solid"/>
          </a:ln>
          <a:effectLst>
            <a:outerShdw sx="100000" sy="100000" kx="0" ky="0" algn="bl" rotWithShape="0" blurRad="12700" dist="50800" dir="2700000">
              <a:srgbClr val="CBD5E1">
                <a:alpha val="12000"/>
              </a:srgbClr>
            </a:outerShdw>
          </a:effectLst>
        </p:spPr>
      </p:sp>
      <p:sp>
        <p:nvSpPr>
          <p:cNvPr id="15" name="Text 12"/>
          <p:cNvSpPr/>
          <p:nvPr/>
        </p:nvSpPr>
        <p:spPr>
          <a:xfrm>
            <a:off x="7552944" y="4224528"/>
            <a:ext cx="3593592" cy="256032"/>
          </a:xfrm>
          <a:prstGeom prst="rect">
            <a:avLst/>
          </a:prstGeom>
          <a:noFill/>
          <a:ln/>
        </p:spPr>
        <p:txBody>
          <a:bodyPr wrap="square" lIns="0" tIns="0" rIns="0" bIns="0" rtlCol="0" anchor="ctr">
            <a:normAutofit/>
          </a:bodyPr>
          <a:lstStyle/>
          <a:p>
            <a:pPr indent="0" marL="0">
              <a:buNone/>
            </a:pPr>
            <a:r>
              <a:rPr lang="en-US" sz="1450" b="1" dirty="0">
                <a:solidFill>
                  <a:srgbClr val="2E8B57"/>
                </a:solidFill>
              </a:rPr>
              <a:t>结论</a:t>
            </a:r>
            <a:endParaRPr lang="en-US" sz="1450" dirty="0"/>
          </a:p>
        </p:txBody>
      </p:sp>
      <p:sp>
        <p:nvSpPr>
          <p:cNvPr id="16" name="Text 13"/>
          <p:cNvSpPr/>
          <p:nvPr/>
        </p:nvSpPr>
        <p:spPr>
          <a:xfrm>
            <a:off x="7552944" y="4507992"/>
            <a:ext cx="3593592" cy="649224"/>
          </a:xfrm>
          <a:prstGeom prst="rect">
            <a:avLst/>
          </a:prstGeom>
          <a:noFill/>
          <a:ln/>
        </p:spPr>
        <p:txBody>
          <a:bodyPr wrap="square" lIns="0" tIns="0" rIns="0" bIns="0" rtlCol="0" anchor="t">
            <a:normAutofit/>
          </a:bodyPr>
          <a:lstStyle/>
          <a:p>
            <a:pPr indent="0" marL="0">
              <a:lnSpc>
                <a:spcPct val="108000"/>
              </a:lnSpc>
              <a:buNone/>
            </a:pPr>
            <a:r>
              <a:rPr lang="en-US" sz="1150" dirty="0">
                <a:solidFill>
                  <a:srgbClr val="243447"/>
                </a:solidFill>
              </a:rPr>
              <a:t>截面壁厚平均应力（薄膜应力）与缺陷拓扑更同频，可作为更可靠的损伤容限评价参量。</a:t>
            </a:r>
            <a:endParaRPr lang="en-US" sz="1150" dirty="0"/>
          </a:p>
        </p:txBody>
      </p:sp>
      <p:sp>
        <p:nvSpPr>
          <p:cNvPr id="17" name="Text 14"/>
          <p:cNvSpPr/>
          <p:nvPr/>
        </p:nvSpPr>
        <p:spPr>
          <a:xfrm>
            <a:off x="658368" y="6537960"/>
            <a:ext cx="2103120" cy="164592"/>
          </a:xfrm>
          <a:prstGeom prst="rect">
            <a:avLst/>
          </a:prstGeom>
          <a:noFill/>
          <a:ln/>
        </p:spPr>
        <p:txBody>
          <a:bodyPr wrap="square" lIns="0" tIns="0" rIns="0" bIns="0" rtlCol="0" anchor="ctr"/>
          <a:lstStyle/>
          <a:p>
            <a:pPr indent="0" marL="0">
              <a:buNone/>
            </a:pPr>
            <a:r>
              <a:rPr lang="en-US" sz="800" dirty="0">
                <a:solidFill>
                  <a:srgbClr val="5F6B7A"/>
                </a:solidFill>
              </a:rPr>
              <a:t>博士学位论文预答辩</a:t>
            </a:r>
            <a:endParaRPr lang="en-US" sz="800" dirty="0"/>
          </a:p>
        </p:txBody>
      </p:sp>
      <p:sp>
        <p:nvSpPr>
          <p:cNvPr id="18" name="Text 15"/>
          <p:cNvSpPr/>
          <p:nvPr/>
        </p:nvSpPr>
        <p:spPr>
          <a:xfrm>
            <a:off x="11109960" y="6510528"/>
            <a:ext cx="411480" cy="182880"/>
          </a:xfrm>
          <a:prstGeom prst="rect">
            <a:avLst/>
          </a:prstGeom>
          <a:noFill/>
          <a:ln/>
        </p:spPr>
        <p:txBody>
          <a:bodyPr wrap="square" lIns="0" tIns="0" rIns="0" bIns="0" rtlCol="0" anchor="ctr"/>
          <a:lstStyle/>
          <a:p>
            <a:pPr algn="r" indent="0" marL="0">
              <a:buNone/>
            </a:pPr>
            <a:r>
              <a:rPr lang="en-US" sz="850" dirty="0">
                <a:solidFill>
                  <a:srgbClr val="5F6B7A"/>
                </a:solidFill>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63A5F"/>
          </a:solidFill>
          <a:ln w="12700">
            <a:solidFill>
              <a:srgbClr val="163A5F">
                <a:alpha val="0"/>
              </a:srgbClr>
            </a:solidFill>
            <a:prstDash val="solid"/>
          </a:ln>
        </p:spPr>
      </p:sp>
      <p:sp>
        <p:nvSpPr>
          <p:cNvPr id="3" name="Shape 1"/>
          <p:cNvSpPr/>
          <p:nvPr/>
        </p:nvSpPr>
        <p:spPr>
          <a:xfrm>
            <a:off x="548640" y="6510528"/>
            <a:ext cx="11064240" cy="0"/>
          </a:xfrm>
          <a:prstGeom prst="line">
            <a:avLst/>
          </a:prstGeom>
          <a:noFill/>
          <a:ln w="12700">
            <a:solidFill>
              <a:srgbClr val="D7DEE7"/>
            </a:solidFill>
            <a:prstDash val="solid"/>
          </a:ln>
        </p:spPr>
      </p:sp>
      <p:sp>
        <p:nvSpPr>
          <p:cNvPr id="4" name="Text 2"/>
          <p:cNvSpPr/>
          <p:nvPr/>
        </p:nvSpPr>
        <p:spPr>
          <a:xfrm>
            <a:off x="640080" y="411480"/>
            <a:ext cx="7863840" cy="411480"/>
          </a:xfrm>
          <a:prstGeom prst="rect">
            <a:avLst/>
          </a:prstGeom>
          <a:noFill/>
          <a:ln/>
        </p:spPr>
        <p:txBody>
          <a:bodyPr wrap="square" lIns="0" tIns="0" rIns="0" bIns="0" rtlCol="0" anchor="ctr"/>
          <a:lstStyle/>
          <a:p>
            <a:pPr indent="0" marL="0">
              <a:buNone/>
            </a:pPr>
            <a:r>
              <a:rPr lang="en-US" sz="2400" b="1" dirty="0">
                <a:solidFill>
                  <a:srgbClr val="163A5F"/>
                </a:solidFill>
              </a:rPr>
              <a:t>第四章：高应力区晶粒组织预测方法</a:t>
            </a:r>
            <a:endParaRPr lang="en-US" sz="2400" dirty="0"/>
          </a:p>
        </p:txBody>
      </p:sp>
      <p:sp>
        <p:nvSpPr>
          <p:cNvPr id="5" name="Text 3"/>
          <p:cNvSpPr/>
          <p:nvPr/>
        </p:nvSpPr>
        <p:spPr>
          <a:xfrm>
            <a:off x="658368" y="841248"/>
            <a:ext cx="8961120" cy="182880"/>
          </a:xfrm>
          <a:prstGeom prst="rect">
            <a:avLst/>
          </a:prstGeom>
          <a:noFill/>
          <a:ln/>
        </p:spPr>
        <p:txBody>
          <a:bodyPr wrap="square" lIns="0" tIns="0" rIns="0" bIns="0" rtlCol="0" anchor="ctr"/>
          <a:lstStyle/>
          <a:p>
            <a:pPr indent="0" marL="0">
              <a:buNone/>
            </a:pPr>
            <a:r>
              <a:rPr lang="en-US" sz="950" dirty="0">
                <a:solidFill>
                  <a:srgbClr val="5F6B7A"/>
                </a:solidFill>
              </a:rPr>
              <a:t>CAFE跨尺度耦合模型与参数标定</a:t>
            </a:r>
            <a:endParaRPr lang="en-US" sz="950" dirty="0"/>
          </a:p>
        </p:txBody>
      </p:sp>
      <p:pic>
        <p:nvPicPr>
          <p:cNvPr id="6" name="Image 0" descr="/tmp/thesis_ppt_assets/image275.png">    </p:cNvPr>
          <p:cNvPicPr>
            <a:picLocks noChangeAspect="1"/>
          </p:cNvPicPr>
          <p:nvPr/>
        </p:nvPicPr>
        <p:blipFill>
          <a:blip r:embed="rId1"/>
          <a:srcRect l="0" r="0" t="0" b="0"/>
          <a:stretch/>
        </p:blipFill>
        <p:spPr>
          <a:xfrm>
            <a:off x="868680" y="1444752"/>
            <a:ext cx="3246120" cy="4297680"/>
          </a:xfrm>
          <a:prstGeom prst="rect">
            <a:avLst/>
          </a:prstGeom>
        </p:spPr>
      </p:pic>
      <p:sp>
        <p:nvSpPr>
          <p:cNvPr id="7" name="Text 4"/>
          <p:cNvSpPr/>
          <p:nvPr/>
        </p:nvSpPr>
        <p:spPr>
          <a:xfrm>
            <a:off x="914400" y="5760720"/>
            <a:ext cx="3108960" cy="201168"/>
          </a:xfrm>
          <a:prstGeom prst="rect">
            <a:avLst/>
          </a:prstGeom>
          <a:noFill/>
          <a:ln/>
        </p:spPr>
        <p:txBody>
          <a:bodyPr wrap="square" lIns="0" tIns="0" rIns="0" bIns="0" rtlCol="0" anchor="ctr"/>
          <a:lstStyle/>
          <a:p>
            <a:pPr algn="ctr" indent="0" marL="0">
              <a:buNone/>
            </a:pPr>
            <a:r>
              <a:rPr lang="en-US" sz="840" i="1" dirty="0">
                <a:solidFill>
                  <a:srgbClr val="5F6B7A"/>
                </a:solidFill>
              </a:rPr>
              <a:t>论文图4.2：CAFE凝固组织模拟流程</a:t>
            </a:r>
            <a:endParaRPr lang="en-US" sz="840" dirty="0"/>
          </a:p>
        </p:txBody>
      </p:sp>
      <p:pic>
        <p:nvPicPr>
          <p:cNvPr id="8" name="Image 1" descr="/tmp/thesis_ppt_assets/image218.png">    </p:cNvPr>
          <p:cNvPicPr>
            <a:picLocks noChangeAspect="1"/>
          </p:cNvPicPr>
          <p:nvPr/>
        </p:nvPicPr>
        <p:blipFill>
          <a:blip r:embed="rId2"/>
          <a:srcRect l="0" r="0" t="0" b="0"/>
          <a:stretch/>
        </p:blipFill>
        <p:spPr>
          <a:xfrm>
            <a:off x="4434840" y="1609344"/>
            <a:ext cx="2423160" cy="2743200"/>
          </a:xfrm>
          <a:prstGeom prst="rect">
            <a:avLst/>
          </a:prstGeom>
        </p:spPr>
      </p:pic>
      <p:sp>
        <p:nvSpPr>
          <p:cNvPr id="9" name="Text 5"/>
          <p:cNvSpPr/>
          <p:nvPr/>
        </p:nvSpPr>
        <p:spPr>
          <a:xfrm>
            <a:off x="4526280" y="4407408"/>
            <a:ext cx="2240280" cy="201168"/>
          </a:xfrm>
          <a:prstGeom prst="rect">
            <a:avLst/>
          </a:prstGeom>
          <a:noFill/>
          <a:ln/>
        </p:spPr>
        <p:txBody>
          <a:bodyPr wrap="square" lIns="0" tIns="0" rIns="0" bIns="0" rtlCol="0" anchor="ctr"/>
          <a:lstStyle/>
          <a:p>
            <a:pPr algn="ctr" indent="0" marL="0">
              <a:buNone/>
            </a:pPr>
            <a:r>
              <a:rPr lang="en-US" sz="840" i="1" dirty="0">
                <a:solidFill>
                  <a:srgbClr val="5F6B7A"/>
                </a:solidFill>
              </a:rPr>
              <a:t>论文图4.1：体/面形核参数高斯分布</a:t>
            </a:r>
            <a:endParaRPr lang="en-US" sz="840" dirty="0"/>
          </a:p>
        </p:txBody>
      </p:sp>
      <p:sp>
        <p:nvSpPr>
          <p:cNvPr id="10" name="Text 6"/>
          <p:cNvSpPr/>
          <p:nvPr/>
        </p:nvSpPr>
        <p:spPr>
          <a:xfrm>
            <a:off x="7269480" y="1572768"/>
            <a:ext cx="3749040" cy="2971800"/>
          </a:xfrm>
          <a:prstGeom prst="rect">
            <a:avLst/>
          </a:prstGeom>
          <a:noFill/>
          <a:ln/>
        </p:spPr>
        <p:txBody>
          <a:bodyPr wrap="square" lIns="0" tIns="0" rIns="0" bIns="0" rtlCol="0" anchor="t">
            <a:normAutofit/>
          </a:bodyPr>
          <a:lstStyle/>
          <a:p>
            <a:pPr marL="228600" indent="-228600">
              <a:lnSpc>
                <a:spcPct val="112000"/>
              </a:lnSpc>
              <a:buSzPct val="100000"/>
              <a:buChar char="•"/>
            </a:pPr>
            <a:r>
              <a:rPr lang="en-US" sz="1220" dirty="0">
                <a:solidFill>
                  <a:srgbClr val="243447"/>
                </a:solidFill>
              </a:rPr>
              <a:t>宏观有限元负责计算全域温度场与凝固边界条件，元胞自动机负责局部相变和晶粒竞争生长。</a:t>
            </a:r>
            <a:endParaRPr lang="en-US" sz="1220" dirty="0"/>
          </a:p>
          <a:p>
            <a:pPr marL="228600" indent="-228600">
              <a:lnSpc>
                <a:spcPct val="112000"/>
              </a:lnSpc>
              <a:buSzPct val="100000"/>
              <a:buChar char="•"/>
            </a:pPr>
            <a:r>
              <a:rPr lang="en-US" sz="1220" dirty="0">
                <a:solidFill>
                  <a:srgbClr val="243447"/>
                </a:solidFill>
              </a:rPr>
              <a:t>模型区分面形核与体形核参数，采用连续非均匀形核模型描述异质形核过程。</a:t>
            </a:r>
            <a:endParaRPr lang="en-US" sz="1220" dirty="0"/>
          </a:p>
          <a:p>
            <a:pPr marL="228600" indent="-228600">
              <a:lnSpc>
                <a:spcPct val="112000"/>
              </a:lnSpc>
              <a:buSzPct val="100000"/>
              <a:buChar char="•"/>
            </a:pPr>
            <a:r>
              <a:rPr lang="en-US" sz="1220" dirty="0">
                <a:solidFill>
                  <a:srgbClr val="243447"/>
                </a:solidFill>
              </a:rPr>
              <a:t>结合标准圆柱试块的低倍酸洗与金相实验，对形核和生长动力学参数进行标定。</a:t>
            </a:r>
            <a:endParaRPr lang="en-US" sz="1220" dirty="0"/>
          </a:p>
        </p:txBody>
      </p:sp>
      <p:sp>
        <p:nvSpPr>
          <p:cNvPr id="11" name="Shape 7"/>
          <p:cNvSpPr/>
          <p:nvPr/>
        </p:nvSpPr>
        <p:spPr>
          <a:xfrm>
            <a:off x="4434840" y="4892040"/>
            <a:ext cx="6675120" cy="777240"/>
          </a:xfrm>
          <a:prstGeom prst="roundRect">
            <a:avLst>
              <a:gd name="adj" fmla="val 4706"/>
            </a:avLst>
          </a:prstGeom>
          <a:solidFill>
            <a:srgbClr val="F7FAF7"/>
          </a:solidFill>
          <a:ln w="12700">
            <a:solidFill>
              <a:srgbClr val="C7DFC7"/>
            </a:solidFill>
            <a:prstDash val="solid"/>
          </a:ln>
          <a:effectLst>
            <a:outerShdw sx="100000" sy="100000" kx="0" ky="0" algn="bl" rotWithShape="0" blurRad="12700" dist="50800" dir="2700000">
              <a:srgbClr val="CBD5E1">
                <a:alpha val="12000"/>
              </a:srgbClr>
            </a:outerShdw>
          </a:effectLst>
        </p:spPr>
      </p:sp>
      <p:sp>
        <p:nvSpPr>
          <p:cNvPr id="12" name="Text 8"/>
          <p:cNvSpPr/>
          <p:nvPr/>
        </p:nvSpPr>
        <p:spPr>
          <a:xfrm>
            <a:off x="4581144" y="5001768"/>
            <a:ext cx="6382512" cy="256032"/>
          </a:xfrm>
          <a:prstGeom prst="rect">
            <a:avLst/>
          </a:prstGeom>
          <a:noFill/>
          <a:ln/>
        </p:spPr>
        <p:txBody>
          <a:bodyPr wrap="square" lIns="0" tIns="0" rIns="0" bIns="0" rtlCol="0" anchor="ctr">
            <a:normAutofit/>
          </a:bodyPr>
          <a:lstStyle/>
          <a:p>
            <a:pPr indent="0" marL="0">
              <a:buNone/>
            </a:pPr>
            <a:r>
              <a:rPr lang="en-US" sz="1240" b="1" dirty="0">
                <a:solidFill>
                  <a:srgbClr val="2E8B57"/>
                </a:solidFill>
              </a:rPr>
              <a:t>目的</a:t>
            </a:r>
            <a:endParaRPr lang="en-US" sz="1240" dirty="0"/>
          </a:p>
        </p:txBody>
      </p:sp>
      <p:sp>
        <p:nvSpPr>
          <p:cNvPr id="13" name="Text 9"/>
          <p:cNvSpPr/>
          <p:nvPr/>
        </p:nvSpPr>
        <p:spPr>
          <a:xfrm>
            <a:off x="4581144" y="5285232"/>
            <a:ext cx="6382512" cy="283464"/>
          </a:xfrm>
          <a:prstGeom prst="rect">
            <a:avLst/>
          </a:prstGeom>
          <a:noFill/>
          <a:ln/>
        </p:spPr>
        <p:txBody>
          <a:bodyPr wrap="square" lIns="0" tIns="0" rIns="0" bIns="0" rtlCol="0" anchor="t">
            <a:normAutofit/>
          </a:bodyPr>
          <a:lstStyle/>
          <a:p>
            <a:pPr indent="0" marL="0">
              <a:lnSpc>
                <a:spcPct val="108000"/>
              </a:lnSpc>
              <a:buNone/>
            </a:pPr>
            <a:r>
              <a:rPr lang="en-US" sz="1120" dirty="0">
                <a:solidFill>
                  <a:srgbClr val="243447"/>
                </a:solidFill>
              </a:rPr>
              <a:t>把第三章识别出的高应力危险区，进一步转化为微观组织强化的精确干预靶点。</a:t>
            </a:r>
            <a:endParaRPr lang="en-US" sz="1120" dirty="0"/>
          </a:p>
        </p:txBody>
      </p:sp>
      <p:sp>
        <p:nvSpPr>
          <p:cNvPr id="14" name="Text 10"/>
          <p:cNvSpPr/>
          <p:nvPr/>
        </p:nvSpPr>
        <p:spPr>
          <a:xfrm>
            <a:off x="658368" y="6537960"/>
            <a:ext cx="2103120" cy="164592"/>
          </a:xfrm>
          <a:prstGeom prst="rect">
            <a:avLst/>
          </a:prstGeom>
          <a:noFill/>
          <a:ln/>
        </p:spPr>
        <p:txBody>
          <a:bodyPr wrap="square" lIns="0" tIns="0" rIns="0" bIns="0" rtlCol="0" anchor="ctr"/>
          <a:lstStyle/>
          <a:p>
            <a:pPr indent="0" marL="0">
              <a:buNone/>
            </a:pPr>
            <a:r>
              <a:rPr lang="en-US" sz="800" dirty="0">
                <a:solidFill>
                  <a:srgbClr val="5F6B7A"/>
                </a:solidFill>
              </a:rPr>
              <a:t>博士学位论文预答辩</a:t>
            </a:r>
            <a:endParaRPr lang="en-US" sz="800" dirty="0"/>
          </a:p>
        </p:txBody>
      </p:sp>
      <p:sp>
        <p:nvSpPr>
          <p:cNvPr id="15" name="Text 11"/>
          <p:cNvSpPr/>
          <p:nvPr/>
        </p:nvSpPr>
        <p:spPr>
          <a:xfrm>
            <a:off x="11109960" y="6510528"/>
            <a:ext cx="411480" cy="182880"/>
          </a:xfrm>
          <a:prstGeom prst="rect">
            <a:avLst/>
          </a:prstGeom>
          <a:noFill/>
          <a:ln/>
        </p:spPr>
        <p:txBody>
          <a:bodyPr wrap="square" lIns="0" tIns="0" rIns="0" bIns="0" rtlCol="0" anchor="ctr"/>
          <a:lstStyle/>
          <a:p>
            <a:pPr algn="r" indent="0" marL="0">
              <a:buNone/>
            </a:pPr>
            <a:r>
              <a:rPr lang="en-US" sz="850" dirty="0">
                <a:solidFill>
                  <a:srgbClr val="5F6B7A"/>
                </a:solidFill>
              </a:rPr>
              <a:t>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63A5F"/>
          </a:solidFill>
          <a:ln w="12700">
            <a:solidFill>
              <a:srgbClr val="163A5F">
                <a:alpha val="0"/>
              </a:srgbClr>
            </a:solidFill>
            <a:prstDash val="solid"/>
          </a:ln>
        </p:spPr>
      </p:sp>
      <p:sp>
        <p:nvSpPr>
          <p:cNvPr id="3" name="Shape 1"/>
          <p:cNvSpPr/>
          <p:nvPr/>
        </p:nvSpPr>
        <p:spPr>
          <a:xfrm>
            <a:off x="548640" y="6510528"/>
            <a:ext cx="11064240" cy="0"/>
          </a:xfrm>
          <a:prstGeom prst="line">
            <a:avLst/>
          </a:prstGeom>
          <a:noFill/>
          <a:ln w="12700">
            <a:solidFill>
              <a:srgbClr val="D7DEE7"/>
            </a:solidFill>
            <a:prstDash val="solid"/>
          </a:ln>
        </p:spPr>
      </p:sp>
      <p:sp>
        <p:nvSpPr>
          <p:cNvPr id="4" name="Text 2"/>
          <p:cNvSpPr/>
          <p:nvPr/>
        </p:nvSpPr>
        <p:spPr>
          <a:xfrm>
            <a:off x="640080" y="411480"/>
            <a:ext cx="7863840" cy="411480"/>
          </a:xfrm>
          <a:prstGeom prst="rect">
            <a:avLst/>
          </a:prstGeom>
          <a:noFill/>
          <a:ln/>
        </p:spPr>
        <p:txBody>
          <a:bodyPr wrap="square" lIns="0" tIns="0" rIns="0" bIns="0" rtlCol="0" anchor="ctr"/>
          <a:lstStyle/>
          <a:p>
            <a:pPr indent="0" marL="0">
              <a:buNone/>
            </a:pPr>
            <a:r>
              <a:rPr lang="en-US" sz="2400" b="1" dirty="0">
                <a:solidFill>
                  <a:srgbClr val="163A5F"/>
                </a:solidFill>
              </a:rPr>
              <a:t>第四章：高应力区晶粒组织演化与强化思路</a:t>
            </a:r>
            <a:endParaRPr lang="en-US" sz="2400" dirty="0"/>
          </a:p>
        </p:txBody>
      </p:sp>
      <p:sp>
        <p:nvSpPr>
          <p:cNvPr id="5" name="Text 3"/>
          <p:cNvSpPr/>
          <p:nvPr/>
        </p:nvSpPr>
        <p:spPr>
          <a:xfrm>
            <a:off x="658368" y="841248"/>
            <a:ext cx="8961120" cy="182880"/>
          </a:xfrm>
          <a:prstGeom prst="rect">
            <a:avLst/>
          </a:prstGeom>
          <a:noFill/>
          <a:ln/>
        </p:spPr>
        <p:txBody>
          <a:bodyPr wrap="square" lIns="0" tIns="0" rIns="0" bIns="0" rtlCol="0" anchor="ctr"/>
          <a:lstStyle/>
          <a:p>
            <a:pPr indent="0" marL="0">
              <a:buNone/>
            </a:pPr>
            <a:r>
              <a:rPr lang="en-US" sz="950" dirty="0">
                <a:solidFill>
                  <a:srgbClr val="5F6B7A"/>
                </a:solidFill>
              </a:rPr>
              <a:t>高风险区同时对应粗大柱状晶与缩孔伴生</a:t>
            </a:r>
            <a:endParaRPr lang="en-US" sz="950" dirty="0"/>
          </a:p>
        </p:txBody>
      </p:sp>
      <p:pic>
        <p:nvPicPr>
          <p:cNvPr id="6" name="Image 0" descr="/tmp/thesis_ppt_assets/image298.png">    </p:cNvPr>
          <p:cNvPicPr>
            <a:picLocks noChangeAspect="1"/>
          </p:cNvPicPr>
          <p:nvPr/>
        </p:nvPicPr>
        <p:blipFill>
          <a:blip r:embed="rId1"/>
          <a:srcRect l="0" r="0" t="0" b="0"/>
          <a:stretch/>
        </p:blipFill>
        <p:spPr>
          <a:xfrm>
            <a:off x="777240" y="1417320"/>
            <a:ext cx="5074920" cy="3794760"/>
          </a:xfrm>
          <a:prstGeom prst="rect">
            <a:avLst/>
          </a:prstGeom>
        </p:spPr>
      </p:pic>
      <p:sp>
        <p:nvSpPr>
          <p:cNvPr id="7" name="Text 4"/>
          <p:cNvSpPr/>
          <p:nvPr/>
        </p:nvSpPr>
        <p:spPr>
          <a:xfrm>
            <a:off x="914400" y="5248656"/>
            <a:ext cx="4800600" cy="201168"/>
          </a:xfrm>
          <a:prstGeom prst="rect">
            <a:avLst/>
          </a:prstGeom>
          <a:noFill/>
          <a:ln/>
        </p:spPr>
        <p:txBody>
          <a:bodyPr wrap="square" lIns="0" tIns="0" rIns="0" bIns="0" rtlCol="0" anchor="ctr"/>
          <a:lstStyle/>
          <a:p>
            <a:pPr algn="ctr" indent="0" marL="0">
              <a:buNone/>
            </a:pPr>
            <a:r>
              <a:rPr lang="en-US" sz="840" i="1" dirty="0">
                <a:solidFill>
                  <a:srgbClr val="5F6B7A"/>
                </a:solidFill>
              </a:rPr>
              <a:t>论文图4.10：阀体微观组织预测图</a:t>
            </a:r>
            <a:endParaRPr lang="en-US" sz="840" dirty="0"/>
          </a:p>
        </p:txBody>
      </p:sp>
      <p:pic>
        <p:nvPicPr>
          <p:cNvPr id="8" name="Image 1" descr="/tmp/thesis_ppt_assets/image290.png">    </p:cNvPr>
          <p:cNvPicPr>
            <a:picLocks noChangeAspect="1"/>
          </p:cNvPicPr>
          <p:nvPr/>
        </p:nvPicPr>
        <p:blipFill>
          <a:blip r:embed="rId2"/>
          <a:srcRect l="0" r="0" t="0" b="0"/>
          <a:stretch/>
        </p:blipFill>
        <p:spPr>
          <a:xfrm>
            <a:off x="6263640" y="1572768"/>
            <a:ext cx="2011680" cy="1965960"/>
          </a:xfrm>
          <a:prstGeom prst="rect">
            <a:avLst/>
          </a:prstGeom>
        </p:spPr>
      </p:pic>
      <p:sp>
        <p:nvSpPr>
          <p:cNvPr id="9" name="Text 5"/>
          <p:cNvSpPr/>
          <p:nvPr/>
        </p:nvSpPr>
        <p:spPr>
          <a:xfrm>
            <a:off x="6355080" y="3547872"/>
            <a:ext cx="1828800" cy="201168"/>
          </a:xfrm>
          <a:prstGeom prst="rect">
            <a:avLst/>
          </a:prstGeom>
          <a:noFill/>
          <a:ln/>
        </p:spPr>
        <p:txBody>
          <a:bodyPr wrap="square" lIns="0" tIns="0" rIns="0" bIns="0" rtlCol="0" anchor="ctr"/>
          <a:lstStyle/>
          <a:p>
            <a:pPr algn="ctr" indent="0" marL="0">
              <a:buNone/>
            </a:pPr>
            <a:r>
              <a:rPr lang="en-US" sz="840" i="1" dirty="0">
                <a:solidFill>
                  <a:srgbClr val="5F6B7A"/>
                </a:solidFill>
              </a:rPr>
              <a:t>论文图4.4：实验标定装置</a:t>
            </a:r>
            <a:endParaRPr lang="en-US" sz="840" dirty="0"/>
          </a:p>
        </p:txBody>
      </p:sp>
      <p:sp>
        <p:nvSpPr>
          <p:cNvPr id="10" name="Shape 6"/>
          <p:cNvSpPr/>
          <p:nvPr/>
        </p:nvSpPr>
        <p:spPr>
          <a:xfrm>
            <a:off x="8503920" y="1481328"/>
            <a:ext cx="2926080" cy="2194560"/>
          </a:xfrm>
          <a:prstGeom prst="roundRect">
            <a:avLst>
              <a:gd name="adj" fmla="val 1667"/>
            </a:avLst>
          </a:prstGeom>
          <a:solidFill>
            <a:srgbClr val="FFF8F0"/>
          </a:solidFill>
          <a:ln w="12700">
            <a:solidFill>
              <a:srgbClr val="E9C89D"/>
            </a:solidFill>
            <a:prstDash val="solid"/>
          </a:ln>
          <a:effectLst>
            <a:outerShdw sx="100000" sy="100000" kx="0" ky="0" algn="bl" rotWithShape="0" blurRad="12700" dist="50800" dir="2700000">
              <a:srgbClr val="CBD5E1">
                <a:alpha val="12000"/>
              </a:srgbClr>
            </a:outerShdw>
          </a:effectLst>
        </p:spPr>
      </p:sp>
      <p:sp>
        <p:nvSpPr>
          <p:cNvPr id="11" name="Text 7"/>
          <p:cNvSpPr/>
          <p:nvPr/>
        </p:nvSpPr>
        <p:spPr>
          <a:xfrm>
            <a:off x="8650224" y="1591056"/>
            <a:ext cx="2633472" cy="256032"/>
          </a:xfrm>
          <a:prstGeom prst="rect">
            <a:avLst/>
          </a:prstGeom>
          <a:noFill/>
          <a:ln/>
        </p:spPr>
        <p:txBody>
          <a:bodyPr wrap="square" lIns="0" tIns="0" rIns="0" bIns="0" rtlCol="0" anchor="ctr">
            <a:normAutofit/>
          </a:bodyPr>
          <a:lstStyle/>
          <a:p>
            <a:pPr indent="0" marL="0">
              <a:buNone/>
            </a:pPr>
            <a:r>
              <a:rPr lang="en-US" sz="1450" b="1" dirty="0">
                <a:solidFill>
                  <a:srgbClr val="D97A2B"/>
                </a:solidFill>
              </a:rPr>
              <a:t>主要认识</a:t>
            </a:r>
            <a:endParaRPr lang="en-US" sz="1450" dirty="0"/>
          </a:p>
        </p:txBody>
      </p:sp>
      <p:sp>
        <p:nvSpPr>
          <p:cNvPr id="12" name="Text 8"/>
          <p:cNvSpPr/>
          <p:nvPr/>
        </p:nvSpPr>
        <p:spPr>
          <a:xfrm>
            <a:off x="8650224" y="1874520"/>
            <a:ext cx="2633472" cy="1700784"/>
          </a:xfrm>
          <a:prstGeom prst="rect">
            <a:avLst/>
          </a:prstGeom>
          <a:noFill/>
          <a:ln/>
        </p:spPr>
        <p:txBody>
          <a:bodyPr wrap="square" lIns="0" tIns="0" rIns="0" bIns="0" rtlCol="0" anchor="t">
            <a:normAutofit/>
          </a:bodyPr>
          <a:lstStyle/>
          <a:p>
            <a:pPr indent="0" marL="0">
              <a:lnSpc>
                <a:spcPct val="108000"/>
              </a:lnSpc>
              <a:buNone/>
            </a:pPr>
            <a:r>
              <a:rPr lang="en-US" sz="1150" dirty="0">
                <a:solidFill>
                  <a:srgbClr val="243447"/>
                </a:solidFill>
              </a:rPr>
              <a:t>高应力区因孤立热节散热差，易形成粗大柱状晶网络；柱状晶连续生长又会加剧补缩通道阻断，与缩孔缺陷形成空间伴生。</a:t>
            </a:r>
            <a:endParaRPr lang="en-US" sz="1150" dirty="0"/>
          </a:p>
        </p:txBody>
      </p:sp>
      <p:sp>
        <p:nvSpPr>
          <p:cNvPr id="13" name="Shape 9"/>
          <p:cNvSpPr/>
          <p:nvPr/>
        </p:nvSpPr>
        <p:spPr>
          <a:xfrm>
            <a:off x="6309360" y="4160520"/>
            <a:ext cx="1508760" cy="804672"/>
          </a:xfrm>
          <a:prstGeom prst="roundRect">
            <a:avLst>
              <a:gd name="adj" fmla="val 5682"/>
            </a:avLst>
          </a:prstGeom>
          <a:solidFill>
            <a:srgbClr val="FFFFFF"/>
          </a:solidFill>
          <a:ln w="12700">
            <a:solidFill>
              <a:srgbClr val="D97A2B"/>
            </a:solidFill>
            <a:prstDash val="solid"/>
          </a:ln>
        </p:spPr>
      </p:sp>
      <p:sp>
        <p:nvSpPr>
          <p:cNvPr id="14" name="Text 10"/>
          <p:cNvSpPr/>
          <p:nvPr/>
        </p:nvSpPr>
        <p:spPr>
          <a:xfrm>
            <a:off x="6400800" y="4233672"/>
            <a:ext cx="1325880" cy="274320"/>
          </a:xfrm>
          <a:prstGeom prst="rect">
            <a:avLst/>
          </a:prstGeom>
          <a:noFill/>
          <a:ln/>
        </p:spPr>
        <p:txBody>
          <a:bodyPr wrap="square" lIns="0" tIns="0" rIns="0" bIns="0" rtlCol="0" anchor="ctr">
            <a:normAutofit/>
          </a:bodyPr>
          <a:lstStyle/>
          <a:p>
            <a:pPr algn="ctr" indent="0" marL="0">
              <a:buNone/>
            </a:pPr>
            <a:r>
              <a:rPr lang="en-US" sz="2050" b="1" dirty="0">
                <a:solidFill>
                  <a:srgbClr val="D97A2B"/>
                </a:solidFill>
              </a:rPr>
              <a:t>0.615 mm</a:t>
            </a:r>
            <a:endParaRPr lang="en-US" sz="2050" dirty="0"/>
          </a:p>
        </p:txBody>
      </p:sp>
      <p:sp>
        <p:nvSpPr>
          <p:cNvPr id="15" name="Text 11"/>
          <p:cNvSpPr/>
          <p:nvPr/>
        </p:nvSpPr>
        <p:spPr>
          <a:xfrm>
            <a:off x="6382512" y="4608576"/>
            <a:ext cx="1362456" cy="155448"/>
          </a:xfrm>
          <a:prstGeom prst="rect">
            <a:avLst/>
          </a:prstGeom>
          <a:noFill/>
          <a:ln/>
        </p:spPr>
        <p:txBody>
          <a:bodyPr wrap="square" lIns="0" tIns="0" rIns="0" bIns="0" rtlCol="0" anchor="ctr">
            <a:normAutofit/>
          </a:bodyPr>
          <a:lstStyle/>
          <a:p>
            <a:pPr algn="ctr" indent="0" marL="0">
              <a:buNone/>
            </a:pPr>
            <a:r>
              <a:rPr lang="en-US" sz="930" dirty="0">
                <a:solidFill>
                  <a:srgbClr val="5F6B7A"/>
                </a:solidFill>
              </a:rPr>
              <a:t>挡板区平均晶粒</a:t>
            </a:r>
            <a:endParaRPr lang="en-US" sz="930" dirty="0"/>
          </a:p>
        </p:txBody>
      </p:sp>
      <p:sp>
        <p:nvSpPr>
          <p:cNvPr id="16" name="Shape 12"/>
          <p:cNvSpPr/>
          <p:nvPr/>
        </p:nvSpPr>
        <p:spPr>
          <a:xfrm>
            <a:off x="8028432" y="4160520"/>
            <a:ext cx="1508760" cy="804672"/>
          </a:xfrm>
          <a:prstGeom prst="roundRect">
            <a:avLst>
              <a:gd name="adj" fmla="val 5682"/>
            </a:avLst>
          </a:prstGeom>
          <a:solidFill>
            <a:srgbClr val="FFFFFF"/>
          </a:solidFill>
          <a:ln w="12700">
            <a:solidFill>
              <a:srgbClr val="1F8A8A"/>
            </a:solidFill>
            <a:prstDash val="solid"/>
          </a:ln>
        </p:spPr>
      </p:sp>
      <p:sp>
        <p:nvSpPr>
          <p:cNvPr id="17" name="Text 13"/>
          <p:cNvSpPr/>
          <p:nvPr/>
        </p:nvSpPr>
        <p:spPr>
          <a:xfrm>
            <a:off x="8119872" y="4233672"/>
            <a:ext cx="1325880" cy="274320"/>
          </a:xfrm>
          <a:prstGeom prst="rect">
            <a:avLst/>
          </a:prstGeom>
          <a:noFill/>
          <a:ln/>
        </p:spPr>
        <p:txBody>
          <a:bodyPr wrap="square" lIns="0" tIns="0" rIns="0" bIns="0" rtlCol="0" anchor="ctr">
            <a:normAutofit/>
          </a:bodyPr>
          <a:lstStyle/>
          <a:p>
            <a:pPr algn="ctr" indent="0" marL="0">
              <a:buNone/>
            </a:pPr>
            <a:r>
              <a:rPr lang="en-US" sz="2050" b="1" dirty="0">
                <a:solidFill>
                  <a:srgbClr val="1F8A8A"/>
                </a:solidFill>
              </a:rPr>
              <a:t>0.688 mm</a:t>
            </a:r>
            <a:endParaRPr lang="en-US" sz="2050" dirty="0"/>
          </a:p>
        </p:txBody>
      </p:sp>
      <p:sp>
        <p:nvSpPr>
          <p:cNvPr id="18" name="Text 14"/>
          <p:cNvSpPr/>
          <p:nvPr/>
        </p:nvSpPr>
        <p:spPr>
          <a:xfrm>
            <a:off x="8101584" y="4608576"/>
            <a:ext cx="1362456" cy="155448"/>
          </a:xfrm>
          <a:prstGeom prst="rect">
            <a:avLst/>
          </a:prstGeom>
          <a:noFill/>
          <a:ln/>
        </p:spPr>
        <p:txBody>
          <a:bodyPr wrap="square" lIns="0" tIns="0" rIns="0" bIns="0" rtlCol="0" anchor="ctr">
            <a:normAutofit/>
          </a:bodyPr>
          <a:lstStyle/>
          <a:p>
            <a:pPr algn="ctr" indent="0" marL="0">
              <a:buNone/>
            </a:pPr>
            <a:r>
              <a:rPr lang="en-US" sz="930" dirty="0">
                <a:solidFill>
                  <a:srgbClr val="5F6B7A"/>
                </a:solidFill>
              </a:rPr>
              <a:t>主截面平均晶粒</a:t>
            </a:r>
            <a:endParaRPr lang="en-US" sz="930" dirty="0"/>
          </a:p>
        </p:txBody>
      </p:sp>
      <p:sp>
        <p:nvSpPr>
          <p:cNvPr id="19" name="Shape 15"/>
          <p:cNvSpPr/>
          <p:nvPr/>
        </p:nvSpPr>
        <p:spPr>
          <a:xfrm>
            <a:off x="9747504" y="4160520"/>
            <a:ext cx="1508760" cy="804672"/>
          </a:xfrm>
          <a:prstGeom prst="roundRect">
            <a:avLst>
              <a:gd name="adj" fmla="val 5682"/>
            </a:avLst>
          </a:prstGeom>
          <a:solidFill>
            <a:srgbClr val="FFFFFF"/>
          </a:solidFill>
          <a:ln w="12700">
            <a:solidFill>
              <a:srgbClr val="163A5F"/>
            </a:solidFill>
            <a:prstDash val="solid"/>
          </a:ln>
        </p:spPr>
      </p:sp>
      <p:sp>
        <p:nvSpPr>
          <p:cNvPr id="20" name="Text 16"/>
          <p:cNvSpPr/>
          <p:nvPr/>
        </p:nvSpPr>
        <p:spPr>
          <a:xfrm>
            <a:off x="9838944" y="4233672"/>
            <a:ext cx="1325880" cy="274320"/>
          </a:xfrm>
          <a:prstGeom prst="rect">
            <a:avLst/>
          </a:prstGeom>
          <a:noFill/>
          <a:ln/>
        </p:spPr>
        <p:txBody>
          <a:bodyPr wrap="square" lIns="0" tIns="0" rIns="0" bIns="0" rtlCol="0" anchor="ctr">
            <a:normAutofit/>
          </a:bodyPr>
          <a:lstStyle/>
          <a:p>
            <a:pPr algn="ctr" indent="0" marL="0">
              <a:buNone/>
            </a:pPr>
            <a:r>
              <a:rPr lang="en-US" sz="2050" b="1" dirty="0">
                <a:solidFill>
                  <a:srgbClr val="163A5F"/>
                </a:solidFill>
              </a:rPr>
              <a:t>≈31.8°</a:t>
            </a:r>
            <a:endParaRPr lang="en-US" sz="2050" dirty="0"/>
          </a:p>
        </p:txBody>
      </p:sp>
      <p:sp>
        <p:nvSpPr>
          <p:cNvPr id="21" name="Text 17"/>
          <p:cNvSpPr/>
          <p:nvPr/>
        </p:nvSpPr>
        <p:spPr>
          <a:xfrm>
            <a:off x="9820656" y="4608576"/>
            <a:ext cx="1362456" cy="155448"/>
          </a:xfrm>
          <a:prstGeom prst="rect">
            <a:avLst/>
          </a:prstGeom>
          <a:noFill/>
          <a:ln/>
        </p:spPr>
        <p:txBody>
          <a:bodyPr wrap="square" lIns="0" tIns="0" rIns="0" bIns="0" rtlCol="0" anchor="ctr">
            <a:normAutofit/>
          </a:bodyPr>
          <a:lstStyle/>
          <a:p>
            <a:pPr algn="ctr" indent="0" marL="0">
              <a:buNone/>
            </a:pPr>
            <a:r>
              <a:rPr lang="en-US" sz="930" dirty="0">
                <a:solidFill>
                  <a:srgbClr val="5F6B7A"/>
                </a:solidFill>
              </a:rPr>
              <a:t>取向偏差角</a:t>
            </a:r>
            <a:endParaRPr lang="en-US" sz="930" dirty="0"/>
          </a:p>
        </p:txBody>
      </p:sp>
      <p:sp>
        <p:nvSpPr>
          <p:cNvPr id="22" name="Shape 18"/>
          <p:cNvSpPr/>
          <p:nvPr/>
        </p:nvSpPr>
        <p:spPr>
          <a:xfrm>
            <a:off x="6263640" y="5212080"/>
            <a:ext cx="5074920" cy="502920"/>
          </a:xfrm>
          <a:prstGeom prst="roundRect">
            <a:avLst>
              <a:gd name="adj" fmla="val 7273"/>
            </a:avLst>
          </a:prstGeom>
          <a:solidFill>
            <a:srgbClr val="F7FAF7"/>
          </a:solidFill>
          <a:ln w="12700">
            <a:solidFill>
              <a:srgbClr val="C7DFC7"/>
            </a:solidFill>
            <a:prstDash val="solid"/>
          </a:ln>
          <a:effectLst>
            <a:outerShdw sx="100000" sy="100000" kx="0" ky="0" algn="bl" rotWithShape="0" blurRad="12700" dist="50800" dir="2700000">
              <a:srgbClr val="CBD5E1">
                <a:alpha val="12000"/>
              </a:srgbClr>
            </a:outerShdw>
          </a:effectLst>
        </p:spPr>
      </p:sp>
      <p:sp>
        <p:nvSpPr>
          <p:cNvPr id="23" name="Text 19"/>
          <p:cNvSpPr/>
          <p:nvPr/>
        </p:nvSpPr>
        <p:spPr>
          <a:xfrm>
            <a:off x="6409944" y="5321808"/>
            <a:ext cx="4782312" cy="256032"/>
          </a:xfrm>
          <a:prstGeom prst="rect">
            <a:avLst/>
          </a:prstGeom>
          <a:noFill/>
          <a:ln/>
        </p:spPr>
        <p:txBody>
          <a:bodyPr wrap="square" lIns="0" tIns="0" rIns="0" bIns="0" rtlCol="0" anchor="ctr">
            <a:normAutofit/>
          </a:bodyPr>
          <a:lstStyle/>
          <a:p>
            <a:pPr indent="0" marL="0">
              <a:buNone/>
            </a:pPr>
            <a:r>
              <a:rPr lang="en-US" sz="1170" b="1" dirty="0">
                <a:solidFill>
                  <a:srgbClr val="2E8B57"/>
                </a:solidFill>
              </a:rPr>
              <a:t>强化路径</a:t>
            </a:r>
            <a:endParaRPr lang="en-US" sz="1170" dirty="0"/>
          </a:p>
        </p:txBody>
      </p:sp>
      <p:sp>
        <p:nvSpPr>
          <p:cNvPr id="24" name="Text 20"/>
          <p:cNvSpPr/>
          <p:nvPr/>
        </p:nvSpPr>
        <p:spPr>
          <a:xfrm>
            <a:off x="6409944" y="5605272"/>
            <a:ext cx="4782312" cy="9144"/>
          </a:xfrm>
          <a:prstGeom prst="rect">
            <a:avLst/>
          </a:prstGeom>
          <a:noFill/>
          <a:ln/>
        </p:spPr>
        <p:txBody>
          <a:bodyPr wrap="square" lIns="0" tIns="0" rIns="0" bIns="0" rtlCol="0" anchor="t">
            <a:normAutofit/>
          </a:bodyPr>
          <a:lstStyle/>
          <a:p>
            <a:pPr indent="0" marL="0">
              <a:lnSpc>
                <a:spcPct val="108000"/>
              </a:lnSpc>
              <a:buNone/>
            </a:pPr>
            <a:r>
              <a:rPr lang="en-US" sz="1060" dirty="0">
                <a:solidFill>
                  <a:srgbClr val="243447"/>
                </a:solidFill>
              </a:rPr>
              <a:t>通过局部随形冷铁/激冷干预打断柱状晶连续生长，促进等轴晶形成，实现高应力区细晶强化。</a:t>
            </a:r>
            <a:endParaRPr lang="en-US" sz="1060" dirty="0"/>
          </a:p>
        </p:txBody>
      </p:sp>
      <p:sp>
        <p:nvSpPr>
          <p:cNvPr id="25" name="Text 21"/>
          <p:cNvSpPr/>
          <p:nvPr/>
        </p:nvSpPr>
        <p:spPr>
          <a:xfrm>
            <a:off x="658368" y="6537960"/>
            <a:ext cx="2103120" cy="164592"/>
          </a:xfrm>
          <a:prstGeom prst="rect">
            <a:avLst/>
          </a:prstGeom>
          <a:noFill/>
          <a:ln/>
        </p:spPr>
        <p:txBody>
          <a:bodyPr wrap="square" lIns="0" tIns="0" rIns="0" bIns="0" rtlCol="0" anchor="ctr"/>
          <a:lstStyle/>
          <a:p>
            <a:pPr indent="0" marL="0">
              <a:buNone/>
            </a:pPr>
            <a:r>
              <a:rPr lang="en-US" sz="800" dirty="0">
                <a:solidFill>
                  <a:srgbClr val="5F6B7A"/>
                </a:solidFill>
              </a:rPr>
              <a:t>博士学位论文预答辩</a:t>
            </a:r>
            <a:endParaRPr lang="en-US" sz="800" dirty="0"/>
          </a:p>
        </p:txBody>
      </p:sp>
      <p:sp>
        <p:nvSpPr>
          <p:cNvPr id="26" name="Text 22"/>
          <p:cNvSpPr/>
          <p:nvPr/>
        </p:nvSpPr>
        <p:spPr>
          <a:xfrm>
            <a:off x="11109960" y="6510528"/>
            <a:ext cx="411480" cy="182880"/>
          </a:xfrm>
          <a:prstGeom prst="rect">
            <a:avLst/>
          </a:prstGeom>
          <a:noFill/>
          <a:ln/>
        </p:spPr>
        <p:txBody>
          <a:bodyPr wrap="square" lIns="0" tIns="0" rIns="0" bIns="0" rtlCol="0" anchor="ctr"/>
          <a:lstStyle/>
          <a:p>
            <a:pPr algn="r" indent="0" marL="0">
              <a:buNone/>
            </a:pPr>
            <a:r>
              <a:rPr lang="en-US" sz="850" dirty="0">
                <a:solidFill>
                  <a:srgbClr val="5F6B7A"/>
                </a:solidFill>
              </a:rPr>
              <a:t>13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63A5F"/>
          </a:solidFill>
          <a:ln w="12700">
            <a:solidFill>
              <a:srgbClr val="163A5F">
                <a:alpha val="0"/>
              </a:srgbClr>
            </a:solidFill>
            <a:prstDash val="solid"/>
          </a:ln>
        </p:spPr>
      </p:sp>
      <p:sp>
        <p:nvSpPr>
          <p:cNvPr id="3" name="Shape 1"/>
          <p:cNvSpPr/>
          <p:nvPr/>
        </p:nvSpPr>
        <p:spPr>
          <a:xfrm>
            <a:off x="548640" y="6510528"/>
            <a:ext cx="11064240" cy="0"/>
          </a:xfrm>
          <a:prstGeom prst="line">
            <a:avLst/>
          </a:prstGeom>
          <a:noFill/>
          <a:ln w="12700">
            <a:solidFill>
              <a:srgbClr val="D7DEE7"/>
            </a:solidFill>
            <a:prstDash val="solid"/>
          </a:ln>
        </p:spPr>
      </p:sp>
      <p:sp>
        <p:nvSpPr>
          <p:cNvPr id="4" name="Text 2"/>
          <p:cNvSpPr/>
          <p:nvPr/>
        </p:nvSpPr>
        <p:spPr>
          <a:xfrm>
            <a:off x="640080" y="411480"/>
            <a:ext cx="7863840" cy="411480"/>
          </a:xfrm>
          <a:prstGeom prst="rect">
            <a:avLst/>
          </a:prstGeom>
          <a:noFill/>
          <a:ln/>
        </p:spPr>
        <p:txBody>
          <a:bodyPr wrap="square" lIns="0" tIns="0" rIns="0" bIns="0" rtlCol="0" anchor="ctr"/>
          <a:lstStyle/>
          <a:p>
            <a:pPr indent="0" marL="0">
              <a:buNone/>
            </a:pPr>
            <a:r>
              <a:rPr lang="en-US" sz="2400" b="1" dirty="0">
                <a:solidFill>
                  <a:srgbClr val="163A5F"/>
                </a:solidFill>
              </a:rPr>
              <a:t>第五章：铸造试验与温度场验证</a:t>
            </a:r>
            <a:endParaRPr lang="en-US" sz="2400" dirty="0"/>
          </a:p>
        </p:txBody>
      </p:sp>
      <p:sp>
        <p:nvSpPr>
          <p:cNvPr id="5" name="Text 3"/>
          <p:cNvSpPr/>
          <p:nvPr/>
        </p:nvSpPr>
        <p:spPr>
          <a:xfrm>
            <a:off x="658368" y="841248"/>
            <a:ext cx="8961120" cy="182880"/>
          </a:xfrm>
          <a:prstGeom prst="rect">
            <a:avLst/>
          </a:prstGeom>
          <a:noFill/>
          <a:ln/>
        </p:spPr>
        <p:txBody>
          <a:bodyPr wrap="square" lIns="0" tIns="0" rIns="0" bIns="0" rtlCol="0" anchor="ctr"/>
          <a:lstStyle/>
          <a:p>
            <a:pPr indent="0" marL="0">
              <a:buNone/>
            </a:pPr>
            <a:r>
              <a:rPr lang="en-US" sz="950" dirty="0">
                <a:solidFill>
                  <a:srgbClr val="5F6B7A"/>
                </a:solidFill>
              </a:rPr>
              <a:t>用实测边界条件和工艺过程校核仿真模型</a:t>
            </a:r>
            <a:endParaRPr lang="en-US" sz="950" dirty="0"/>
          </a:p>
        </p:txBody>
      </p:sp>
      <p:pic>
        <p:nvPicPr>
          <p:cNvPr id="6" name="Image 0" descr="/tmp/thesis_ppt_assets/image332.png">    </p:cNvPr>
          <p:cNvPicPr>
            <a:picLocks noChangeAspect="1"/>
          </p:cNvPicPr>
          <p:nvPr/>
        </p:nvPicPr>
        <p:blipFill>
          <a:blip r:embed="rId1"/>
          <a:srcRect l="0" r="0" t="0" b="0"/>
          <a:stretch/>
        </p:blipFill>
        <p:spPr>
          <a:xfrm>
            <a:off x="749808" y="1353312"/>
            <a:ext cx="6126480" cy="4251960"/>
          </a:xfrm>
          <a:prstGeom prst="rect">
            <a:avLst/>
          </a:prstGeom>
        </p:spPr>
      </p:pic>
      <p:sp>
        <p:nvSpPr>
          <p:cNvPr id="7" name="Text 4"/>
          <p:cNvSpPr/>
          <p:nvPr/>
        </p:nvSpPr>
        <p:spPr>
          <a:xfrm>
            <a:off x="914400" y="5632704"/>
            <a:ext cx="5806440" cy="201168"/>
          </a:xfrm>
          <a:prstGeom prst="rect">
            <a:avLst/>
          </a:prstGeom>
          <a:noFill/>
          <a:ln/>
        </p:spPr>
        <p:txBody>
          <a:bodyPr wrap="square" lIns="0" tIns="0" rIns="0" bIns="0" rtlCol="0" anchor="ctr"/>
          <a:lstStyle/>
          <a:p>
            <a:pPr algn="ctr" indent="0" marL="0">
              <a:buNone/>
            </a:pPr>
            <a:r>
              <a:rPr lang="en-US" sz="840" i="1" dirty="0">
                <a:solidFill>
                  <a:srgbClr val="5F6B7A"/>
                </a:solidFill>
              </a:rPr>
              <a:t>论文图5.6相关：阀体铸造过程多通道温度采集系统</a:t>
            </a:r>
            <a:endParaRPr lang="en-US" sz="840" dirty="0"/>
          </a:p>
        </p:txBody>
      </p:sp>
      <p:sp>
        <p:nvSpPr>
          <p:cNvPr id="8" name="Shape 5"/>
          <p:cNvSpPr/>
          <p:nvPr/>
        </p:nvSpPr>
        <p:spPr>
          <a:xfrm>
            <a:off x="7150608" y="1481328"/>
            <a:ext cx="4069080" cy="4023360"/>
          </a:xfrm>
          <a:prstGeom prst="roundRect">
            <a:avLst>
              <a:gd name="adj" fmla="val 909"/>
            </a:avLst>
          </a:prstGeom>
          <a:solidFill>
            <a:srgbClr val="F6F8FB"/>
          </a:solidFill>
          <a:ln w="12700">
            <a:solidFill>
              <a:srgbClr val="D7DEE7"/>
            </a:solidFill>
            <a:prstDash val="solid"/>
          </a:ln>
          <a:effectLst>
            <a:outerShdw sx="100000" sy="100000" kx="0" ky="0" algn="bl" rotWithShape="0" blurRad="12700" dist="50800" dir="2700000">
              <a:srgbClr val="CBD5E1">
                <a:alpha val="12000"/>
              </a:srgbClr>
            </a:outerShdw>
          </a:effectLst>
        </p:spPr>
      </p:sp>
      <p:sp>
        <p:nvSpPr>
          <p:cNvPr id="9" name="Text 6"/>
          <p:cNvSpPr/>
          <p:nvPr/>
        </p:nvSpPr>
        <p:spPr>
          <a:xfrm>
            <a:off x="7296912" y="1591056"/>
            <a:ext cx="3776472" cy="256032"/>
          </a:xfrm>
          <a:prstGeom prst="rect">
            <a:avLst/>
          </a:prstGeom>
          <a:noFill/>
          <a:ln/>
        </p:spPr>
        <p:txBody>
          <a:bodyPr wrap="square" lIns="0" tIns="0" rIns="0" bIns="0" rtlCol="0" anchor="ctr">
            <a:normAutofit/>
          </a:bodyPr>
          <a:lstStyle/>
          <a:p>
            <a:pPr indent="0" marL="0">
              <a:buNone/>
            </a:pPr>
            <a:r>
              <a:rPr lang="en-US" sz="1450" b="1" dirty="0">
                <a:solidFill>
                  <a:srgbClr val="163A5F"/>
                </a:solidFill>
              </a:rPr>
              <a:t>验证内容</a:t>
            </a:r>
            <a:endParaRPr lang="en-US" sz="1450" dirty="0"/>
          </a:p>
        </p:txBody>
      </p:sp>
      <p:sp>
        <p:nvSpPr>
          <p:cNvPr id="10" name="Text 7"/>
          <p:cNvSpPr/>
          <p:nvPr/>
        </p:nvSpPr>
        <p:spPr>
          <a:xfrm>
            <a:off x="7296912" y="1874520"/>
            <a:ext cx="3776472" cy="3529584"/>
          </a:xfrm>
          <a:prstGeom prst="rect">
            <a:avLst/>
          </a:prstGeom>
          <a:noFill/>
          <a:ln/>
        </p:spPr>
        <p:txBody>
          <a:bodyPr wrap="square" lIns="0" tIns="0" rIns="0" bIns="0" rtlCol="0" anchor="t">
            <a:normAutofit/>
          </a:bodyPr>
          <a:lstStyle/>
          <a:p>
            <a:pPr indent="0" marL="0">
              <a:lnSpc>
                <a:spcPct val="108000"/>
              </a:lnSpc>
              <a:buNone/>
            </a:pPr>
            <a:r>
              <a:rPr lang="en-US" sz="1210" dirty="0">
                <a:solidFill>
                  <a:srgbClr val="243447"/>
                </a:solidFill>
              </a:rPr>
              <a:t>1. 在砂箱关键位置预埋热电偶，采集浇注与冷却全过程的温度曲线。</a:t>
            </a:r>
            <a:endParaRPr lang="en-US" sz="1210" dirty="0"/>
          </a:p>
          <a:p>
            <a:pPr indent="0" marL="0">
              <a:lnSpc>
                <a:spcPct val="108000"/>
              </a:lnSpc>
              <a:buNone/>
            </a:pPr>
            <a:r>
              <a:rPr lang="en-US" sz="1210" dirty="0">
                <a:solidFill>
                  <a:srgbClr val="243447"/>
                </a:solidFill>
              </a:rPr>
              <a:t>2. 对同炉 CF8M 熔体进行成分和浇注温度控制，保证工艺输入可复现。</a:t>
            </a:r>
            <a:endParaRPr lang="en-US" sz="1210" dirty="0"/>
          </a:p>
          <a:p>
            <a:pPr indent="0" marL="0">
              <a:lnSpc>
                <a:spcPct val="108000"/>
              </a:lnSpc>
              <a:buNone/>
            </a:pPr>
            <a:r>
              <a:rPr lang="en-US" sz="1210" dirty="0">
                <a:solidFill>
                  <a:srgbClr val="243447"/>
                </a:solidFill>
              </a:rPr>
              <a:t>3. 实测温度场用于校核凝固边界条件与热物性参数设置。</a:t>
            </a:r>
            <a:endParaRPr lang="en-US" sz="1210" dirty="0"/>
          </a:p>
          <a:p>
            <a:pPr indent="0" marL="0">
              <a:lnSpc>
                <a:spcPct val="108000"/>
              </a:lnSpc>
              <a:buNone/>
            </a:pPr>
            <a:r>
              <a:rPr lang="en-US" sz="1210" dirty="0">
                <a:solidFill>
                  <a:srgbClr val="243447"/>
                </a:solidFill>
              </a:rPr>
              <a:t>4. 通过铸造试验确认优选工艺在真实制造场景下可落地。</a:t>
            </a:r>
            <a:endParaRPr lang="en-US" sz="1210" dirty="0"/>
          </a:p>
        </p:txBody>
      </p:sp>
      <p:sp>
        <p:nvSpPr>
          <p:cNvPr id="11" name="Text 8"/>
          <p:cNvSpPr/>
          <p:nvPr/>
        </p:nvSpPr>
        <p:spPr>
          <a:xfrm>
            <a:off x="658368" y="6537960"/>
            <a:ext cx="2103120" cy="164592"/>
          </a:xfrm>
          <a:prstGeom prst="rect">
            <a:avLst/>
          </a:prstGeom>
          <a:noFill/>
          <a:ln/>
        </p:spPr>
        <p:txBody>
          <a:bodyPr wrap="square" lIns="0" tIns="0" rIns="0" bIns="0" rtlCol="0" anchor="ctr"/>
          <a:lstStyle/>
          <a:p>
            <a:pPr indent="0" marL="0">
              <a:buNone/>
            </a:pPr>
            <a:r>
              <a:rPr lang="en-US" sz="800" dirty="0">
                <a:solidFill>
                  <a:srgbClr val="5F6B7A"/>
                </a:solidFill>
              </a:rPr>
              <a:t>博士学位论文预答辩</a:t>
            </a:r>
            <a:endParaRPr lang="en-US" sz="800" dirty="0"/>
          </a:p>
        </p:txBody>
      </p:sp>
      <p:sp>
        <p:nvSpPr>
          <p:cNvPr id="12" name="Text 9"/>
          <p:cNvSpPr/>
          <p:nvPr/>
        </p:nvSpPr>
        <p:spPr>
          <a:xfrm>
            <a:off x="11109960" y="6510528"/>
            <a:ext cx="411480" cy="182880"/>
          </a:xfrm>
          <a:prstGeom prst="rect">
            <a:avLst/>
          </a:prstGeom>
          <a:noFill/>
          <a:ln/>
        </p:spPr>
        <p:txBody>
          <a:bodyPr wrap="square" lIns="0" tIns="0" rIns="0" bIns="0" rtlCol="0" anchor="ctr"/>
          <a:lstStyle/>
          <a:p>
            <a:pPr algn="r" indent="0" marL="0">
              <a:buNone/>
            </a:pPr>
            <a:r>
              <a:rPr lang="en-US" sz="850" dirty="0">
                <a:solidFill>
                  <a:srgbClr val="5F6B7A"/>
                </a:solidFill>
              </a:rPr>
              <a:t>14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63A5F"/>
          </a:solidFill>
          <a:ln w="12700">
            <a:solidFill>
              <a:srgbClr val="163A5F">
                <a:alpha val="0"/>
              </a:srgbClr>
            </a:solidFill>
            <a:prstDash val="solid"/>
          </a:ln>
        </p:spPr>
      </p:sp>
      <p:sp>
        <p:nvSpPr>
          <p:cNvPr id="3" name="Shape 1"/>
          <p:cNvSpPr/>
          <p:nvPr/>
        </p:nvSpPr>
        <p:spPr>
          <a:xfrm>
            <a:off x="548640" y="6510528"/>
            <a:ext cx="11064240" cy="0"/>
          </a:xfrm>
          <a:prstGeom prst="line">
            <a:avLst/>
          </a:prstGeom>
          <a:noFill/>
          <a:ln w="12700">
            <a:solidFill>
              <a:srgbClr val="D7DEE7"/>
            </a:solidFill>
            <a:prstDash val="solid"/>
          </a:ln>
        </p:spPr>
      </p:sp>
      <p:sp>
        <p:nvSpPr>
          <p:cNvPr id="4" name="Text 2"/>
          <p:cNvSpPr/>
          <p:nvPr/>
        </p:nvSpPr>
        <p:spPr>
          <a:xfrm>
            <a:off x="640080" y="411480"/>
            <a:ext cx="7863840" cy="411480"/>
          </a:xfrm>
          <a:prstGeom prst="rect">
            <a:avLst/>
          </a:prstGeom>
          <a:noFill/>
          <a:ln/>
        </p:spPr>
        <p:txBody>
          <a:bodyPr wrap="square" lIns="0" tIns="0" rIns="0" bIns="0" rtlCol="0" anchor="ctr"/>
          <a:lstStyle/>
          <a:p>
            <a:pPr indent="0" marL="0">
              <a:buNone/>
            </a:pPr>
            <a:r>
              <a:rPr lang="en-US" sz="2400" b="1" dirty="0">
                <a:solidFill>
                  <a:srgbClr val="163A5F"/>
                </a:solidFill>
              </a:rPr>
              <a:t>第五章：缩孔仿真与解剖验证</a:t>
            </a:r>
            <a:endParaRPr lang="en-US" sz="2400" dirty="0"/>
          </a:p>
        </p:txBody>
      </p:sp>
      <p:sp>
        <p:nvSpPr>
          <p:cNvPr id="5" name="Text 3"/>
          <p:cNvSpPr/>
          <p:nvPr/>
        </p:nvSpPr>
        <p:spPr>
          <a:xfrm>
            <a:off x="658368" y="841248"/>
            <a:ext cx="8961120" cy="182880"/>
          </a:xfrm>
          <a:prstGeom prst="rect">
            <a:avLst/>
          </a:prstGeom>
          <a:noFill/>
          <a:ln/>
        </p:spPr>
        <p:txBody>
          <a:bodyPr wrap="square" lIns="0" tIns="0" rIns="0" bIns="0" rtlCol="0" anchor="ctr"/>
          <a:lstStyle/>
          <a:p>
            <a:pPr indent="0" marL="0">
              <a:buNone/>
            </a:pPr>
            <a:r>
              <a:rPr lang="en-US" sz="950" dirty="0">
                <a:solidFill>
                  <a:srgbClr val="5F6B7A"/>
                </a:solidFill>
              </a:rPr>
              <a:t>先验证材料与凝固求解，再推广到复杂阀体</a:t>
            </a:r>
            <a:endParaRPr lang="en-US" sz="950" dirty="0"/>
          </a:p>
        </p:txBody>
      </p:sp>
      <p:sp>
        <p:nvSpPr>
          <p:cNvPr id="6" name="Shape 4"/>
          <p:cNvSpPr/>
          <p:nvPr/>
        </p:nvSpPr>
        <p:spPr>
          <a:xfrm>
            <a:off x="841248" y="1417320"/>
            <a:ext cx="5074920" cy="4434840"/>
          </a:xfrm>
          <a:prstGeom prst="roundRect">
            <a:avLst>
              <a:gd name="adj" fmla="val 825"/>
            </a:avLst>
          </a:prstGeom>
          <a:solidFill>
            <a:srgbClr val="F6FBFB"/>
          </a:solidFill>
          <a:ln w="12700">
            <a:solidFill>
              <a:srgbClr val="B7DFDF"/>
            </a:solidFill>
            <a:prstDash val="solid"/>
          </a:ln>
          <a:effectLst>
            <a:outerShdw sx="100000" sy="100000" kx="0" ky="0" algn="bl" rotWithShape="0" blurRad="12700" dist="50800" dir="2700000">
              <a:srgbClr val="CBD5E1">
                <a:alpha val="12000"/>
              </a:srgbClr>
            </a:outerShdw>
          </a:effectLst>
        </p:spPr>
      </p:sp>
      <p:sp>
        <p:nvSpPr>
          <p:cNvPr id="7" name="Text 5"/>
          <p:cNvSpPr/>
          <p:nvPr/>
        </p:nvSpPr>
        <p:spPr>
          <a:xfrm>
            <a:off x="987552" y="1527048"/>
            <a:ext cx="4782312" cy="256032"/>
          </a:xfrm>
          <a:prstGeom prst="rect">
            <a:avLst/>
          </a:prstGeom>
          <a:noFill/>
          <a:ln/>
        </p:spPr>
        <p:txBody>
          <a:bodyPr wrap="square" lIns="0" tIns="0" rIns="0" bIns="0" rtlCol="0" anchor="ctr">
            <a:normAutofit/>
          </a:bodyPr>
          <a:lstStyle/>
          <a:p>
            <a:pPr indent="0" marL="0">
              <a:buNone/>
            </a:pPr>
            <a:r>
              <a:rPr lang="en-US" sz="1450" b="1" dirty="0">
                <a:solidFill>
                  <a:srgbClr val="163A5F"/>
                </a:solidFill>
              </a:rPr>
              <a:t>圆柱试块验证</a:t>
            </a:r>
            <a:endParaRPr lang="en-US" sz="1450" dirty="0"/>
          </a:p>
        </p:txBody>
      </p:sp>
      <p:sp>
        <p:nvSpPr>
          <p:cNvPr id="8" name="Text 6"/>
          <p:cNvSpPr/>
          <p:nvPr/>
        </p:nvSpPr>
        <p:spPr>
          <a:xfrm>
            <a:off x="987552" y="1810512"/>
            <a:ext cx="4782312" cy="3941064"/>
          </a:xfrm>
          <a:prstGeom prst="rect">
            <a:avLst/>
          </a:prstGeom>
          <a:noFill/>
          <a:ln/>
        </p:spPr>
        <p:txBody>
          <a:bodyPr wrap="square" lIns="0" tIns="0" rIns="0" bIns="0" rtlCol="0" anchor="t">
            <a:normAutofit/>
          </a:bodyPr>
          <a:lstStyle/>
          <a:p>
            <a:pPr indent="0" marL="0">
              <a:lnSpc>
                <a:spcPct val="108000"/>
              </a:lnSpc>
              <a:buNone/>
            </a:pPr>
            <a:r>
              <a:rPr lang="en-US" sz="1230" dirty="0">
                <a:solidFill>
                  <a:srgbClr val="243447"/>
                </a:solidFill>
              </a:rPr>
              <a:t>1. 采用与阀体同炉的 CF8M 标准圆柱试样开展宏观凝固仿真与破坏性解剖实验。</a:t>
            </a:r>
            <a:endParaRPr lang="en-US" sz="1230" dirty="0"/>
          </a:p>
          <a:p>
            <a:pPr indent="0" marL="0">
              <a:lnSpc>
                <a:spcPct val="108000"/>
              </a:lnSpc>
              <a:buNone/>
            </a:pPr>
            <a:r>
              <a:rPr lang="en-US" sz="1230" dirty="0">
                <a:solidFill>
                  <a:srgbClr val="243447"/>
                </a:solidFill>
              </a:rPr>
              <a:t>2. 仿真预测的缩孔位置与真实试样纵截面观察结果高度一致。</a:t>
            </a:r>
            <a:endParaRPr lang="en-US" sz="1230" dirty="0"/>
          </a:p>
          <a:p>
            <a:pPr indent="0" marL="0">
              <a:lnSpc>
                <a:spcPct val="108000"/>
              </a:lnSpc>
              <a:buNone/>
            </a:pPr>
            <a:r>
              <a:rPr lang="en-US" sz="1230" dirty="0">
                <a:solidFill>
                  <a:srgbClr val="243447"/>
                </a:solidFill>
              </a:rPr>
              <a:t>3. 等效球形体积反演显示：仿真 57.26 cm³，实测 57.91 cm³，相对误差约 1.2%。</a:t>
            </a:r>
            <a:endParaRPr lang="en-US" sz="1230" dirty="0"/>
          </a:p>
          <a:p>
            <a:pPr indent="0" marL="0">
              <a:lnSpc>
                <a:spcPct val="108000"/>
              </a:lnSpc>
              <a:buNone/>
            </a:pPr>
            <a:r>
              <a:rPr lang="en-US" sz="1230" dirty="0">
                <a:solidFill>
                  <a:srgbClr val="243447"/>
                </a:solidFill>
              </a:rPr>
              <a:t>4. 说明热物性参数和凝固求解路径具备较高保真度。</a:t>
            </a:r>
            <a:endParaRPr lang="en-US" sz="1230" dirty="0"/>
          </a:p>
        </p:txBody>
      </p:sp>
      <p:sp>
        <p:nvSpPr>
          <p:cNvPr id="9" name="Shape 7"/>
          <p:cNvSpPr/>
          <p:nvPr/>
        </p:nvSpPr>
        <p:spPr>
          <a:xfrm>
            <a:off x="6492240" y="1783080"/>
            <a:ext cx="1417320" cy="804672"/>
          </a:xfrm>
          <a:prstGeom prst="roundRect">
            <a:avLst>
              <a:gd name="adj" fmla="val 5682"/>
            </a:avLst>
          </a:prstGeom>
          <a:solidFill>
            <a:srgbClr val="FFFFFF"/>
          </a:solidFill>
          <a:ln w="12700">
            <a:solidFill>
              <a:srgbClr val="163A5F"/>
            </a:solidFill>
            <a:prstDash val="solid"/>
          </a:ln>
        </p:spPr>
      </p:sp>
      <p:sp>
        <p:nvSpPr>
          <p:cNvPr id="10" name="Text 8"/>
          <p:cNvSpPr/>
          <p:nvPr/>
        </p:nvSpPr>
        <p:spPr>
          <a:xfrm>
            <a:off x="6583680" y="1856232"/>
            <a:ext cx="1234440" cy="274320"/>
          </a:xfrm>
          <a:prstGeom prst="rect">
            <a:avLst/>
          </a:prstGeom>
          <a:noFill/>
          <a:ln/>
        </p:spPr>
        <p:txBody>
          <a:bodyPr wrap="square" lIns="0" tIns="0" rIns="0" bIns="0" rtlCol="0" anchor="ctr">
            <a:normAutofit/>
          </a:bodyPr>
          <a:lstStyle/>
          <a:p>
            <a:pPr algn="ctr" indent="0" marL="0">
              <a:buNone/>
            </a:pPr>
            <a:r>
              <a:rPr lang="en-US" sz="2050" b="1" dirty="0">
                <a:solidFill>
                  <a:srgbClr val="163A5F"/>
                </a:solidFill>
              </a:rPr>
              <a:t>57.26 cm³</a:t>
            </a:r>
            <a:endParaRPr lang="en-US" sz="2050" dirty="0"/>
          </a:p>
        </p:txBody>
      </p:sp>
      <p:sp>
        <p:nvSpPr>
          <p:cNvPr id="11" name="Text 9"/>
          <p:cNvSpPr/>
          <p:nvPr/>
        </p:nvSpPr>
        <p:spPr>
          <a:xfrm>
            <a:off x="6565392" y="2231136"/>
            <a:ext cx="1271016" cy="155448"/>
          </a:xfrm>
          <a:prstGeom prst="rect">
            <a:avLst/>
          </a:prstGeom>
          <a:noFill/>
          <a:ln/>
        </p:spPr>
        <p:txBody>
          <a:bodyPr wrap="square" lIns="0" tIns="0" rIns="0" bIns="0" rtlCol="0" anchor="ctr">
            <a:normAutofit/>
          </a:bodyPr>
          <a:lstStyle/>
          <a:p>
            <a:pPr algn="ctr" indent="0" marL="0">
              <a:buNone/>
            </a:pPr>
            <a:r>
              <a:rPr lang="en-US" sz="930" dirty="0">
                <a:solidFill>
                  <a:srgbClr val="5F6B7A"/>
                </a:solidFill>
              </a:rPr>
              <a:t>仿真体积</a:t>
            </a:r>
            <a:endParaRPr lang="en-US" sz="930" dirty="0"/>
          </a:p>
        </p:txBody>
      </p:sp>
      <p:sp>
        <p:nvSpPr>
          <p:cNvPr id="12" name="Shape 10"/>
          <p:cNvSpPr/>
          <p:nvPr/>
        </p:nvSpPr>
        <p:spPr>
          <a:xfrm>
            <a:off x="8183880" y="1783080"/>
            <a:ext cx="1417320" cy="804672"/>
          </a:xfrm>
          <a:prstGeom prst="roundRect">
            <a:avLst>
              <a:gd name="adj" fmla="val 5682"/>
            </a:avLst>
          </a:prstGeom>
          <a:solidFill>
            <a:srgbClr val="FFFFFF"/>
          </a:solidFill>
          <a:ln w="12700">
            <a:solidFill>
              <a:srgbClr val="1F8A8A"/>
            </a:solidFill>
            <a:prstDash val="solid"/>
          </a:ln>
        </p:spPr>
      </p:sp>
      <p:sp>
        <p:nvSpPr>
          <p:cNvPr id="13" name="Text 11"/>
          <p:cNvSpPr/>
          <p:nvPr/>
        </p:nvSpPr>
        <p:spPr>
          <a:xfrm>
            <a:off x="8275320" y="1856232"/>
            <a:ext cx="1234440" cy="274320"/>
          </a:xfrm>
          <a:prstGeom prst="rect">
            <a:avLst/>
          </a:prstGeom>
          <a:noFill/>
          <a:ln/>
        </p:spPr>
        <p:txBody>
          <a:bodyPr wrap="square" lIns="0" tIns="0" rIns="0" bIns="0" rtlCol="0" anchor="ctr">
            <a:normAutofit/>
          </a:bodyPr>
          <a:lstStyle/>
          <a:p>
            <a:pPr algn="ctr" indent="0" marL="0">
              <a:buNone/>
            </a:pPr>
            <a:r>
              <a:rPr lang="en-US" sz="2050" b="1" dirty="0">
                <a:solidFill>
                  <a:srgbClr val="1F8A8A"/>
                </a:solidFill>
              </a:rPr>
              <a:t>57.91 cm³</a:t>
            </a:r>
            <a:endParaRPr lang="en-US" sz="2050" dirty="0"/>
          </a:p>
        </p:txBody>
      </p:sp>
      <p:sp>
        <p:nvSpPr>
          <p:cNvPr id="14" name="Text 12"/>
          <p:cNvSpPr/>
          <p:nvPr/>
        </p:nvSpPr>
        <p:spPr>
          <a:xfrm>
            <a:off x="8257032" y="2231136"/>
            <a:ext cx="1271016" cy="155448"/>
          </a:xfrm>
          <a:prstGeom prst="rect">
            <a:avLst/>
          </a:prstGeom>
          <a:noFill/>
          <a:ln/>
        </p:spPr>
        <p:txBody>
          <a:bodyPr wrap="square" lIns="0" tIns="0" rIns="0" bIns="0" rtlCol="0" anchor="ctr">
            <a:normAutofit/>
          </a:bodyPr>
          <a:lstStyle/>
          <a:p>
            <a:pPr algn="ctr" indent="0" marL="0">
              <a:buNone/>
            </a:pPr>
            <a:r>
              <a:rPr lang="en-US" sz="930" dirty="0">
                <a:solidFill>
                  <a:srgbClr val="5F6B7A"/>
                </a:solidFill>
              </a:rPr>
              <a:t>实测体积</a:t>
            </a:r>
            <a:endParaRPr lang="en-US" sz="930" dirty="0"/>
          </a:p>
        </p:txBody>
      </p:sp>
      <p:sp>
        <p:nvSpPr>
          <p:cNvPr id="15" name="Shape 13"/>
          <p:cNvSpPr/>
          <p:nvPr/>
        </p:nvSpPr>
        <p:spPr>
          <a:xfrm>
            <a:off x="9875520" y="1783080"/>
            <a:ext cx="1097280" cy="804672"/>
          </a:xfrm>
          <a:prstGeom prst="roundRect">
            <a:avLst>
              <a:gd name="adj" fmla="val 5682"/>
            </a:avLst>
          </a:prstGeom>
          <a:solidFill>
            <a:srgbClr val="FFFFFF"/>
          </a:solidFill>
          <a:ln w="12700">
            <a:solidFill>
              <a:srgbClr val="D97A2B"/>
            </a:solidFill>
            <a:prstDash val="solid"/>
          </a:ln>
        </p:spPr>
      </p:sp>
      <p:sp>
        <p:nvSpPr>
          <p:cNvPr id="16" name="Text 14"/>
          <p:cNvSpPr/>
          <p:nvPr/>
        </p:nvSpPr>
        <p:spPr>
          <a:xfrm>
            <a:off x="9966960" y="1856232"/>
            <a:ext cx="914400" cy="274320"/>
          </a:xfrm>
          <a:prstGeom prst="rect">
            <a:avLst/>
          </a:prstGeom>
          <a:noFill/>
          <a:ln/>
        </p:spPr>
        <p:txBody>
          <a:bodyPr wrap="square" lIns="0" tIns="0" rIns="0" bIns="0" rtlCol="0" anchor="ctr">
            <a:normAutofit/>
          </a:bodyPr>
          <a:lstStyle/>
          <a:p>
            <a:pPr algn="ctr" indent="0" marL="0">
              <a:buNone/>
            </a:pPr>
            <a:r>
              <a:rPr lang="en-US" sz="2050" b="1" dirty="0">
                <a:solidFill>
                  <a:srgbClr val="D97A2B"/>
                </a:solidFill>
              </a:rPr>
              <a:t>1.2%</a:t>
            </a:r>
            <a:endParaRPr lang="en-US" sz="2050" dirty="0"/>
          </a:p>
        </p:txBody>
      </p:sp>
      <p:sp>
        <p:nvSpPr>
          <p:cNvPr id="17" name="Text 15"/>
          <p:cNvSpPr/>
          <p:nvPr/>
        </p:nvSpPr>
        <p:spPr>
          <a:xfrm>
            <a:off x="9948672" y="2231136"/>
            <a:ext cx="950976" cy="155448"/>
          </a:xfrm>
          <a:prstGeom prst="rect">
            <a:avLst/>
          </a:prstGeom>
          <a:noFill/>
          <a:ln/>
        </p:spPr>
        <p:txBody>
          <a:bodyPr wrap="square" lIns="0" tIns="0" rIns="0" bIns="0" rtlCol="0" anchor="ctr">
            <a:normAutofit/>
          </a:bodyPr>
          <a:lstStyle/>
          <a:p>
            <a:pPr algn="ctr" indent="0" marL="0">
              <a:buNone/>
            </a:pPr>
            <a:r>
              <a:rPr lang="en-US" sz="930" dirty="0">
                <a:solidFill>
                  <a:srgbClr val="5F6B7A"/>
                </a:solidFill>
              </a:rPr>
              <a:t>误差</a:t>
            </a:r>
            <a:endParaRPr lang="en-US" sz="930" dirty="0"/>
          </a:p>
        </p:txBody>
      </p:sp>
      <p:sp>
        <p:nvSpPr>
          <p:cNvPr id="18" name="Shape 16"/>
          <p:cNvSpPr/>
          <p:nvPr/>
        </p:nvSpPr>
        <p:spPr>
          <a:xfrm>
            <a:off x="6473952" y="2926080"/>
            <a:ext cx="4526280" cy="2057400"/>
          </a:xfrm>
          <a:prstGeom prst="roundRect">
            <a:avLst>
              <a:gd name="adj" fmla="val 1778"/>
            </a:avLst>
          </a:prstGeom>
          <a:solidFill>
            <a:srgbClr val="FFF8F0"/>
          </a:solidFill>
          <a:ln w="12700">
            <a:solidFill>
              <a:srgbClr val="E9C89D"/>
            </a:solidFill>
            <a:prstDash val="solid"/>
          </a:ln>
          <a:effectLst>
            <a:outerShdw sx="100000" sy="100000" kx="0" ky="0" algn="bl" rotWithShape="0" blurRad="12700" dist="50800" dir="2700000">
              <a:srgbClr val="CBD5E1">
                <a:alpha val="12000"/>
              </a:srgbClr>
            </a:outerShdw>
          </a:effectLst>
        </p:spPr>
      </p:sp>
      <p:sp>
        <p:nvSpPr>
          <p:cNvPr id="19" name="Text 17"/>
          <p:cNvSpPr/>
          <p:nvPr/>
        </p:nvSpPr>
        <p:spPr>
          <a:xfrm>
            <a:off x="6620256" y="3035808"/>
            <a:ext cx="4233672" cy="256032"/>
          </a:xfrm>
          <a:prstGeom prst="rect">
            <a:avLst/>
          </a:prstGeom>
          <a:noFill/>
          <a:ln/>
        </p:spPr>
        <p:txBody>
          <a:bodyPr wrap="square" lIns="0" tIns="0" rIns="0" bIns="0" rtlCol="0" anchor="ctr">
            <a:normAutofit/>
          </a:bodyPr>
          <a:lstStyle/>
          <a:p>
            <a:pPr indent="0" marL="0">
              <a:buNone/>
            </a:pPr>
            <a:r>
              <a:rPr lang="en-US" sz="1450" b="1" dirty="0">
                <a:solidFill>
                  <a:srgbClr val="D97A2B"/>
                </a:solidFill>
              </a:rPr>
              <a:t>意义</a:t>
            </a:r>
            <a:endParaRPr lang="en-US" sz="1450" dirty="0"/>
          </a:p>
        </p:txBody>
      </p:sp>
      <p:sp>
        <p:nvSpPr>
          <p:cNvPr id="20" name="Text 18"/>
          <p:cNvSpPr/>
          <p:nvPr/>
        </p:nvSpPr>
        <p:spPr>
          <a:xfrm>
            <a:off x="6620256" y="3319272"/>
            <a:ext cx="4233672" cy="1563624"/>
          </a:xfrm>
          <a:prstGeom prst="rect">
            <a:avLst/>
          </a:prstGeom>
          <a:noFill/>
          <a:ln/>
        </p:spPr>
        <p:txBody>
          <a:bodyPr wrap="square" lIns="0" tIns="0" rIns="0" bIns="0" rtlCol="0" anchor="t">
            <a:normAutofit/>
          </a:bodyPr>
          <a:lstStyle/>
          <a:p>
            <a:pPr indent="0" marL="0">
              <a:lnSpc>
                <a:spcPct val="108000"/>
              </a:lnSpc>
              <a:buNone/>
            </a:pPr>
            <a:r>
              <a:rPr lang="en-US" sz="1200" dirty="0">
                <a:solidFill>
                  <a:srgbClr val="243447"/>
                </a:solidFill>
              </a:rPr>
              <a:t>先在简单试样层面验证“材料—工艺—求解”的可信度，再将模型推广到全尺寸复杂阀体，避免直接在复杂模型上堆叠不确定性。</a:t>
            </a:r>
            <a:endParaRPr lang="en-US" sz="1200" dirty="0"/>
          </a:p>
        </p:txBody>
      </p:sp>
      <p:sp>
        <p:nvSpPr>
          <p:cNvPr id="21" name="Text 19"/>
          <p:cNvSpPr/>
          <p:nvPr/>
        </p:nvSpPr>
        <p:spPr>
          <a:xfrm>
            <a:off x="658368" y="6537960"/>
            <a:ext cx="2103120" cy="164592"/>
          </a:xfrm>
          <a:prstGeom prst="rect">
            <a:avLst/>
          </a:prstGeom>
          <a:noFill/>
          <a:ln/>
        </p:spPr>
        <p:txBody>
          <a:bodyPr wrap="square" lIns="0" tIns="0" rIns="0" bIns="0" rtlCol="0" anchor="ctr"/>
          <a:lstStyle/>
          <a:p>
            <a:pPr indent="0" marL="0">
              <a:buNone/>
            </a:pPr>
            <a:r>
              <a:rPr lang="en-US" sz="800" dirty="0">
                <a:solidFill>
                  <a:srgbClr val="5F6B7A"/>
                </a:solidFill>
              </a:rPr>
              <a:t>博士学位论文预答辩</a:t>
            </a:r>
            <a:endParaRPr lang="en-US" sz="800" dirty="0"/>
          </a:p>
        </p:txBody>
      </p:sp>
      <p:sp>
        <p:nvSpPr>
          <p:cNvPr id="22" name="Text 20"/>
          <p:cNvSpPr/>
          <p:nvPr/>
        </p:nvSpPr>
        <p:spPr>
          <a:xfrm>
            <a:off x="11109960" y="6510528"/>
            <a:ext cx="411480" cy="182880"/>
          </a:xfrm>
          <a:prstGeom prst="rect">
            <a:avLst/>
          </a:prstGeom>
          <a:noFill/>
          <a:ln/>
        </p:spPr>
        <p:txBody>
          <a:bodyPr wrap="square" lIns="0" tIns="0" rIns="0" bIns="0" rtlCol="0" anchor="ctr"/>
          <a:lstStyle/>
          <a:p>
            <a:pPr algn="r" indent="0" marL="0">
              <a:buNone/>
            </a:pPr>
            <a:r>
              <a:rPr lang="en-US" sz="850" dirty="0">
                <a:solidFill>
                  <a:srgbClr val="5F6B7A"/>
                </a:solidFill>
              </a:rPr>
              <a:t>15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63A5F"/>
          </a:solidFill>
          <a:ln w="12700">
            <a:solidFill>
              <a:srgbClr val="163A5F">
                <a:alpha val="0"/>
              </a:srgbClr>
            </a:solidFill>
            <a:prstDash val="solid"/>
          </a:ln>
        </p:spPr>
      </p:sp>
      <p:sp>
        <p:nvSpPr>
          <p:cNvPr id="3" name="Shape 1"/>
          <p:cNvSpPr/>
          <p:nvPr/>
        </p:nvSpPr>
        <p:spPr>
          <a:xfrm>
            <a:off x="548640" y="6510528"/>
            <a:ext cx="11064240" cy="0"/>
          </a:xfrm>
          <a:prstGeom prst="line">
            <a:avLst/>
          </a:prstGeom>
          <a:noFill/>
          <a:ln w="12700">
            <a:solidFill>
              <a:srgbClr val="D7DEE7"/>
            </a:solidFill>
            <a:prstDash val="solid"/>
          </a:ln>
        </p:spPr>
      </p:sp>
      <p:sp>
        <p:nvSpPr>
          <p:cNvPr id="4" name="Text 2"/>
          <p:cNvSpPr/>
          <p:nvPr/>
        </p:nvSpPr>
        <p:spPr>
          <a:xfrm>
            <a:off x="640080" y="411480"/>
            <a:ext cx="7863840" cy="411480"/>
          </a:xfrm>
          <a:prstGeom prst="rect">
            <a:avLst/>
          </a:prstGeom>
          <a:noFill/>
          <a:ln/>
        </p:spPr>
        <p:txBody>
          <a:bodyPr wrap="square" lIns="0" tIns="0" rIns="0" bIns="0" rtlCol="0" anchor="ctr"/>
          <a:lstStyle/>
          <a:p>
            <a:pPr indent="0" marL="0">
              <a:buNone/>
            </a:pPr>
            <a:r>
              <a:rPr lang="en-US" sz="2400" b="1" dirty="0">
                <a:solidFill>
                  <a:srgbClr val="163A5F"/>
                </a:solidFill>
              </a:rPr>
              <a:t>第五章：阀体射线探伤验证</a:t>
            </a:r>
            <a:endParaRPr lang="en-US" sz="2400" dirty="0"/>
          </a:p>
        </p:txBody>
      </p:sp>
      <p:sp>
        <p:nvSpPr>
          <p:cNvPr id="5" name="Text 3"/>
          <p:cNvSpPr/>
          <p:nvPr/>
        </p:nvSpPr>
        <p:spPr>
          <a:xfrm>
            <a:off x="658368" y="841248"/>
            <a:ext cx="8961120" cy="182880"/>
          </a:xfrm>
          <a:prstGeom prst="rect">
            <a:avLst/>
          </a:prstGeom>
          <a:noFill/>
          <a:ln/>
        </p:spPr>
        <p:txBody>
          <a:bodyPr wrap="square" lIns="0" tIns="0" rIns="0" bIns="0" rtlCol="0" anchor="ctr"/>
          <a:lstStyle/>
          <a:p>
            <a:pPr indent="0" marL="0">
              <a:buNone/>
            </a:pPr>
            <a:r>
              <a:rPr lang="en-US" sz="950" dirty="0">
                <a:solidFill>
                  <a:srgbClr val="5F6B7A"/>
                </a:solidFill>
              </a:rPr>
              <a:t>仿真风险区与实际探伤结果相互印证</a:t>
            </a:r>
            <a:endParaRPr lang="en-US" sz="950" dirty="0"/>
          </a:p>
        </p:txBody>
      </p:sp>
      <p:pic>
        <p:nvPicPr>
          <p:cNvPr id="6" name="Image 0" descr="/tmp/thesis_ppt_assets/image368.png">    </p:cNvPr>
          <p:cNvPicPr>
            <a:picLocks noChangeAspect="1"/>
          </p:cNvPicPr>
          <p:nvPr/>
        </p:nvPicPr>
        <p:blipFill>
          <a:blip r:embed="rId1"/>
          <a:srcRect l="0" r="0" t="0" b="0"/>
          <a:stretch/>
        </p:blipFill>
        <p:spPr>
          <a:xfrm>
            <a:off x="822960" y="1417320"/>
            <a:ext cx="5349240" cy="4251960"/>
          </a:xfrm>
          <a:prstGeom prst="rect">
            <a:avLst/>
          </a:prstGeom>
        </p:spPr>
      </p:pic>
      <p:sp>
        <p:nvSpPr>
          <p:cNvPr id="7" name="Text 4"/>
          <p:cNvSpPr/>
          <p:nvPr/>
        </p:nvSpPr>
        <p:spPr>
          <a:xfrm>
            <a:off x="932688" y="5687568"/>
            <a:ext cx="5120640" cy="201168"/>
          </a:xfrm>
          <a:prstGeom prst="rect">
            <a:avLst/>
          </a:prstGeom>
          <a:noFill/>
          <a:ln/>
        </p:spPr>
        <p:txBody>
          <a:bodyPr wrap="square" lIns="0" tIns="0" rIns="0" bIns="0" rtlCol="0" anchor="ctr"/>
          <a:lstStyle/>
          <a:p>
            <a:pPr algn="ctr" indent="0" marL="0">
              <a:buNone/>
            </a:pPr>
            <a:r>
              <a:rPr lang="en-US" sz="840" i="1" dirty="0">
                <a:solidFill>
                  <a:srgbClr val="5F6B7A"/>
                </a:solidFill>
              </a:rPr>
              <a:t>论文图5.14：直通式阀体伽马射线探伤实验</a:t>
            </a:r>
            <a:endParaRPr lang="en-US" sz="840" dirty="0"/>
          </a:p>
        </p:txBody>
      </p:sp>
      <p:sp>
        <p:nvSpPr>
          <p:cNvPr id="8" name="Shape 5"/>
          <p:cNvSpPr/>
          <p:nvPr/>
        </p:nvSpPr>
        <p:spPr>
          <a:xfrm>
            <a:off x="6537960" y="1508760"/>
            <a:ext cx="4709160" cy="4041648"/>
          </a:xfrm>
          <a:prstGeom prst="roundRect">
            <a:avLst>
              <a:gd name="adj" fmla="val 905"/>
            </a:avLst>
          </a:prstGeom>
          <a:solidFill>
            <a:srgbClr val="F6F8FB"/>
          </a:solidFill>
          <a:ln w="12700">
            <a:solidFill>
              <a:srgbClr val="D7DEE7"/>
            </a:solidFill>
            <a:prstDash val="solid"/>
          </a:ln>
          <a:effectLst>
            <a:outerShdw sx="100000" sy="100000" kx="0" ky="0" algn="bl" rotWithShape="0" blurRad="12700" dist="50800" dir="2700000">
              <a:srgbClr val="CBD5E1">
                <a:alpha val="12000"/>
              </a:srgbClr>
            </a:outerShdw>
          </a:effectLst>
        </p:spPr>
      </p:sp>
      <p:sp>
        <p:nvSpPr>
          <p:cNvPr id="9" name="Text 6"/>
          <p:cNvSpPr/>
          <p:nvPr/>
        </p:nvSpPr>
        <p:spPr>
          <a:xfrm>
            <a:off x="6684264" y="1618488"/>
            <a:ext cx="4416552" cy="256032"/>
          </a:xfrm>
          <a:prstGeom prst="rect">
            <a:avLst/>
          </a:prstGeom>
          <a:noFill/>
          <a:ln/>
        </p:spPr>
        <p:txBody>
          <a:bodyPr wrap="square" lIns="0" tIns="0" rIns="0" bIns="0" rtlCol="0" anchor="ctr">
            <a:normAutofit/>
          </a:bodyPr>
          <a:lstStyle/>
          <a:p>
            <a:pPr indent="0" marL="0">
              <a:buNone/>
            </a:pPr>
            <a:r>
              <a:rPr lang="en-US" sz="1450" b="1" dirty="0">
                <a:solidFill>
                  <a:srgbClr val="163A5F"/>
                </a:solidFill>
              </a:rPr>
              <a:t>验证结论</a:t>
            </a:r>
            <a:endParaRPr lang="en-US" sz="1450" dirty="0"/>
          </a:p>
        </p:txBody>
      </p:sp>
      <p:sp>
        <p:nvSpPr>
          <p:cNvPr id="10" name="Text 7"/>
          <p:cNvSpPr/>
          <p:nvPr/>
        </p:nvSpPr>
        <p:spPr>
          <a:xfrm>
            <a:off x="6684264" y="1901952"/>
            <a:ext cx="4416552" cy="3547872"/>
          </a:xfrm>
          <a:prstGeom prst="rect">
            <a:avLst/>
          </a:prstGeom>
          <a:noFill/>
          <a:ln/>
        </p:spPr>
        <p:txBody>
          <a:bodyPr wrap="square" lIns="0" tIns="0" rIns="0" bIns="0" rtlCol="0" anchor="t">
            <a:normAutofit/>
          </a:bodyPr>
          <a:lstStyle/>
          <a:p>
            <a:pPr indent="0" marL="0">
              <a:lnSpc>
                <a:spcPct val="108000"/>
              </a:lnSpc>
              <a:buNone/>
            </a:pPr>
            <a:r>
              <a:rPr lang="en-US" sz="1220" dirty="0">
                <a:solidFill>
                  <a:srgbClr val="243447"/>
                </a:solidFill>
              </a:rPr>
              <a:t>1. 采用 Ir-192 伽马射线对阀体核心风险区进行单壁透照。</a:t>
            </a:r>
            <a:endParaRPr lang="en-US" sz="1220" dirty="0"/>
          </a:p>
          <a:p>
            <a:pPr indent="0" marL="0">
              <a:lnSpc>
                <a:spcPct val="108000"/>
              </a:lnSpc>
              <a:buNone/>
            </a:pPr>
            <a:r>
              <a:rPr lang="en-US" sz="1220" dirty="0">
                <a:solidFill>
                  <a:srgbClr val="243447"/>
                </a:solidFill>
              </a:rPr>
              <a:t>2. 探伤区域的布置依据前文数值仿真预测的缩孔高风险位置确定。</a:t>
            </a:r>
            <a:endParaRPr lang="en-US" sz="1220" dirty="0"/>
          </a:p>
          <a:p>
            <a:pPr indent="0" marL="0">
              <a:lnSpc>
                <a:spcPct val="108000"/>
              </a:lnSpc>
              <a:buNone/>
            </a:pPr>
            <a:r>
              <a:rPr lang="en-US" sz="1220" dirty="0">
                <a:solidFill>
                  <a:srgbClr val="243447"/>
                </a:solidFill>
              </a:rPr>
              <a:t>3. 实测底片结果与仿真预测的缺陷区具有较好一致性，支持映射模型的空间定位能力。</a:t>
            </a:r>
            <a:endParaRPr lang="en-US" sz="1220" dirty="0"/>
          </a:p>
          <a:p>
            <a:pPr indent="0" marL="0">
              <a:lnSpc>
                <a:spcPct val="108000"/>
              </a:lnSpc>
              <a:buNone/>
            </a:pPr>
            <a:r>
              <a:rPr lang="en-US" sz="1220" dirty="0">
                <a:solidFill>
                  <a:srgbClr val="243447"/>
                </a:solidFill>
              </a:rPr>
              <a:t>4. 说明“工艺仿真—缺陷映射—危险区识别”链条具备工程可用性。</a:t>
            </a:r>
            <a:endParaRPr lang="en-US" sz="1220" dirty="0"/>
          </a:p>
        </p:txBody>
      </p:sp>
      <p:sp>
        <p:nvSpPr>
          <p:cNvPr id="11" name="Text 8"/>
          <p:cNvSpPr/>
          <p:nvPr/>
        </p:nvSpPr>
        <p:spPr>
          <a:xfrm>
            <a:off x="658368" y="6537960"/>
            <a:ext cx="2103120" cy="164592"/>
          </a:xfrm>
          <a:prstGeom prst="rect">
            <a:avLst/>
          </a:prstGeom>
          <a:noFill/>
          <a:ln/>
        </p:spPr>
        <p:txBody>
          <a:bodyPr wrap="square" lIns="0" tIns="0" rIns="0" bIns="0" rtlCol="0" anchor="ctr"/>
          <a:lstStyle/>
          <a:p>
            <a:pPr indent="0" marL="0">
              <a:buNone/>
            </a:pPr>
            <a:r>
              <a:rPr lang="en-US" sz="800" dirty="0">
                <a:solidFill>
                  <a:srgbClr val="5F6B7A"/>
                </a:solidFill>
              </a:rPr>
              <a:t>博士学位论文预答辩</a:t>
            </a:r>
            <a:endParaRPr lang="en-US" sz="800" dirty="0"/>
          </a:p>
        </p:txBody>
      </p:sp>
      <p:sp>
        <p:nvSpPr>
          <p:cNvPr id="12" name="Text 9"/>
          <p:cNvSpPr/>
          <p:nvPr/>
        </p:nvSpPr>
        <p:spPr>
          <a:xfrm>
            <a:off x="11109960" y="6510528"/>
            <a:ext cx="411480" cy="182880"/>
          </a:xfrm>
          <a:prstGeom prst="rect">
            <a:avLst/>
          </a:prstGeom>
          <a:noFill/>
          <a:ln/>
        </p:spPr>
        <p:txBody>
          <a:bodyPr wrap="square" lIns="0" tIns="0" rIns="0" bIns="0" rtlCol="0" anchor="ctr"/>
          <a:lstStyle/>
          <a:p>
            <a:pPr algn="r" indent="0" marL="0">
              <a:buNone/>
            </a:pPr>
            <a:r>
              <a:rPr lang="en-US" sz="850" dirty="0">
                <a:solidFill>
                  <a:srgbClr val="5F6B7A"/>
                </a:solidFill>
              </a:rPr>
              <a:t>16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63A5F"/>
          </a:solidFill>
          <a:ln w="12700">
            <a:solidFill>
              <a:srgbClr val="163A5F">
                <a:alpha val="0"/>
              </a:srgbClr>
            </a:solidFill>
            <a:prstDash val="solid"/>
          </a:ln>
        </p:spPr>
      </p:sp>
      <p:sp>
        <p:nvSpPr>
          <p:cNvPr id="3" name="Shape 1"/>
          <p:cNvSpPr/>
          <p:nvPr/>
        </p:nvSpPr>
        <p:spPr>
          <a:xfrm>
            <a:off x="548640" y="6510528"/>
            <a:ext cx="11064240" cy="0"/>
          </a:xfrm>
          <a:prstGeom prst="line">
            <a:avLst/>
          </a:prstGeom>
          <a:noFill/>
          <a:ln w="12700">
            <a:solidFill>
              <a:srgbClr val="D7DEE7"/>
            </a:solidFill>
            <a:prstDash val="solid"/>
          </a:ln>
        </p:spPr>
      </p:sp>
      <p:sp>
        <p:nvSpPr>
          <p:cNvPr id="4" name="Text 2"/>
          <p:cNvSpPr/>
          <p:nvPr/>
        </p:nvSpPr>
        <p:spPr>
          <a:xfrm>
            <a:off x="640080" y="411480"/>
            <a:ext cx="7863840" cy="411480"/>
          </a:xfrm>
          <a:prstGeom prst="rect">
            <a:avLst/>
          </a:prstGeom>
          <a:noFill/>
          <a:ln/>
        </p:spPr>
        <p:txBody>
          <a:bodyPr wrap="square" lIns="0" tIns="0" rIns="0" bIns="0" rtlCol="0" anchor="ctr"/>
          <a:lstStyle/>
          <a:p>
            <a:pPr indent="0" marL="0">
              <a:buNone/>
            </a:pPr>
            <a:r>
              <a:rPr lang="en-US" sz="2400" b="1" dirty="0">
                <a:solidFill>
                  <a:srgbClr val="163A5F"/>
                </a:solidFill>
              </a:rPr>
              <a:t>主要创新点</a:t>
            </a:r>
            <a:endParaRPr lang="en-US" sz="2400" dirty="0"/>
          </a:p>
        </p:txBody>
      </p:sp>
      <p:sp>
        <p:nvSpPr>
          <p:cNvPr id="5" name="Text 3"/>
          <p:cNvSpPr/>
          <p:nvPr/>
        </p:nvSpPr>
        <p:spPr>
          <a:xfrm>
            <a:off x="658368" y="841248"/>
            <a:ext cx="8961120" cy="182880"/>
          </a:xfrm>
          <a:prstGeom prst="rect">
            <a:avLst/>
          </a:prstGeom>
          <a:noFill/>
          <a:ln/>
        </p:spPr>
        <p:txBody>
          <a:bodyPr wrap="square" lIns="0" tIns="0" rIns="0" bIns="0" rtlCol="0" anchor="ctr"/>
          <a:lstStyle/>
          <a:p>
            <a:pPr indent="0" marL="0">
              <a:buNone/>
            </a:pPr>
            <a:r>
              <a:rPr lang="en-US" sz="950" dirty="0">
                <a:solidFill>
                  <a:srgbClr val="5F6B7A"/>
                </a:solidFill>
              </a:rPr>
              <a:t>围绕源头控制、强度评价与局部强化形成完整链条</a:t>
            </a:r>
            <a:endParaRPr lang="en-US" sz="950" dirty="0"/>
          </a:p>
        </p:txBody>
      </p:sp>
      <p:sp>
        <p:nvSpPr>
          <p:cNvPr id="6" name="Shape 4"/>
          <p:cNvSpPr/>
          <p:nvPr/>
        </p:nvSpPr>
        <p:spPr>
          <a:xfrm>
            <a:off x="868680" y="1572768"/>
            <a:ext cx="3429000" cy="4160520"/>
          </a:xfrm>
          <a:prstGeom prst="roundRect">
            <a:avLst>
              <a:gd name="adj" fmla="val 1067"/>
            </a:avLst>
          </a:prstGeom>
          <a:solidFill>
            <a:srgbClr val="F6FBFB"/>
          </a:solidFill>
          <a:ln w="12700">
            <a:solidFill>
              <a:srgbClr val="B7DFDF"/>
            </a:solidFill>
            <a:prstDash val="solid"/>
          </a:ln>
          <a:effectLst>
            <a:outerShdw sx="100000" sy="100000" kx="0" ky="0" algn="bl" rotWithShape="0" blurRad="12700" dist="50800" dir="2700000">
              <a:srgbClr val="CBD5E1">
                <a:alpha val="12000"/>
              </a:srgbClr>
            </a:outerShdw>
          </a:effectLst>
        </p:spPr>
      </p:sp>
      <p:sp>
        <p:nvSpPr>
          <p:cNvPr id="7" name="Text 5"/>
          <p:cNvSpPr/>
          <p:nvPr/>
        </p:nvSpPr>
        <p:spPr>
          <a:xfrm>
            <a:off x="1014984" y="1682496"/>
            <a:ext cx="3136392" cy="256032"/>
          </a:xfrm>
          <a:prstGeom prst="rect">
            <a:avLst/>
          </a:prstGeom>
          <a:noFill/>
          <a:ln/>
        </p:spPr>
        <p:txBody>
          <a:bodyPr wrap="square" lIns="0" tIns="0" rIns="0" bIns="0" rtlCol="0" anchor="ctr">
            <a:normAutofit/>
          </a:bodyPr>
          <a:lstStyle/>
          <a:p>
            <a:pPr indent="0" marL="0">
              <a:buNone/>
            </a:pPr>
            <a:r>
              <a:rPr lang="en-US" sz="1450" b="1" dirty="0">
                <a:solidFill>
                  <a:srgbClr val="1F8A8A"/>
                </a:solidFill>
              </a:rPr>
              <a:t>创新点 1</a:t>
            </a:r>
            <a:endParaRPr lang="en-US" sz="1450" dirty="0"/>
          </a:p>
          <a:p>
            <a:pPr indent="0" marL="0">
              <a:buNone/>
            </a:pPr>
            <a:r>
              <a:rPr lang="en-US" sz="1450" b="1" dirty="0">
                <a:solidFill>
                  <a:srgbClr val="1F8A8A"/>
                </a:solidFill>
              </a:rPr>
              <a:t>结构—工艺协同优化</a:t>
            </a:r>
            <a:endParaRPr lang="en-US" sz="1450" dirty="0"/>
          </a:p>
        </p:txBody>
      </p:sp>
      <p:sp>
        <p:nvSpPr>
          <p:cNvPr id="8" name="Text 6"/>
          <p:cNvSpPr/>
          <p:nvPr/>
        </p:nvSpPr>
        <p:spPr>
          <a:xfrm>
            <a:off x="1014984" y="1965960"/>
            <a:ext cx="3136392" cy="3666744"/>
          </a:xfrm>
          <a:prstGeom prst="rect">
            <a:avLst/>
          </a:prstGeom>
          <a:noFill/>
          <a:ln/>
        </p:spPr>
        <p:txBody>
          <a:bodyPr wrap="square" lIns="0" tIns="0" rIns="0" bIns="0" rtlCol="0" anchor="t">
            <a:normAutofit/>
          </a:bodyPr>
          <a:lstStyle/>
          <a:p>
            <a:pPr indent="0" marL="0">
              <a:lnSpc>
                <a:spcPct val="108000"/>
              </a:lnSpc>
              <a:buNone/>
            </a:pPr>
            <a:r>
              <a:rPr lang="en-US" sz="1220" dirty="0">
                <a:solidFill>
                  <a:srgbClr val="243447"/>
                </a:solidFill>
              </a:rPr>
              <a:t>将阀体几何拓扑参数与铸造工艺参数纳入统一研究框架，系统分析缩孔敏感性的形成机制，提出适用于直通式阀体的源头控制思路。</a:t>
            </a:r>
            <a:endParaRPr lang="en-US" sz="1220" dirty="0"/>
          </a:p>
        </p:txBody>
      </p:sp>
      <p:sp>
        <p:nvSpPr>
          <p:cNvPr id="9" name="Shape 7"/>
          <p:cNvSpPr/>
          <p:nvPr/>
        </p:nvSpPr>
        <p:spPr>
          <a:xfrm>
            <a:off x="4379976" y="1572768"/>
            <a:ext cx="3429000" cy="4160520"/>
          </a:xfrm>
          <a:prstGeom prst="roundRect">
            <a:avLst>
              <a:gd name="adj" fmla="val 1067"/>
            </a:avLst>
          </a:prstGeom>
          <a:solidFill>
            <a:srgbClr val="FFF8F0"/>
          </a:solidFill>
          <a:ln w="12700">
            <a:solidFill>
              <a:srgbClr val="E9C89D"/>
            </a:solidFill>
            <a:prstDash val="solid"/>
          </a:ln>
          <a:effectLst>
            <a:outerShdw sx="100000" sy="100000" kx="0" ky="0" algn="bl" rotWithShape="0" blurRad="12700" dist="50800" dir="2700000">
              <a:srgbClr val="CBD5E1">
                <a:alpha val="12000"/>
              </a:srgbClr>
            </a:outerShdw>
          </a:effectLst>
        </p:spPr>
      </p:sp>
      <p:sp>
        <p:nvSpPr>
          <p:cNvPr id="10" name="Text 8"/>
          <p:cNvSpPr/>
          <p:nvPr/>
        </p:nvSpPr>
        <p:spPr>
          <a:xfrm>
            <a:off x="4526280" y="1682496"/>
            <a:ext cx="3136392" cy="256032"/>
          </a:xfrm>
          <a:prstGeom prst="rect">
            <a:avLst/>
          </a:prstGeom>
          <a:noFill/>
          <a:ln/>
        </p:spPr>
        <p:txBody>
          <a:bodyPr wrap="square" lIns="0" tIns="0" rIns="0" bIns="0" rtlCol="0" anchor="ctr">
            <a:normAutofit/>
          </a:bodyPr>
          <a:lstStyle/>
          <a:p>
            <a:pPr indent="0" marL="0">
              <a:buNone/>
            </a:pPr>
            <a:r>
              <a:rPr lang="en-US" sz="1450" b="1" dirty="0">
                <a:solidFill>
                  <a:srgbClr val="D97A2B"/>
                </a:solidFill>
              </a:rPr>
              <a:t>创新点 2</a:t>
            </a:r>
            <a:endParaRPr lang="en-US" sz="1450" dirty="0"/>
          </a:p>
          <a:p>
            <a:pPr indent="0" marL="0">
              <a:buNone/>
            </a:pPr>
            <a:r>
              <a:rPr lang="en-US" sz="1450" b="1" dirty="0">
                <a:solidFill>
                  <a:srgbClr val="D97A2B"/>
                </a:solidFill>
              </a:rPr>
              <a:t>非均质缩孔群承压评估</a:t>
            </a:r>
            <a:endParaRPr lang="en-US" sz="1450" dirty="0"/>
          </a:p>
        </p:txBody>
      </p:sp>
      <p:sp>
        <p:nvSpPr>
          <p:cNvPr id="11" name="Text 9"/>
          <p:cNvSpPr/>
          <p:nvPr/>
        </p:nvSpPr>
        <p:spPr>
          <a:xfrm>
            <a:off x="4526280" y="1965960"/>
            <a:ext cx="3136392" cy="3666744"/>
          </a:xfrm>
          <a:prstGeom prst="rect">
            <a:avLst/>
          </a:prstGeom>
          <a:noFill/>
          <a:ln/>
        </p:spPr>
        <p:txBody>
          <a:bodyPr wrap="square" lIns="0" tIns="0" rIns="0" bIns="0" rtlCol="0" anchor="t">
            <a:normAutofit/>
          </a:bodyPr>
          <a:lstStyle/>
          <a:p>
            <a:pPr indent="0" marL="0">
              <a:lnSpc>
                <a:spcPct val="108000"/>
              </a:lnSpc>
              <a:buNone/>
            </a:pPr>
            <a:r>
              <a:rPr lang="en-US" sz="1220" dirty="0">
                <a:solidFill>
                  <a:srgbClr val="243447"/>
                </a:solidFill>
              </a:rPr>
              <a:t>建立 ProCAST 到结构网格的高保真缺陷映射路径，揭示缩孔引发的软化、卸载和应力绕流机制，并提出薄膜应力评价参量。</a:t>
            </a:r>
            <a:endParaRPr lang="en-US" sz="1220" dirty="0"/>
          </a:p>
        </p:txBody>
      </p:sp>
      <p:sp>
        <p:nvSpPr>
          <p:cNvPr id="12" name="Shape 10"/>
          <p:cNvSpPr/>
          <p:nvPr/>
        </p:nvSpPr>
        <p:spPr>
          <a:xfrm>
            <a:off x="7891272" y="1572768"/>
            <a:ext cx="3429000" cy="4160520"/>
          </a:xfrm>
          <a:prstGeom prst="roundRect">
            <a:avLst>
              <a:gd name="adj" fmla="val 1067"/>
            </a:avLst>
          </a:prstGeom>
          <a:solidFill>
            <a:srgbClr val="F7FAF7"/>
          </a:solidFill>
          <a:ln w="12700">
            <a:solidFill>
              <a:srgbClr val="C7DFC7"/>
            </a:solidFill>
            <a:prstDash val="solid"/>
          </a:ln>
          <a:effectLst>
            <a:outerShdw sx="100000" sy="100000" kx="0" ky="0" algn="bl" rotWithShape="0" blurRad="12700" dist="50800" dir="2700000">
              <a:srgbClr val="CBD5E1">
                <a:alpha val="12000"/>
              </a:srgbClr>
            </a:outerShdw>
          </a:effectLst>
        </p:spPr>
      </p:sp>
      <p:sp>
        <p:nvSpPr>
          <p:cNvPr id="13" name="Text 11"/>
          <p:cNvSpPr/>
          <p:nvPr/>
        </p:nvSpPr>
        <p:spPr>
          <a:xfrm>
            <a:off x="8037576" y="1682496"/>
            <a:ext cx="3136392" cy="256032"/>
          </a:xfrm>
          <a:prstGeom prst="rect">
            <a:avLst/>
          </a:prstGeom>
          <a:noFill/>
          <a:ln/>
        </p:spPr>
        <p:txBody>
          <a:bodyPr wrap="square" lIns="0" tIns="0" rIns="0" bIns="0" rtlCol="0" anchor="ctr">
            <a:normAutofit/>
          </a:bodyPr>
          <a:lstStyle/>
          <a:p>
            <a:pPr indent="0" marL="0">
              <a:buNone/>
            </a:pPr>
            <a:r>
              <a:rPr lang="en-US" sz="1450" b="1" dirty="0">
                <a:solidFill>
                  <a:srgbClr val="2E8B57"/>
                </a:solidFill>
              </a:rPr>
              <a:t>创新点 3</a:t>
            </a:r>
            <a:endParaRPr lang="en-US" sz="1450" dirty="0"/>
          </a:p>
          <a:p>
            <a:pPr indent="0" marL="0">
              <a:buNone/>
            </a:pPr>
            <a:r>
              <a:rPr lang="en-US" sz="1450" b="1" dirty="0">
                <a:solidFill>
                  <a:srgbClr val="2E8B57"/>
                </a:solidFill>
              </a:rPr>
              <a:t>高应力区晶粒靶向强化</a:t>
            </a:r>
            <a:endParaRPr lang="en-US" sz="1450" dirty="0"/>
          </a:p>
        </p:txBody>
      </p:sp>
      <p:sp>
        <p:nvSpPr>
          <p:cNvPr id="14" name="Text 12"/>
          <p:cNvSpPr/>
          <p:nvPr/>
        </p:nvSpPr>
        <p:spPr>
          <a:xfrm>
            <a:off x="8037576" y="1965960"/>
            <a:ext cx="3136392" cy="3666744"/>
          </a:xfrm>
          <a:prstGeom prst="rect">
            <a:avLst/>
          </a:prstGeom>
          <a:noFill/>
          <a:ln/>
        </p:spPr>
        <p:txBody>
          <a:bodyPr wrap="square" lIns="0" tIns="0" rIns="0" bIns="0" rtlCol="0" anchor="t">
            <a:normAutofit/>
          </a:bodyPr>
          <a:lstStyle/>
          <a:p>
            <a:pPr indent="0" marL="0">
              <a:lnSpc>
                <a:spcPct val="108000"/>
              </a:lnSpc>
              <a:buNone/>
            </a:pPr>
            <a:r>
              <a:rPr lang="en-US" sz="1220" dirty="0">
                <a:solidFill>
                  <a:srgbClr val="243447"/>
                </a:solidFill>
              </a:rPr>
              <a:t>将高精度危险区识别与 CAFE 微观组织模拟相联动，提出面向高应力区的局部细晶强化路径，实现宏观缺陷与微观补偿协同。</a:t>
            </a:r>
            <a:endParaRPr lang="en-US" sz="1220" dirty="0"/>
          </a:p>
        </p:txBody>
      </p:sp>
      <p:sp>
        <p:nvSpPr>
          <p:cNvPr id="15" name="Text 13"/>
          <p:cNvSpPr/>
          <p:nvPr/>
        </p:nvSpPr>
        <p:spPr>
          <a:xfrm>
            <a:off x="658368" y="6537960"/>
            <a:ext cx="2103120" cy="164592"/>
          </a:xfrm>
          <a:prstGeom prst="rect">
            <a:avLst/>
          </a:prstGeom>
          <a:noFill/>
          <a:ln/>
        </p:spPr>
        <p:txBody>
          <a:bodyPr wrap="square" lIns="0" tIns="0" rIns="0" bIns="0" rtlCol="0" anchor="ctr"/>
          <a:lstStyle/>
          <a:p>
            <a:pPr indent="0" marL="0">
              <a:buNone/>
            </a:pPr>
            <a:r>
              <a:rPr lang="en-US" sz="800" dirty="0">
                <a:solidFill>
                  <a:srgbClr val="5F6B7A"/>
                </a:solidFill>
              </a:rPr>
              <a:t>博士学位论文预答辩</a:t>
            </a:r>
            <a:endParaRPr lang="en-US" sz="800" dirty="0"/>
          </a:p>
        </p:txBody>
      </p:sp>
      <p:sp>
        <p:nvSpPr>
          <p:cNvPr id="16" name="Text 14"/>
          <p:cNvSpPr/>
          <p:nvPr/>
        </p:nvSpPr>
        <p:spPr>
          <a:xfrm>
            <a:off x="11109960" y="6510528"/>
            <a:ext cx="411480" cy="182880"/>
          </a:xfrm>
          <a:prstGeom prst="rect">
            <a:avLst/>
          </a:prstGeom>
          <a:noFill/>
          <a:ln/>
        </p:spPr>
        <p:txBody>
          <a:bodyPr wrap="square" lIns="0" tIns="0" rIns="0" bIns="0" rtlCol="0" anchor="ctr"/>
          <a:lstStyle/>
          <a:p>
            <a:pPr algn="r" indent="0" marL="0">
              <a:buNone/>
            </a:pPr>
            <a:r>
              <a:rPr lang="en-US" sz="850" dirty="0">
                <a:solidFill>
                  <a:srgbClr val="5F6B7A"/>
                </a:solidFill>
              </a:rPr>
              <a:t>17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63A5F"/>
          </a:solidFill>
          <a:ln w="12700">
            <a:solidFill>
              <a:srgbClr val="163A5F">
                <a:alpha val="0"/>
              </a:srgbClr>
            </a:solidFill>
            <a:prstDash val="solid"/>
          </a:ln>
        </p:spPr>
      </p:sp>
      <p:sp>
        <p:nvSpPr>
          <p:cNvPr id="3" name="Shape 1"/>
          <p:cNvSpPr/>
          <p:nvPr/>
        </p:nvSpPr>
        <p:spPr>
          <a:xfrm>
            <a:off x="548640" y="6510528"/>
            <a:ext cx="11064240" cy="0"/>
          </a:xfrm>
          <a:prstGeom prst="line">
            <a:avLst/>
          </a:prstGeom>
          <a:noFill/>
          <a:ln w="12700">
            <a:solidFill>
              <a:srgbClr val="D7DEE7"/>
            </a:solidFill>
            <a:prstDash val="solid"/>
          </a:ln>
        </p:spPr>
      </p:sp>
      <p:sp>
        <p:nvSpPr>
          <p:cNvPr id="4" name="Text 2"/>
          <p:cNvSpPr/>
          <p:nvPr/>
        </p:nvSpPr>
        <p:spPr>
          <a:xfrm>
            <a:off x="640080" y="411480"/>
            <a:ext cx="7863840" cy="411480"/>
          </a:xfrm>
          <a:prstGeom prst="rect">
            <a:avLst/>
          </a:prstGeom>
          <a:noFill/>
          <a:ln/>
        </p:spPr>
        <p:txBody>
          <a:bodyPr wrap="square" lIns="0" tIns="0" rIns="0" bIns="0" rtlCol="0" anchor="ctr"/>
          <a:lstStyle/>
          <a:p>
            <a:pPr indent="0" marL="0">
              <a:buNone/>
            </a:pPr>
            <a:r>
              <a:rPr lang="en-US" sz="2400" b="1" dirty="0">
                <a:solidFill>
                  <a:srgbClr val="163A5F"/>
                </a:solidFill>
              </a:rPr>
              <a:t>主要结论</a:t>
            </a:r>
            <a:endParaRPr lang="en-US" sz="2400" dirty="0"/>
          </a:p>
        </p:txBody>
      </p:sp>
      <p:sp>
        <p:nvSpPr>
          <p:cNvPr id="5" name="Text 3"/>
          <p:cNvSpPr/>
          <p:nvPr/>
        </p:nvSpPr>
        <p:spPr>
          <a:xfrm>
            <a:off x="658368" y="841248"/>
            <a:ext cx="8961120" cy="182880"/>
          </a:xfrm>
          <a:prstGeom prst="rect">
            <a:avLst/>
          </a:prstGeom>
          <a:noFill/>
          <a:ln/>
        </p:spPr>
        <p:txBody>
          <a:bodyPr wrap="square" lIns="0" tIns="0" rIns="0" bIns="0" rtlCol="0" anchor="ctr"/>
          <a:lstStyle/>
          <a:p>
            <a:pPr indent="0" marL="0">
              <a:buNone/>
            </a:pPr>
            <a:r>
              <a:rPr lang="en-US" sz="950" dirty="0">
                <a:solidFill>
                  <a:srgbClr val="5F6B7A"/>
                </a:solidFill>
              </a:rPr>
              <a:t>从缺陷形成、承压机理到强化思路的整体认识</a:t>
            </a:r>
            <a:endParaRPr lang="en-US" sz="950" dirty="0"/>
          </a:p>
        </p:txBody>
      </p:sp>
      <p:sp>
        <p:nvSpPr>
          <p:cNvPr id="6" name="Shape 4"/>
          <p:cNvSpPr/>
          <p:nvPr/>
        </p:nvSpPr>
        <p:spPr>
          <a:xfrm>
            <a:off x="777240" y="1325880"/>
            <a:ext cx="5349240" cy="4526280"/>
          </a:xfrm>
          <a:prstGeom prst="roundRect">
            <a:avLst>
              <a:gd name="adj" fmla="val 808"/>
            </a:avLst>
          </a:prstGeom>
          <a:solidFill>
            <a:srgbClr val="F6F8FB"/>
          </a:solidFill>
          <a:ln w="12700">
            <a:solidFill>
              <a:srgbClr val="D7DEE7"/>
            </a:solidFill>
            <a:prstDash val="solid"/>
          </a:ln>
          <a:effectLst>
            <a:outerShdw sx="100000" sy="100000" kx="0" ky="0" algn="bl" rotWithShape="0" blurRad="12700" dist="50800" dir="2700000">
              <a:srgbClr val="CBD5E1">
                <a:alpha val="12000"/>
              </a:srgbClr>
            </a:outerShdw>
          </a:effectLst>
        </p:spPr>
      </p:sp>
      <p:sp>
        <p:nvSpPr>
          <p:cNvPr id="7" name="Text 5"/>
          <p:cNvSpPr/>
          <p:nvPr/>
        </p:nvSpPr>
        <p:spPr>
          <a:xfrm>
            <a:off x="923544" y="1435608"/>
            <a:ext cx="5056632" cy="256032"/>
          </a:xfrm>
          <a:prstGeom prst="rect">
            <a:avLst/>
          </a:prstGeom>
          <a:noFill/>
          <a:ln/>
        </p:spPr>
        <p:txBody>
          <a:bodyPr wrap="square" lIns="0" tIns="0" rIns="0" bIns="0" rtlCol="0" anchor="ctr">
            <a:normAutofit/>
          </a:bodyPr>
          <a:lstStyle/>
          <a:p>
            <a:pPr indent="0" marL="0">
              <a:buNone/>
            </a:pPr>
            <a:r>
              <a:rPr lang="en-US" sz="1450" b="1" dirty="0">
                <a:solidFill>
                  <a:srgbClr val="163A5F"/>
                </a:solidFill>
              </a:rPr>
              <a:t>结论 1–2</a:t>
            </a:r>
            <a:endParaRPr lang="en-US" sz="1450" dirty="0"/>
          </a:p>
        </p:txBody>
      </p:sp>
      <p:sp>
        <p:nvSpPr>
          <p:cNvPr id="8" name="Text 6"/>
          <p:cNvSpPr/>
          <p:nvPr/>
        </p:nvSpPr>
        <p:spPr>
          <a:xfrm>
            <a:off x="923544" y="1719072"/>
            <a:ext cx="5056632" cy="4032504"/>
          </a:xfrm>
          <a:prstGeom prst="rect">
            <a:avLst/>
          </a:prstGeom>
          <a:noFill/>
          <a:ln/>
        </p:spPr>
        <p:txBody>
          <a:bodyPr wrap="square" lIns="0" tIns="0" rIns="0" bIns="0" rtlCol="0" anchor="t">
            <a:normAutofit/>
          </a:bodyPr>
          <a:lstStyle/>
          <a:p>
            <a:pPr indent="0" marL="0">
              <a:lnSpc>
                <a:spcPct val="108000"/>
              </a:lnSpc>
              <a:buNone/>
            </a:pPr>
            <a:r>
              <a:rPr lang="en-US" sz="1250" dirty="0">
                <a:solidFill>
                  <a:srgbClr val="243447"/>
                </a:solidFill>
              </a:rPr>
              <a:t>1. 直通式阀体缩孔形成受结构拓扑、热节分布和补缩路径的强耦合控制，中间注入 + T型冒口 + 中温窗口更有利于缺陷控制。</a:t>
            </a:r>
            <a:endParaRPr lang="en-US" sz="1250" dirty="0"/>
          </a:p>
          <a:p>
            <a:pPr indent="0" marL="0">
              <a:lnSpc>
                <a:spcPct val="108000"/>
              </a:lnSpc>
              <a:buNone/>
            </a:pPr>
            <a:r>
              <a:rPr lang="en-US" sz="1250" dirty="0">
                <a:solidFill>
                  <a:srgbClr val="243447"/>
                </a:solidFill>
              </a:rPr>
              <a:t>2. 含缩孔群阀体的危险区识别不能仅依赖局部最大应力，必须结合非均质映射与应力线性化分析。</a:t>
            </a:r>
            <a:endParaRPr lang="en-US" sz="1250" dirty="0"/>
          </a:p>
        </p:txBody>
      </p:sp>
      <p:sp>
        <p:nvSpPr>
          <p:cNvPr id="9" name="Shape 7"/>
          <p:cNvSpPr/>
          <p:nvPr/>
        </p:nvSpPr>
        <p:spPr>
          <a:xfrm>
            <a:off x="6355080" y="1325880"/>
            <a:ext cx="5029200" cy="2011680"/>
          </a:xfrm>
          <a:prstGeom prst="roundRect">
            <a:avLst>
              <a:gd name="adj" fmla="val 1818"/>
            </a:avLst>
          </a:prstGeom>
          <a:solidFill>
            <a:srgbClr val="FFF7EE"/>
          </a:solidFill>
          <a:ln w="12700">
            <a:solidFill>
              <a:srgbClr val="F0D0AD"/>
            </a:solidFill>
            <a:prstDash val="solid"/>
          </a:ln>
          <a:effectLst>
            <a:outerShdw sx="100000" sy="100000" kx="0" ky="0" algn="bl" rotWithShape="0" blurRad="12700" dist="50800" dir="2700000">
              <a:srgbClr val="CBD5E1">
                <a:alpha val="12000"/>
              </a:srgbClr>
            </a:outerShdw>
          </a:effectLst>
        </p:spPr>
      </p:sp>
      <p:sp>
        <p:nvSpPr>
          <p:cNvPr id="10" name="Text 8"/>
          <p:cNvSpPr/>
          <p:nvPr/>
        </p:nvSpPr>
        <p:spPr>
          <a:xfrm>
            <a:off x="6501384" y="1435608"/>
            <a:ext cx="4736592" cy="256032"/>
          </a:xfrm>
          <a:prstGeom prst="rect">
            <a:avLst/>
          </a:prstGeom>
          <a:noFill/>
          <a:ln/>
        </p:spPr>
        <p:txBody>
          <a:bodyPr wrap="square" lIns="0" tIns="0" rIns="0" bIns="0" rtlCol="0" anchor="ctr">
            <a:normAutofit/>
          </a:bodyPr>
          <a:lstStyle/>
          <a:p>
            <a:pPr indent="0" marL="0">
              <a:buNone/>
            </a:pPr>
            <a:r>
              <a:rPr lang="en-US" sz="1450" b="1" dirty="0">
                <a:solidFill>
                  <a:srgbClr val="D97A2B"/>
                </a:solidFill>
              </a:rPr>
              <a:t>结论 3</a:t>
            </a:r>
            <a:endParaRPr lang="en-US" sz="1450" dirty="0"/>
          </a:p>
        </p:txBody>
      </p:sp>
      <p:sp>
        <p:nvSpPr>
          <p:cNvPr id="11" name="Text 9"/>
          <p:cNvSpPr/>
          <p:nvPr/>
        </p:nvSpPr>
        <p:spPr>
          <a:xfrm>
            <a:off x="6501384" y="1719072"/>
            <a:ext cx="4736592" cy="1517904"/>
          </a:xfrm>
          <a:prstGeom prst="rect">
            <a:avLst/>
          </a:prstGeom>
          <a:noFill/>
          <a:ln/>
        </p:spPr>
        <p:txBody>
          <a:bodyPr wrap="square" lIns="0" tIns="0" rIns="0" bIns="0" rtlCol="0" anchor="t">
            <a:normAutofit/>
          </a:bodyPr>
          <a:lstStyle/>
          <a:p>
            <a:pPr indent="0" marL="0">
              <a:lnSpc>
                <a:spcPct val="108000"/>
              </a:lnSpc>
              <a:buNone/>
            </a:pPr>
            <a:r>
              <a:rPr lang="en-US" sz="1220" dirty="0">
                <a:solidFill>
                  <a:srgbClr val="243447"/>
                </a:solidFill>
              </a:rPr>
              <a:t>缩孔群会导致刚度软化、跨区卸载和应力绕流，薄膜应力与缺陷拓扑更同频，适合作为损伤容限评价参量。</a:t>
            </a:r>
            <a:endParaRPr lang="en-US" sz="1220" dirty="0"/>
          </a:p>
        </p:txBody>
      </p:sp>
      <p:sp>
        <p:nvSpPr>
          <p:cNvPr id="12" name="Shape 10"/>
          <p:cNvSpPr/>
          <p:nvPr/>
        </p:nvSpPr>
        <p:spPr>
          <a:xfrm>
            <a:off x="6355080" y="3657600"/>
            <a:ext cx="5029200" cy="2194560"/>
          </a:xfrm>
          <a:prstGeom prst="roundRect">
            <a:avLst>
              <a:gd name="adj" fmla="val 1667"/>
            </a:avLst>
          </a:prstGeom>
          <a:solidFill>
            <a:srgbClr val="F7FAF7"/>
          </a:solidFill>
          <a:ln w="12700">
            <a:solidFill>
              <a:srgbClr val="C7DFC7"/>
            </a:solidFill>
            <a:prstDash val="solid"/>
          </a:ln>
          <a:effectLst>
            <a:outerShdw sx="100000" sy="100000" kx="0" ky="0" algn="bl" rotWithShape="0" blurRad="12700" dist="50800" dir="2700000">
              <a:srgbClr val="CBD5E1">
                <a:alpha val="12000"/>
              </a:srgbClr>
            </a:outerShdw>
          </a:effectLst>
        </p:spPr>
      </p:sp>
      <p:sp>
        <p:nvSpPr>
          <p:cNvPr id="13" name="Text 11"/>
          <p:cNvSpPr/>
          <p:nvPr/>
        </p:nvSpPr>
        <p:spPr>
          <a:xfrm>
            <a:off x="6501384" y="3767328"/>
            <a:ext cx="4736592" cy="256032"/>
          </a:xfrm>
          <a:prstGeom prst="rect">
            <a:avLst/>
          </a:prstGeom>
          <a:noFill/>
          <a:ln/>
        </p:spPr>
        <p:txBody>
          <a:bodyPr wrap="square" lIns="0" tIns="0" rIns="0" bIns="0" rtlCol="0" anchor="ctr">
            <a:normAutofit/>
          </a:bodyPr>
          <a:lstStyle/>
          <a:p>
            <a:pPr indent="0" marL="0">
              <a:buNone/>
            </a:pPr>
            <a:r>
              <a:rPr lang="en-US" sz="1450" b="1" dirty="0">
                <a:solidFill>
                  <a:srgbClr val="2E8B57"/>
                </a:solidFill>
              </a:rPr>
              <a:t>结论 4</a:t>
            </a:r>
            <a:endParaRPr lang="en-US" sz="1450" dirty="0"/>
          </a:p>
        </p:txBody>
      </p:sp>
      <p:sp>
        <p:nvSpPr>
          <p:cNvPr id="14" name="Text 12"/>
          <p:cNvSpPr/>
          <p:nvPr/>
        </p:nvSpPr>
        <p:spPr>
          <a:xfrm>
            <a:off x="6501384" y="4050792"/>
            <a:ext cx="4736592" cy="1700784"/>
          </a:xfrm>
          <a:prstGeom prst="rect">
            <a:avLst/>
          </a:prstGeom>
          <a:noFill/>
          <a:ln/>
        </p:spPr>
        <p:txBody>
          <a:bodyPr wrap="square" lIns="0" tIns="0" rIns="0" bIns="0" rtlCol="0" anchor="t">
            <a:normAutofit/>
          </a:bodyPr>
          <a:lstStyle/>
          <a:p>
            <a:pPr indent="0" marL="0">
              <a:lnSpc>
                <a:spcPct val="108000"/>
              </a:lnSpc>
              <a:buNone/>
            </a:pPr>
            <a:r>
              <a:rPr lang="en-US" sz="1220" dirty="0">
                <a:solidFill>
                  <a:srgbClr val="243447"/>
                </a:solidFill>
              </a:rPr>
              <a:t>高应力区往往伴生粗大柱状晶和缩孔集中，通过局部细晶强化有望在不显著增重条件下补偿承压性能劣化。多项实验验证支持模型可信度。</a:t>
            </a:r>
            <a:endParaRPr lang="en-US" sz="1220" dirty="0"/>
          </a:p>
        </p:txBody>
      </p:sp>
      <p:sp>
        <p:nvSpPr>
          <p:cNvPr id="15" name="Text 13"/>
          <p:cNvSpPr/>
          <p:nvPr/>
        </p:nvSpPr>
        <p:spPr>
          <a:xfrm>
            <a:off x="658368" y="6537960"/>
            <a:ext cx="2103120" cy="164592"/>
          </a:xfrm>
          <a:prstGeom prst="rect">
            <a:avLst/>
          </a:prstGeom>
          <a:noFill/>
          <a:ln/>
        </p:spPr>
        <p:txBody>
          <a:bodyPr wrap="square" lIns="0" tIns="0" rIns="0" bIns="0" rtlCol="0" anchor="ctr"/>
          <a:lstStyle/>
          <a:p>
            <a:pPr indent="0" marL="0">
              <a:buNone/>
            </a:pPr>
            <a:r>
              <a:rPr lang="en-US" sz="800" dirty="0">
                <a:solidFill>
                  <a:srgbClr val="5F6B7A"/>
                </a:solidFill>
              </a:rPr>
              <a:t>博士学位论文预答辩</a:t>
            </a:r>
            <a:endParaRPr lang="en-US" sz="800" dirty="0"/>
          </a:p>
        </p:txBody>
      </p:sp>
      <p:sp>
        <p:nvSpPr>
          <p:cNvPr id="16" name="Text 14"/>
          <p:cNvSpPr/>
          <p:nvPr/>
        </p:nvSpPr>
        <p:spPr>
          <a:xfrm>
            <a:off x="11109960" y="6510528"/>
            <a:ext cx="411480" cy="182880"/>
          </a:xfrm>
          <a:prstGeom prst="rect">
            <a:avLst/>
          </a:prstGeom>
          <a:noFill/>
          <a:ln/>
        </p:spPr>
        <p:txBody>
          <a:bodyPr wrap="square" lIns="0" tIns="0" rIns="0" bIns="0" rtlCol="0" anchor="ctr"/>
          <a:lstStyle/>
          <a:p>
            <a:pPr algn="r" indent="0" marL="0">
              <a:buNone/>
            </a:pPr>
            <a:r>
              <a:rPr lang="en-US" sz="850" dirty="0">
                <a:solidFill>
                  <a:srgbClr val="5F6B7A"/>
                </a:solidFill>
              </a:rPr>
              <a:t>18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63A5F"/>
          </a:solidFill>
          <a:ln w="12700">
            <a:solidFill>
              <a:srgbClr val="163A5F">
                <a:alpha val="0"/>
              </a:srgbClr>
            </a:solidFill>
            <a:prstDash val="solid"/>
          </a:ln>
        </p:spPr>
      </p:sp>
      <p:sp>
        <p:nvSpPr>
          <p:cNvPr id="3" name="Shape 1"/>
          <p:cNvSpPr/>
          <p:nvPr/>
        </p:nvSpPr>
        <p:spPr>
          <a:xfrm>
            <a:off x="548640" y="6510528"/>
            <a:ext cx="11064240" cy="0"/>
          </a:xfrm>
          <a:prstGeom prst="line">
            <a:avLst/>
          </a:prstGeom>
          <a:noFill/>
          <a:ln w="12700">
            <a:solidFill>
              <a:srgbClr val="D7DEE7"/>
            </a:solidFill>
            <a:prstDash val="solid"/>
          </a:ln>
        </p:spPr>
      </p:sp>
      <p:sp>
        <p:nvSpPr>
          <p:cNvPr id="4" name="Text 2"/>
          <p:cNvSpPr/>
          <p:nvPr/>
        </p:nvSpPr>
        <p:spPr>
          <a:xfrm>
            <a:off x="640080" y="411480"/>
            <a:ext cx="7863840" cy="411480"/>
          </a:xfrm>
          <a:prstGeom prst="rect">
            <a:avLst/>
          </a:prstGeom>
          <a:noFill/>
          <a:ln/>
        </p:spPr>
        <p:txBody>
          <a:bodyPr wrap="square" lIns="0" tIns="0" rIns="0" bIns="0" rtlCol="0" anchor="ctr"/>
          <a:lstStyle/>
          <a:p>
            <a:pPr indent="0" marL="0">
              <a:buNone/>
            </a:pPr>
            <a:r>
              <a:rPr lang="en-US" sz="2400" b="1" dirty="0">
                <a:solidFill>
                  <a:srgbClr val="163A5F"/>
                </a:solidFill>
              </a:rPr>
              <a:t>研究展望</a:t>
            </a:r>
            <a:endParaRPr lang="en-US" sz="2400" dirty="0"/>
          </a:p>
        </p:txBody>
      </p:sp>
      <p:sp>
        <p:nvSpPr>
          <p:cNvPr id="5" name="Text 3"/>
          <p:cNvSpPr/>
          <p:nvPr/>
        </p:nvSpPr>
        <p:spPr>
          <a:xfrm>
            <a:off x="658368" y="841248"/>
            <a:ext cx="8961120" cy="182880"/>
          </a:xfrm>
          <a:prstGeom prst="rect">
            <a:avLst/>
          </a:prstGeom>
          <a:noFill/>
          <a:ln/>
        </p:spPr>
        <p:txBody>
          <a:bodyPr wrap="square" lIns="0" tIns="0" rIns="0" bIns="0" rtlCol="0" anchor="ctr"/>
          <a:lstStyle/>
          <a:p>
            <a:pPr indent="0" marL="0">
              <a:buNone/>
            </a:pPr>
            <a:r>
              <a:rPr lang="en-US" sz="950" dirty="0">
                <a:solidFill>
                  <a:srgbClr val="5F6B7A"/>
                </a:solidFill>
              </a:rPr>
              <a:t>面向工程应用继续完善评价与设计准则</a:t>
            </a:r>
            <a:endParaRPr lang="en-US" sz="950" dirty="0"/>
          </a:p>
        </p:txBody>
      </p:sp>
      <p:sp>
        <p:nvSpPr>
          <p:cNvPr id="6" name="Shape 4"/>
          <p:cNvSpPr/>
          <p:nvPr/>
        </p:nvSpPr>
        <p:spPr>
          <a:xfrm>
            <a:off x="868680" y="1554480"/>
            <a:ext cx="3429000" cy="4069080"/>
          </a:xfrm>
          <a:prstGeom prst="roundRect">
            <a:avLst>
              <a:gd name="adj" fmla="val 1067"/>
            </a:avLst>
          </a:prstGeom>
          <a:solidFill>
            <a:srgbClr val="F6FBFB"/>
          </a:solidFill>
          <a:ln w="12700">
            <a:solidFill>
              <a:srgbClr val="B7DFDF"/>
            </a:solidFill>
            <a:prstDash val="solid"/>
          </a:ln>
          <a:effectLst>
            <a:outerShdw sx="100000" sy="100000" kx="0" ky="0" algn="bl" rotWithShape="0" blurRad="12700" dist="50800" dir="2700000">
              <a:srgbClr val="CBD5E1">
                <a:alpha val="12000"/>
              </a:srgbClr>
            </a:outerShdw>
          </a:effectLst>
        </p:spPr>
      </p:sp>
      <p:sp>
        <p:nvSpPr>
          <p:cNvPr id="7" name="Text 5"/>
          <p:cNvSpPr/>
          <p:nvPr/>
        </p:nvSpPr>
        <p:spPr>
          <a:xfrm>
            <a:off x="1014984" y="1664208"/>
            <a:ext cx="3136392" cy="256032"/>
          </a:xfrm>
          <a:prstGeom prst="rect">
            <a:avLst/>
          </a:prstGeom>
          <a:noFill/>
          <a:ln/>
        </p:spPr>
        <p:txBody>
          <a:bodyPr wrap="square" lIns="0" tIns="0" rIns="0" bIns="0" rtlCol="0" anchor="ctr">
            <a:normAutofit/>
          </a:bodyPr>
          <a:lstStyle/>
          <a:p>
            <a:pPr indent="0" marL="0">
              <a:buNone/>
            </a:pPr>
            <a:r>
              <a:rPr lang="en-US" sz="1450" b="1" dirty="0">
                <a:solidFill>
                  <a:srgbClr val="1F8A8A"/>
                </a:solidFill>
              </a:rPr>
              <a:t>展望 1</a:t>
            </a:r>
            <a:endParaRPr lang="en-US" sz="1450" dirty="0"/>
          </a:p>
        </p:txBody>
      </p:sp>
      <p:sp>
        <p:nvSpPr>
          <p:cNvPr id="8" name="Text 6"/>
          <p:cNvSpPr/>
          <p:nvPr/>
        </p:nvSpPr>
        <p:spPr>
          <a:xfrm>
            <a:off x="1014984" y="1947672"/>
            <a:ext cx="3136392" cy="3575304"/>
          </a:xfrm>
          <a:prstGeom prst="rect">
            <a:avLst/>
          </a:prstGeom>
          <a:noFill/>
          <a:ln/>
        </p:spPr>
        <p:txBody>
          <a:bodyPr wrap="square" lIns="0" tIns="0" rIns="0" bIns="0" rtlCol="0" anchor="t">
            <a:normAutofit/>
          </a:bodyPr>
          <a:lstStyle/>
          <a:p>
            <a:pPr indent="0" marL="0">
              <a:lnSpc>
                <a:spcPct val="108000"/>
              </a:lnSpc>
              <a:buNone/>
            </a:pPr>
            <a:r>
              <a:rPr lang="en-US" sz="1210" dirty="0">
                <a:solidFill>
                  <a:srgbClr val="243447"/>
                </a:solidFill>
              </a:rPr>
              <a:t>进一步建立考虑缩孔缺陷尺寸与位置影响的改进型射线检测标准，使无损检测结果更直接服务于结构设计与验收判定。</a:t>
            </a:r>
            <a:endParaRPr lang="en-US" sz="1210" dirty="0"/>
          </a:p>
        </p:txBody>
      </p:sp>
      <p:sp>
        <p:nvSpPr>
          <p:cNvPr id="9" name="Shape 7"/>
          <p:cNvSpPr/>
          <p:nvPr/>
        </p:nvSpPr>
        <p:spPr>
          <a:xfrm>
            <a:off x="4379976" y="1554480"/>
            <a:ext cx="3429000" cy="4069080"/>
          </a:xfrm>
          <a:prstGeom prst="roundRect">
            <a:avLst>
              <a:gd name="adj" fmla="val 1067"/>
            </a:avLst>
          </a:prstGeom>
          <a:solidFill>
            <a:srgbClr val="FFF8F0"/>
          </a:solidFill>
          <a:ln w="12700">
            <a:solidFill>
              <a:srgbClr val="E9C89D"/>
            </a:solidFill>
            <a:prstDash val="solid"/>
          </a:ln>
          <a:effectLst>
            <a:outerShdw sx="100000" sy="100000" kx="0" ky="0" algn="bl" rotWithShape="0" blurRad="12700" dist="50800" dir="2700000">
              <a:srgbClr val="CBD5E1">
                <a:alpha val="12000"/>
              </a:srgbClr>
            </a:outerShdw>
          </a:effectLst>
        </p:spPr>
      </p:sp>
      <p:sp>
        <p:nvSpPr>
          <p:cNvPr id="10" name="Text 8"/>
          <p:cNvSpPr/>
          <p:nvPr/>
        </p:nvSpPr>
        <p:spPr>
          <a:xfrm>
            <a:off x="4526280" y="1664208"/>
            <a:ext cx="3136392" cy="256032"/>
          </a:xfrm>
          <a:prstGeom prst="rect">
            <a:avLst/>
          </a:prstGeom>
          <a:noFill/>
          <a:ln/>
        </p:spPr>
        <p:txBody>
          <a:bodyPr wrap="square" lIns="0" tIns="0" rIns="0" bIns="0" rtlCol="0" anchor="ctr">
            <a:normAutofit/>
          </a:bodyPr>
          <a:lstStyle/>
          <a:p>
            <a:pPr indent="0" marL="0">
              <a:buNone/>
            </a:pPr>
            <a:r>
              <a:rPr lang="en-US" sz="1450" b="1" dirty="0">
                <a:solidFill>
                  <a:srgbClr val="D97A2B"/>
                </a:solidFill>
              </a:rPr>
              <a:t>展望 2</a:t>
            </a:r>
            <a:endParaRPr lang="en-US" sz="1450" dirty="0"/>
          </a:p>
        </p:txBody>
      </p:sp>
      <p:sp>
        <p:nvSpPr>
          <p:cNvPr id="11" name="Text 9"/>
          <p:cNvSpPr/>
          <p:nvPr/>
        </p:nvSpPr>
        <p:spPr>
          <a:xfrm>
            <a:off x="4526280" y="1947672"/>
            <a:ext cx="3136392" cy="3575304"/>
          </a:xfrm>
          <a:prstGeom prst="rect">
            <a:avLst/>
          </a:prstGeom>
          <a:noFill/>
          <a:ln/>
        </p:spPr>
        <p:txBody>
          <a:bodyPr wrap="square" lIns="0" tIns="0" rIns="0" bIns="0" rtlCol="0" anchor="t">
            <a:normAutofit/>
          </a:bodyPr>
          <a:lstStyle/>
          <a:p>
            <a:pPr indent="0" marL="0">
              <a:lnSpc>
                <a:spcPct val="108000"/>
              </a:lnSpc>
              <a:buNone/>
            </a:pPr>
            <a:r>
              <a:rPr lang="en-US" sz="1210" dirty="0">
                <a:solidFill>
                  <a:srgbClr val="243447"/>
                </a:solidFill>
              </a:rPr>
              <a:t>继续补强“局部细晶强化后承压提升量”的定量验证，推动从机理证明走向可复制的工程工艺方案。</a:t>
            </a:r>
            <a:endParaRPr lang="en-US" sz="1210" dirty="0"/>
          </a:p>
        </p:txBody>
      </p:sp>
      <p:sp>
        <p:nvSpPr>
          <p:cNvPr id="12" name="Shape 10"/>
          <p:cNvSpPr/>
          <p:nvPr/>
        </p:nvSpPr>
        <p:spPr>
          <a:xfrm>
            <a:off x="7891272" y="1554480"/>
            <a:ext cx="3429000" cy="4069080"/>
          </a:xfrm>
          <a:prstGeom prst="roundRect">
            <a:avLst>
              <a:gd name="adj" fmla="val 1067"/>
            </a:avLst>
          </a:prstGeom>
          <a:solidFill>
            <a:srgbClr val="F7FAF7"/>
          </a:solidFill>
          <a:ln w="12700">
            <a:solidFill>
              <a:srgbClr val="C7DFC7"/>
            </a:solidFill>
            <a:prstDash val="solid"/>
          </a:ln>
          <a:effectLst>
            <a:outerShdw sx="100000" sy="100000" kx="0" ky="0" algn="bl" rotWithShape="0" blurRad="12700" dist="50800" dir="2700000">
              <a:srgbClr val="CBD5E1">
                <a:alpha val="12000"/>
              </a:srgbClr>
            </a:outerShdw>
          </a:effectLst>
        </p:spPr>
      </p:sp>
      <p:sp>
        <p:nvSpPr>
          <p:cNvPr id="13" name="Text 11"/>
          <p:cNvSpPr/>
          <p:nvPr/>
        </p:nvSpPr>
        <p:spPr>
          <a:xfrm>
            <a:off x="8037576" y="1664208"/>
            <a:ext cx="3136392" cy="256032"/>
          </a:xfrm>
          <a:prstGeom prst="rect">
            <a:avLst/>
          </a:prstGeom>
          <a:noFill/>
          <a:ln/>
        </p:spPr>
        <p:txBody>
          <a:bodyPr wrap="square" lIns="0" tIns="0" rIns="0" bIns="0" rtlCol="0" anchor="ctr">
            <a:normAutofit/>
          </a:bodyPr>
          <a:lstStyle/>
          <a:p>
            <a:pPr indent="0" marL="0">
              <a:buNone/>
            </a:pPr>
            <a:r>
              <a:rPr lang="en-US" sz="1450" b="1" dirty="0">
                <a:solidFill>
                  <a:srgbClr val="2E8B57"/>
                </a:solidFill>
              </a:rPr>
              <a:t>展望 3</a:t>
            </a:r>
            <a:endParaRPr lang="en-US" sz="1450" dirty="0"/>
          </a:p>
        </p:txBody>
      </p:sp>
      <p:sp>
        <p:nvSpPr>
          <p:cNvPr id="14" name="Text 12"/>
          <p:cNvSpPr/>
          <p:nvPr/>
        </p:nvSpPr>
        <p:spPr>
          <a:xfrm>
            <a:off x="8037576" y="1947672"/>
            <a:ext cx="3136392" cy="3575304"/>
          </a:xfrm>
          <a:prstGeom prst="rect">
            <a:avLst/>
          </a:prstGeom>
          <a:noFill/>
          <a:ln/>
        </p:spPr>
        <p:txBody>
          <a:bodyPr wrap="square" lIns="0" tIns="0" rIns="0" bIns="0" rtlCol="0" anchor="t">
            <a:normAutofit/>
          </a:bodyPr>
          <a:lstStyle/>
          <a:p>
            <a:pPr indent="0" marL="0">
              <a:lnSpc>
                <a:spcPct val="108000"/>
              </a:lnSpc>
              <a:buNone/>
            </a:pPr>
            <a:r>
              <a:rPr lang="en-US" sz="1210" dirty="0">
                <a:solidFill>
                  <a:srgbClr val="243447"/>
                </a:solidFill>
              </a:rPr>
              <a:t>最终形成面向铸钢阀体的设计指南，提升成品率、增强终端用户信心，并通过减少设计迭代缩短研发周期、降低成本。</a:t>
            </a:r>
            <a:endParaRPr lang="en-US" sz="1210" dirty="0"/>
          </a:p>
        </p:txBody>
      </p:sp>
      <p:sp>
        <p:nvSpPr>
          <p:cNvPr id="15" name="Text 13"/>
          <p:cNvSpPr/>
          <p:nvPr/>
        </p:nvSpPr>
        <p:spPr>
          <a:xfrm>
            <a:off x="658368" y="6537960"/>
            <a:ext cx="2103120" cy="164592"/>
          </a:xfrm>
          <a:prstGeom prst="rect">
            <a:avLst/>
          </a:prstGeom>
          <a:noFill/>
          <a:ln/>
        </p:spPr>
        <p:txBody>
          <a:bodyPr wrap="square" lIns="0" tIns="0" rIns="0" bIns="0" rtlCol="0" anchor="ctr"/>
          <a:lstStyle/>
          <a:p>
            <a:pPr indent="0" marL="0">
              <a:buNone/>
            </a:pPr>
            <a:r>
              <a:rPr lang="en-US" sz="800" dirty="0">
                <a:solidFill>
                  <a:srgbClr val="5F6B7A"/>
                </a:solidFill>
              </a:rPr>
              <a:t>博士学位论文预答辩</a:t>
            </a:r>
            <a:endParaRPr lang="en-US" sz="800" dirty="0"/>
          </a:p>
        </p:txBody>
      </p:sp>
      <p:sp>
        <p:nvSpPr>
          <p:cNvPr id="16" name="Text 14"/>
          <p:cNvSpPr/>
          <p:nvPr/>
        </p:nvSpPr>
        <p:spPr>
          <a:xfrm>
            <a:off x="11109960" y="6510528"/>
            <a:ext cx="411480" cy="182880"/>
          </a:xfrm>
          <a:prstGeom prst="rect">
            <a:avLst/>
          </a:prstGeom>
          <a:noFill/>
          <a:ln/>
        </p:spPr>
        <p:txBody>
          <a:bodyPr wrap="square" lIns="0" tIns="0" rIns="0" bIns="0" rtlCol="0" anchor="ctr"/>
          <a:lstStyle/>
          <a:p>
            <a:pPr algn="r" indent="0" marL="0">
              <a:buNone/>
            </a:pPr>
            <a:r>
              <a:rPr lang="en-US" sz="850" dirty="0">
                <a:solidFill>
                  <a:srgbClr val="5F6B7A"/>
                </a:solidFill>
              </a:rPr>
              <a:t>19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2191695" cy="292608"/>
          </a:xfrm>
          <a:prstGeom prst="rect">
            <a:avLst/>
          </a:prstGeom>
          <a:solidFill>
            <a:srgbClr val="163A5F"/>
          </a:solidFill>
          <a:ln w="12700">
            <a:solidFill>
              <a:srgbClr val="163A5F">
                <a:alpha val="0"/>
              </a:srgbClr>
            </a:solidFill>
            <a:prstDash val="solid"/>
          </a:ln>
        </p:spPr>
      </p:sp>
      <p:sp>
        <p:nvSpPr>
          <p:cNvPr id="3" name="Text 1"/>
          <p:cNvSpPr/>
          <p:nvPr/>
        </p:nvSpPr>
        <p:spPr>
          <a:xfrm>
            <a:off x="1920240" y="1874520"/>
            <a:ext cx="8321040" cy="731520"/>
          </a:xfrm>
          <a:prstGeom prst="rect">
            <a:avLst/>
          </a:prstGeom>
          <a:noFill/>
          <a:ln/>
        </p:spPr>
        <p:txBody>
          <a:bodyPr wrap="square" lIns="0" tIns="0" rIns="0" bIns="0" rtlCol="0" anchor="ctr"/>
          <a:lstStyle/>
          <a:p>
            <a:pPr algn="ctr" indent="0" marL="0">
              <a:buNone/>
            </a:pPr>
            <a:r>
              <a:rPr lang="en-US" sz="2800" b="1" dirty="0">
                <a:solidFill>
                  <a:srgbClr val="163A5F"/>
                </a:solidFill>
              </a:rPr>
              <a:t>请各位老师批评指正</a:t>
            </a:r>
            <a:endParaRPr lang="en-US" sz="2800" dirty="0"/>
          </a:p>
        </p:txBody>
      </p:sp>
      <p:sp>
        <p:nvSpPr>
          <p:cNvPr id="4" name="Text 2"/>
          <p:cNvSpPr/>
          <p:nvPr/>
        </p:nvSpPr>
        <p:spPr>
          <a:xfrm>
            <a:off x="4892040" y="2907792"/>
            <a:ext cx="2423160" cy="411480"/>
          </a:xfrm>
          <a:prstGeom prst="rect">
            <a:avLst/>
          </a:prstGeom>
          <a:noFill/>
          <a:ln/>
        </p:spPr>
        <p:txBody>
          <a:bodyPr wrap="square" lIns="0" tIns="0" rIns="0" bIns="0" rtlCol="0" anchor="ctr"/>
          <a:lstStyle/>
          <a:p>
            <a:pPr algn="ctr" indent="0" marL="0">
              <a:buNone/>
            </a:pPr>
            <a:r>
              <a:rPr lang="en-US" sz="2000" b="1" dirty="0">
                <a:solidFill>
                  <a:srgbClr val="1F8A8A"/>
                </a:solidFill>
              </a:rPr>
              <a:t>Thanks</a:t>
            </a:r>
            <a:endParaRPr lang="en-US" sz="2000" dirty="0"/>
          </a:p>
        </p:txBody>
      </p:sp>
      <p:sp>
        <p:nvSpPr>
          <p:cNvPr id="5" name="Shape 3"/>
          <p:cNvSpPr/>
          <p:nvPr/>
        </p:nvSpPr>
        <p:spPr>
          <a:xfrm>
            <a:off x="3520440" y="3429000"/>
            <a:ext cx="5120640" cy="0"/>
          </a:xfrm>
          <a:prstGeom prst="line">
            <a:avLst/>
          </a:prstGeom>
          <a:noFill/>
          <a:ln w="12700">
            <a:solidFill>
              <a:srgbClr val="D7DEE7"/>
            </a:solidFill>
            <a:prstDash val="solid"/>
          </a:ln>
        </p:spPr>
      </p:sp>
      <p:sp>
        <p:nvSpPr>
          <p:cNvPr id="6" name="Text 4"/>
          <p:cNvSpPr/>
          <p:nvPr/>
        </p:nvSpPr>
        <p:spPr>
          <a:xfrm>
            <a:off x="2743200" y="3794760"/>
            <a:ext cx="6675120" cy="292608"/>
          </a:xfrm>
          <a:prstGeom prst="rect">
            <a:avLst/>
          </a:prstGeom>
          <a:noFill/>
          <a:ln/>
        </p:spPr>
        <p:txBody>
          <a:bodyPr wrap="square" lIns="0" tIns="0" rIns="0" bIns="0" rtlCol="0" anchor="ctr"/>
          <a:lstStyle/>
          <a:p>
            <a:pPr algn="ctr" indent="0" marL="0">
              <a:buNone/>
            </a:pPr>
            <a:r>
              <a:rPr lang="en-US" sz="1200" dirty="0">
                <a:solidFill>
                  <a:srgbClr val="5F6B7A"/>
                </a:solidFill>
              </a:rPr>
              <a:t>叶宗豪 | 浙江大学 能源工程学院 | 能源动力 | 特种阀门创新设计</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Zhejiang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考虑铸造缩孔的直通式阀体承压性能研究及其高应力区晶粒强化</dc:title>
  <dc:subject>博士学位论文预答辩</dc:subject>
  <dc:creator>OpenAI Codex</dc:creator>
  <cp:lastModifiedBy>OpenAI Codex</cp:lastModifiedBy>
  <cp:revision>1</cp:revision>
  <dcterms:created xsi:type="dcterms:W3CDTF">2026-06-09T03:30:55Z</dcterms:created>
  <dcterms:modified xsi:type="dcterms:W3CDTF">2026-06-09T03:30:55Z</dcterms:modified>
</cp:coreProperties>
</file>